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21"/>
    <p:sldId id="271" r:id="rId22"/>
    <p:sldId id="260" r:id="rId6"/>
    <p:sldId id="272" r:id="rId23"/>
    <p:sldId id="276" r:id="rId27"/>
    <p:sldId id="273" r:id="rId24"/>
    <p:sldId id="264" r:id="rId10"/>
    <p:sldId id="265" r:id="rId11"/>
    <p:sldId id="263" r:id="rId9"/>
    <p:sldId id="274" r:id="rId25"/>
    <p:sldId id="275" r:id="rId26"/>
    <p:sldId id="258" r:id="rId4"/>
    <p:sldId id="259" r:id="rId5"/>
    <p:sldId id="261" r:id="rId7"/>
    <p:sldId id="262" r:id="rId8"/>
    <p:sldId id="266" r:id="rId12"/>
    <p:sldId id="267" r:id="rId13"/>
    <p:sldId id="277" r:id="rId28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/>
    <p:restoredTop sz="94677"/>
  </p:normalViewPr>
  <p:slideViewPr>
    <p:cSldViewPr snapToGrid="0">
      <p:cViewPr varScale="1">
        <p:scale>
          <a:sx n="210" d="100"/>
          <a:sy n="210" d="100"/>
        </p:scale>
        <p:origin x="1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https://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microscaler</a:t>
            </a:r>
            <a:r>
              <a:rPr dirty="0"/>
              <a:t>/</a:t>
            </a:r>
            <a:r>
              <a:rPr dirty="0" err="1"/>
              <a:t>DCops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https://cert-manager.io/docs/</a:t>
            </a:r>
          </a:p>
          <a:p>
            <a:r>
              <a:t>https://github.com/microscaler/DCops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https://clouddocs.f5.com/api/icontrol-rest/APIRef.html</a:t>
            </a:r>
          </a:p>
          <a:p>
            <a:r>
              <a:t>https://developer.cisco.com/site/networking/</a:t>
            </a:r>
          </a:p>
          <a:p>
            <a:r>
              <a:t>https://developer.cisco.com/site/nx-os/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https://clouddocs.f5.com/api/icontrol-rest/APIRef_tm_ltm_profile_client-ssl.html</a:t>
            </a:r>
          </a:p>
          <a:p>
            <a:r>
              <a:t>https://www.cisco.com/c/en/us/td/docs/ios-xml/ios/prog/configuration/179/b_179_programmability_cg/m_178_prog_restconf.html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https://github.com/microscaler/DCops</a:t>
            </a:r>
          </a:p>
          <a:p>
            <a:r>
              <a:t>https://github.com/microscaler/DCops/blob/main/docs/CONTROLLER_RECONCILER_ARCHITECTURE.md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https://github.com/microscaler/DCops</a:t>
            </a:r>
          </a:p>
          <a:p>
            <a:r>
              <a:t>https://cert-manager.io/docs/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https://github.com/microscaler/DCops</a:t>
            </a:r>
          </a:p>
          <a:p>
            <a:r>
              <a:t>https://github.com/YangModels/yang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https://docs.datadoghq.com/dashboards/</a:t>
            </a:r>
          </a:p>
          <a:p>
            <a:r>
              <a:t>https://docs.datadoghq.com/monitors/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https://github.com/microscaler/DCops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https://learn.microsoft.com/en-us/microsoftteams/platform/webhooks-and-connectors/how-to/connectors-using</a:t>
            </a:r>
          </a:p>
          <a:p>
            <a:r>
              <a:t>https://docs.datadoghq.com/monitors/notify/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https://kubernetes.io/docs/concepts/configuration/secret/</a:t>
            </a:r>
          </a:p>
          <a:p>
            <a:r>
              <a:t>https://github.com/microscaler/DCops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https://opengitops.dev/</a:t>
            </a:r>
          </a:p>
          <a:p>
            <a:r>
              <a:t>https://github.com/microscaler/DCops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https://github.com/microscaler/DCops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https://github.com/microscaler/DCops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ent">
            <a:extLst>
              <a:ext uri="{FF2B5EF4-FFF2-40B4-BE49-F238E27FC236}">
                <a16:creationId xmlns:a16="http://schemas.microsoft.com/office/drawing/2014/main" id="{5F538FD8-A348-4853-89E3-33DB37B4C5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8A58230C-C16B-4289-8879-AF033E43D461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DCOPS • GITOPS FOR INFRASTRUCTURE OUTSIDE KUBERNETES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2BB44731-2391-4BEB-9B71-F659A3E5AC65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8096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00" b="1">
                <a:solidFill>
                  <a:srgbClr val="111318"/>
                </a:solidFill>
              </a:defRPr>
            </a:pPr>
            <a:r>
              <a:rPr sz="3400" b="1">
                <a:solidFill>
                  <a:srgbClr val="111318"/>
                </a:solidFill>
              </a:rPr>
              <a:t>Certificates and domains do not stop</a:t>
            </a:r>
          </a:p>
          <a:p>
            <a:pPr algn="l">
              <a:defRPr sz="3400" b="1">
                <a:solidFill>
                  <a:srgbClr val="111318"/>
                </a:solidFill>
              </a:defRPr>
            </a:pPr>
            <a:r>
              <a:rPr sz="3400" b="1">
                <a:solidFill>
                  <a:srgbClr val="111318"/>
                </a:solidFill>
              </a:rPr>
              <a:t>at the Kubernetes boundary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2FB17B7A-BC67-4D81-8138-994B1AF91B8E}"/>
              </a:ext>
            </a:extLst>
          </p:cNvPr>
          <p:cNvSpPr>
            <a:spLocks noGrp="1"/>
          </p:cNvSpPr>
          <p:nvPr/>
        </p:nvSpPr>
        <p:spPr>
          <a:xfrm>
            <a:off x="666750" y="3543300"/>
            <a:ext cx="7810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5E6672"/>
                </a:solidFill>
              </a:defRPr>
            </a:pPr>
            <a:r>
              <a:rPr sz="1800" b="0">
                <a:solidFill>
                  <a:srgbClr val="5E6672"/>
                </a:solidFill>
              </a:rPr>
              <a:t>A control plane for visibility, ownership and safe renewal — from the domain registrar to F5, Cisco and disparate edge infrastructure.</a:t>
            </a:r>
          </a:p>
        </p:txBody>
      </p:sp>
      <p:sp>
        <p:nvSpPr>
          <p:cNvPr id="5" name="motif">
            <a:extLst>
              <a:ext uri="{FF2B5EF4-FFF2-40B4-BE49-F238E27FC236}">
                <a16:creationId xmlns:a16="http://schemas.microsoft.com/office/drawing/2014/main" id="{9E581053-A898-42EB-9DDC-CE27EA6CB3CD}"/>
              </a:ext>
            </a:extLst>
          </p:cNvPr>
          <p:cNvSpPr>
            <a:spLocks noGrp="1"/>
          </p:cNvSpPr>
          <p:nvPr/>
        </p:nvSpPr>
        <p:spPr>
          <a:xfrm>
            <a:off x="9429750" y="1200150"/>
            <a:ext cx="1714500" cy="171450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lock-body">
            <a:extLst>
              <a:ext uri="{FF2B5EF4-FFF2-40B4-BE49-F238E27FC236}">
                <a16:creationId xmlns:a16="http://schemas.microsoft.com/office/drawing/2014/main" id="{75CEF30F-03A0-4D74-A4CB-11B20FD2D929}"/>
              </a:ext>
            </a:extLst>
          </p:cNvPr>
          <p:cNvSpPr>
            <a:spLocks noGrp="1"/>
          </p:cNvSpPr>
          <p:nvPr/>
        </p:nvSpPr>
        <p:spPr>
          <a:xfrm>
            <a:off x="9925050" y="1952625"/>
            <a:ext cx="723900" cy="7239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lock-shackle">
            <a:extLst>
              <a:ext uri="{FF2B5EF4-FFF2-40B4-BE49-F238E27FC236}">
                <a16:creationId xmlns:a16="http://schemas.microsoft.com/office/drawing/2014/main" id="{9D1486BC-52A5-423D-A061-B0071097C9F4}"/>
              </a:ext>
            </a:extLst>
          </p:cNvPr>
          <p:cNvSpPr>
            <a:spLocks noGrp="1"/>
          </p:cNvSpPr>
          <p:nvPr/>
        </p:nvSpPr>
        <p:spPr>
          <a:xfrm>
            <a:off x="10048875" y="1552575"/>
            <a:ext cx="476250" cy="476250"/>
          </a:xfrm>
          <a:prstGeom prst="roundRect">
            <a:avLst>
              <a:gd name="adj" fmla="val 24000"/>
            </a:avLst>
          </a:prstGeom>
          <a:noFill/>
          <a:ln w="9525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8C2624D3-F5AF-4081-9AAB-F49FA3AC690E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Operational architecture and delivery proposal</a:t>
            </a:r>
          </a:p>
        </p:txBody>
      </p:sp>
    </p:spTree>
    <p:extLst>
      <p:ext uri="{BB962C8B-B14F-4D97-AF65-F5344CB8AC3E}">
        <p14:creationId xmlns:p14="http://schemas.microsoft.com/office/powerpoint/2010/main" val="862953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icker">
            <a:extLst>
              <a:ext uri="{FF2B5EF4-FFF2-40B4-BE49-F238E27FC236}">
                <a16:creationId xmlns:a16="http://schemas.microsoft.com/office/drawing/2014/main" id="{23DD14D5-D8A0-4F55-BC64-113E1CE68E6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THE BOUNDARY PROBLEM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63E4AE8-8608-460B-A5F8-AE5E89A21D2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cert-manager solves issuance—not the last mile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413C74B9-D66B-4B6F-857F-60483C1EE92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DF26653D-1D60-4399-AB43-0E576046DF6E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02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DA9FB4F-EC5E-47F9-B398-4ED18D23AA7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6" name="left-head">
            <a:extLst>
              <a:ext uri="{FF2B5EF4-FFF2-40B4-BE49-F238E27FC236}">
                <a16:creationId xmlns:a16="http://schemas.microsoft.com/office/drawing/2014/main" id="{9EDE3152-3BDD-454F-B3F6-2672627EE5C5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FA36B"/>
                </a:solidFill>
              </a:defRPr>
            </a:pPr>
            <a:r>
              <a:rPr sz="1875" b="1">
                <a:solidFill>
                  <a:srgbClr val="2FA36B"/>
                </a:solidFill>
              </a:rPr>
              <a:t>Inside Kubernetes</a:t>
            </a:r>
          </a:p>
        </p:txBody>
      </p:sp>
      <p:sp>
        <p:nvSpPr>
          <p:cNvPr id="7" name="bullet">
            <a:extLst>
              <a:ext uri="{FF2B5EF4-FFF2-40B4-BE49-F238E27FC236}">
                <a16:creationId xmlns:a16="http://schemas.microsoft.com/office/drawing/2014/main" id="{7EC16EAC-893E-46D8-8408-BCEEA9FE4853}"/>
              </a:ext>
            </a:extLst>
          </p:cNvPr>
          <p:cNvSpPr>
            <a:spLocks noGrp="1"/>
          </p:cNvSpPr>
          <p:nvPr/>
        </p:nvSpPr>
        <p:spPr>
          <a:xfrm>
            <a:off x="742950" y="2219325"/>
            <a:ext cx="66675" cy="66675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ullet-text">
            <a:extLst>
              <a:ext uri="{FF2B5EF4-FFF2-40B4-BE49-F238E27FC236}">
                <a16:creationId xmlns:a16="http://schemas.microsoft.com/office/drawing/2014/main" id="{6F2B00A1-E14E-488D-83F9-B383DBEFFD24}"/>
              </a:ext>
            </a:extLst>
          </p:cNvPr>
          <p:cNvSpPr>
            <a:spLocks noGrp="1"/>
          </p:cNvSpPr>
          <p:nvPr/>
        </p:nvSpPr>
        <p:spPr>
          <a:xfrm>
            <a:off x="914400" y="2024062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318"/>
                </a:solidFill>
              </a:defRPr>
            </a:pPr>
            <a:r>
              <a:rPr sz="1425" b="0" dirty="0">
                <a:solidFill>
                  <a:srgbClr val="111318"/>
                </a:solidFill>
              </a:rPr>
              <a:t>Secrets, Issuers and Certificate resources are native.</a:t>
            </a:r>
          </a:p>
        </p:txBody>
      </p:sp>
      <p:sp>
        <p:nvSpPr>
          <p:cNvPr id="9" name="bullet">
            <a:extLst>
              <a:ext uri="{FF2B5EF4-FFF2-40B4-BE49-F238E27FC236}">
                <a16:creationId xmlns:a16="http://schemas.microsoft.com/office/drawing/2014/main" id="{31F7CA8A-E922-4C64-AD25-A7E1F3EFEB46}"/>
              </a:ext>
            </a:extLst>
          </p:cNvPr>
          <p:cNvSpPr>
            <a:spLocks noGrp="1"/>
          </p:cNvSpPr>
          <p:nvPr/>
        </p:nvSpPr>
        <p:spPr>
          <a:xfrm>
            <a:off x="742950" y="2828925"/>
            <a:ext cx="66675" cy="66675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-text">
            <a:extLst>
              <a:ext uri="{FF2B5EF4-FFF2-40B4-BE49-F238E27FC236}">
                <a16:creationId xmlns:a16="http://schemas.microsoft.com/office/drawing/2014/main" id="{23C21983-E3DE-4186-9324-181ED4761F97}"/>
              </a:ext>
            </a:extLst>
          </p:cNvPr>
          <p:cNvSpPr>
            <a:spLocks noGrp="1"/>
          </p:cNvSpPr>
          <p:nvPr/>
        </p:nvSpPr>
        <p:spPr>
          <a:xfrm>
            <a:off x="914400" y="2614612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318"/>
                </a:solidFill>
              </a:defRPr>
            </a:pPr>
            <a:r>
              <a:rPr sz="1425" b="0" dirty="0">
                <a:solidFill>
                  <a:srgbClr val="111318"/>
                </a:solidFill>
              </a:rPr>
              <a:t>Renewal events can automatically update workloads.</a:t>
            </a:r>
          </a:p>
        </p:txBody>
      </p:sp>
      <p:sp>
        <p:nvSpPr>
          <p:cNvPr id="11" name="bullet">
            <a:extLst>
              <a:ext uri="{FF2B5EF4-FFF2-40B4-BE49-F238E27FC236}">
                <a16:creationId xmlns:a16="http://schemas.microsoft.com/office/drawing/2014/main" id="{737C4EB4-9AB7-467C-B69F-EB59E6E4E863}"/>
              </a:ext>
            </a:extLst>
          </p:cNvPr>
          <p:cNvSpPr>
            <a:spLocks noGrp="1"/>
          </p:cNvSpPr>
          <p:nvPr/>
        </p:nvSpPr>
        <p:spPr>
          <a:xfrm>
            <a:off x="742950" y="3438525"/>
            <a:ext cx="66675" cy="66675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ullet-text">
            <a:extLst>
              <a:ext uri="{FF2B5EF4-FFF2-40B4-BE49-F238E27FC236}">
                <a16:creationId xmlns:a16="http://schemas.microsoft.com/office/drawing/2014/main" id="{DBA88868-AEE8-4EF3-B3F0-1FC4DF359935}"/>
              </a:ext>
            </a:extLst>
          </p:cNvPr>
          <p:cNvSpPr>
            <a:spLocks noGrp="1"/>
          </p:cNvSpPr>
          <p:nvPr/>
        </p:nvSpPr>
        <p:spPr>
          <a:xfrm>
            <a:off x="914400" y="3243262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318"/>
                </a:solidFill>
              </a:defRPr>
            </a:pPr>
            <a:r>
              <a:rPr sz="1425" b="0" dirty="0">
                <a:solidFill>
                  <a:srgbClr val="111318"/>
                </a:solidFill>
              </a:rPr>
              <a:t>Declarative ownership and reconciliation already exist.</a:t>
            </a:r>
          </a:p>
        </p:txBody>
      </p:sp>
      <p:sp>
        <p:nvSpPr>
          <p:cNvPr id="13" name="boundary">
            <a:extLst>
              <a:ext uri="{FF2B5EF4-FFF2-40B4-BE49-F238E27FC236}">
                <a16:creationId xmlns:a16="http://schemas.microsoft.com/office/drawing/2014/main" id="{5E305E77-4E2D-477B-83BA-85A27E227EA7}"/>
              </a:ext>
            </a:extLst>
          </p:cNvPr>
          <p:cNvSpPr>
            <a:spLocks noGrp="1"/>
          </p:cNvSpPr>
          <p:nvPr/>
        </p:nvSpPr>
        <p:spPr>
          <a:xfrm>
            <a:off x="5905500" y="1476375"/>
            <a:ext cx="19050" cy="4238625"/>
          </a:xfrm>
          <a:prstGeom prst="rect">
            <a:avLst/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oundary-label">
            <a:extLst>
              <a:ext uri="{FF2B5EF4-FFF2-40B4-BE49-F238E27FC236}">
                <a16:creationId xmlns:a16="http://schemas.microsoft.com/office/drawing/2014/main" id="{3B6EA387-A906-4046-BEBA-A576382B5E94}"/>
              </a:ext>
            </a:extLst>
          </p:cNvPr>
          <p:cNvSpPr>
            <a:spLocks noGrp="1"/>
          </p:cNvSpPr>
          <p:nvPr/>
        </p:nvSpPr>
        <p:spPr>
          <a:xfrm>
            <a:off x="5524500" y="576262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94A4A"/>
                </a:solidFill>
              </a:defRPr>
            </a:pPr>
            <a:r>
              <a:rPr sz="825" b="1">
                <a:solidFill>
                  <a:srgbClr val="D94A4A"/>
                </a:solidFill>
              </a:rPr>
              <a:t>CONTROL BOUNDARY</a:t>
            </a:r>
          </a:p>
        </p:txBody>
      </p:sp>
      <p:sp>
        <p:nvSpPr>
          <p:cNvPr id="15" name="right-head">
            <a:extLst>
              <a:ext uri="{FF2B5EF4-FFF2-40B4-BE49-F238E27FC236}">
                <a16:creationId xmlns:a16="http://schemas.microsoft.com/office/drawing/2014/main" id="{86082B09-C9DD-472F-A85D-4A8356E1001E}"/>
              </a:ext>
            </a:extLst>
          </p:cNvPr>
          <p:cNvSpPr>
            <a:spLocks noGrp="1"/>
          </p:cNvSpPr>
          <p:nvPr/>
        </p:nvSpPr>
        <p:spPr>
          <a:xfrm>
            <a:off x="6667500" y="16002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D94A4A"/>
                </a:solidFill>
              </a:defRPr>
            </a:pPr>
            <a:r>
              <a:rPr sz="1875" b="1">
                <a:solidFill>
                  <a:srgbClr val="D94A4A"/>
                </a:solidFill>
              </a:rPr>
              <a:t>Outside Kubernetes</a:t>
            </a:r>
          </a:p>
        </p:txBody>
      </p:sp>
      <p:sp>
        <p:nvSpPr>
          <p:cNvPr id="16" name="bullet">
            <a:extLst>
              <a:ext uri="{FF2B5EF4-FFF2-40B4-BE49-F238E27FC236}">
                <a16:creationId xmlns:a16="http://schemas.microsoft.com/office/drawing/2014/main" id="{249486B3-461B-4A8F-9BA5-281D7AD677F2}"/>
              </a:ext>
            </a:extLst>
          </p:cNvPr>
          <p:cNvSpPr>
            <a:spLocks noGrp="1"/>
          </p:cNvSpPr>
          <p:nvPr/>
        </p:nvSpPr>
        <p:spPr>
          <a:xfrm>
            <a:off x="6667500" y="2219325"/>
            <a:ext cx="66675" cy="66675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ullet-text">
            <a:extLst>
              <a:ext uri="{FF2B5EF4-FFF2-40B4-BE49-F238E27FC236}">
                <a16:creationId xmlns:a16="http://schemas.microsoft.com/office/drawing/2014/main" id="{E1852EDF-A408-4449-BC74-F8AEF640317B}"/>
              </a:ext>
            </a:extLst>
          </p:cNvPr>
          <p:cNvSpPr>
            <a:spLocks noGrp="1"/>
          </p:cNvSpPr>
          <p:nvPr/>
        </p:nvSpPr>
        <p:spPr>
          <a:xfrm>
            <a:off x="6838950" y="211455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Certificates live in proprietary stores, profiles and trustpoints.</a:t>
            </a:r>
          </a:p>
        </p:txBody>
      </p:sp>
      <p:sp>
        <p:nvSpPr>
          <p:cNvPr id="18" name="bullet">
            <a:extLst>
              <a:ext uri="{FF2B5EF4-FFF2-40B4-BE49-F238E27FC236}">
                <a16:creationId xmlns:a16="http://schemas.microsoft.com/office/drawing/2014/main" id="{ABD0B494-39A8-41FD-9D2F-4A050FF0E94A}"/>
              </a:ext>
            </a:extLst>
          </p:cNvPr>
          <p:cNvSpPr>
            <a:spLocks noGrp="1"/>
          </p:cNvSpPr>
          <p:nvPr/>
        </p:nvSpPr>
        <p:spPr>
          <a:xfrm>
            <a:off x="6667500" y="2828925"/>
            <a:ext cx="66675" cy="66675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ullet-text">
            <a:extLst>
              <a:ext uri="{FF2B5EF4-FFF2-40B4-BE49-F238E27FC236}">
                <a16:creationId xmlns:a16="http://schemas.microsoft.com/office/drawing/2014/main" id="{D2A60666-6055-456C-A896-95810428DB63}"/>
              </a:ext>
            </a:extLst>
          </p:cNvPr>
          <p:cNvSpPr>
            <a:spLocks noGrp="1"/>
          </p:cNvSpPr>
          <p:nvPr/>
        </p:nvSpPr>
        <p:spPr>
          <a:xfrm>
            <a:off x="6838950" y="2628900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318"/>
                </a:solidFill>
              </a:defRPr>
            </a:pPr>
            <a:r>
              <a:rPr sz="1425" b="0" dirty="0">
                <a:solidFill>
                  <a:srgbClr val="111318"/>
                </a:solidFill>
              </a:rPr>
              <a:t>APIs, models, commit semantics and HA behavior differ.</a:t>
            </a:r>
          </a:p>
        </p:txBody>
      </p:sp>
      <p:sp>
        <p:nvSpPr>
          <p:cNvPr id="20" name="bullet">
            <a:extLst>
              <a:ext uri="{FF2B5EF4-FFF2-40B4-BE49-F238E27FC236}">
                <a16:creationId xmlns:a16="http://schemas.microsoft.com/office/drawing/2014/main" id="{A059E1C5-D869-4398-A6EC-F058AE8CA2DF}"/>
              </a:ext>
            </a:extLst>
          </p:cNvPr>
          <p:cNvSpPr>
            <a:spLocks noGrp="1"/>
          </p:cNvSpPr>
          <p:nvPr/>
        </p:nvSpPr>
        <p:spPr>
          <a:xfrm>
            <a:off x="6667500" y="3438525"/>
            <a:ext cx="66675" cy="66675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ullet-text">
            <a:extLst>
              <a:ext uri="{FF2B5EF4-FFF2-40B4-BE49-F238E27FC236}">
                <a16:creationId xmlns:a16="http://schemas.microsoft.com/office/drawing/2014/main" id="{E2D722FD-43FE-4989-8CC0-301338B2F958}"/>
              </a:ext>
            </a:extLst>
          </p:cNvPr>
          <p:cNvSpPr>
            <a:spLocks noGrp="1"/>
          </p:cNvSpPr>
          <p:nvPr/>
        </p:nvSpPr>
        <p:spPr>
          <a:xfrm>
            <a:off x="6838950" y="3228975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11318"/>
                </a:solidFill>
              </a:defRPr>
            </a:pPr>
            <a:r>
              <a:rPr sz="1425" b="0" dirty="0">
                <a:solidFill>
                  <a:srgbClr val="111318"/>
                </a:solidFill>
              </a:rPr>
              <a:t>A renewed Secret does not mean the service is using it.</a:t>
            </a:r>
          </a:p>
        </p:txBody>
      </p:sp>
      <p:sp>
        <p:nvSpPr>
          <p:cNvPr id="22" name="takeaway">
            <a:extLst>
              <a:ext uri="{FF2B5EF4-FFF2-40B4-BE49-F238E27FC236}">
                <a16:creationId xmlns:a16="http://schemas.microsoft.com/office/drawing/2014/main" id="{8C634F92-CD45-4D3F-A7B6-049916C8C552}"/>
              </a:ext>
            </a:extLst>
          </p:cNvPr>
          <p:cNvSpPr>
            <a:spLocks noGrp="1"/>
          </p:cNvSpPr>
          <p:nvPr/>
        </p:nvSpPr>
        <p:spPr>
          <a:xfrm>
            <a:off x="6667500" y="4324350"/>
            <a:ext cx="4191000" cy="876300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akeaway-text">
            <a:extLst>
              <a:ext uri="{FF2B5EF4-FFF2-40B4-BE49-F238E27FC236}">
                <a16:creationId xmlns:a16="http://schemas.microsoft.com/office/drawing/2014/main" id="{C470C0EF-90BE-4B77-A10E-246949266C1C}"/>
              </a:ext>
            </a:extLst>
          </p:cNvPr>
          <p:cNvSpPr>
            <a:spLocks noGrp="1"/>
          </p:cNvSpPr>
          <p:nvPr/>
        </p:nvSpPr>
        <p:spPr>
          <a:xfrm>
            <a:off x="6896100" y="4476750"/>
            <a:ext cx="3733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The missing capability is controlled delivery, binding and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278013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kicker">
            <a:extLst>
              <a:ext uri="{FF2B5EF4-FFF2-40B4-BE49-F238E27FC236}">
                <a16:creationId xmlns:a16="http://schemas.microsoft.com/office/drawing/2014/main" id="{3565E100-1675-4BF6-AF0A-D0FD2A572D6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WHY THIS IS HARD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AD3B509-C4EB-459C-A2A0-2DD314E222D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One certificate lifecycle meets many incompatible control planes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75F8A137-C85E-4A23-AEBD-FA0BAFC0BD1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F537444C-8F66-4418-85CC-1663C79EDEA6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14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F4014E87-2B92-4047-82D2-DE197478733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6" name="vendor-panel">
            <a:extLst>
              <a:ext uri="{FF2B5EF4-FFF2-40B4-BE49-F238E27FC236}">
                <a16:creationId xmlns:a16="http://schemas.microsoft.com/office/drawing/2014/main" id="{7CBFFEB9-61B0-4AD2-A877-79F4B8CF0D8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2552700" cy="371475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vendor">
            <a:extLst>
              <a:ext uri="{FF2B5EF4-FFF2-40B4-BE49-F238E27FC236}">
                <a16:creationId xmlns:a16="http://schemas.microsoft.com/office/drawing/2014/main" id="{149BC95B-5EE6-4A25-B970-FBE77C86C7EB}"/>
              </a:ext>
            </a:extLst>
          </p:cNvPr>
          <p:cNvSpPr>
            <a:spLocks noGrp="1"/>
          </p:cNvSpPr>
          <p:nvPr/>
        </p:nvSpPr>
        <p:spPr>
          <a:xfrm>
            <a:off x="800100" y="190500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318"/>
                </a:solidFill>
              </a:defRPr>
            </a:pPr>
            <a:r>
              <a:rPr sz="1875" b="1">
                <a:solidFill>
                  <a:srgbClr val="111318"/>
                </a:solidFill>
              </a:rPr>
              <a:t>F5 BIG-IP</a:t>
            </a: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6AB6B4FE-17FA-41FA-AF7B-D3B1FD6B916E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21717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pi">
            <a:extLst>
              <a:ext uri="{FF2B5EF4-FFF2-40B4-BE49-F238E27FC236}">
                <a16:creationId xmlns:a16="http://schemas.microsoft.com/office/drawing/2014/main" id="{A995368A-67D3-4D0E-94D3-C3018C76B1D3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217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iControl REST</a:t>
            </a:r>
          </a:p>
        </p:txBody>
      </p:sp>
      <p:sp>
        <p:nvSpPr>
          <p:cNvPr id="10" name="binding">
            <a:extLst>
              <a:ext uri="{FF2B5EF4-FFF2-40B4-BE49-F238E27FC236}">
                <a16:creationId xmlns:a16="http://schemas.microsoft.com/office/drawing/2014/main" id="{1BE0581F-C5C0-47FB-A052-EA880D59D3CD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2171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SSL profiles • HA sync</a:t>
            </a:r>
          </a:p>
        </p:txBody>
      </p:sp>
      <p:sp>
        <p:nvSpPr>
          <p:cNvPr id="11" name="persist">
            <a:extLst>
              <a:ext uri="{FF2B5EF4-FFF2-40B4-BE49-F238E27FC236}">
                <a16:creationId xmlns:a16="http://schemas.microsoft.com/office/drawing/2014/main" id="{3E52312F-D215-4673-A266-076F0767E9A3}"/>
              </a:ext>
            </a:extLst>
          </p:cNvPr>
          <p:cNvSpPr>
            <a:spLocks noGrp="1"/>
          </p:cNvSpPr>
          <p:nvPr/>
        </p:nvSpPr>
        <p:spPr>
          <a:xfrm>
            <a:off x="800100" y="4248150"/>
            <a:ext cx="2171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save config</a:t>
            </a:r>
          </a:p>
        </p:txBody>
      </p:sp>
      <p:sp>
        <p:nvSpPr>
          <p:cNvPr id="12" name="label">
            <a:extLst>
              <a:ext uri="{FF2B5EF4-FFF2-40B4-BE49-F238E27FC236}">
                <a16:creationId xmlns:a16="http://schemas.microsoft.com/office/drawing/2014/main" id="{90A5E2B4-A29B-457D-9313-CC923F32246D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E6672"/>
                </a:solidFill>
              </a:defRPr>
            </a:pPr>
            <a:r>
              <a:rPr sz="825" b="1">
                <a:solidFill>
                  <a:srgbClr val="5E6672"/>
                </a:solidFill>
              </a:rPr>
              <a:t>PERSISTENCE</a:t>
            </a:r>
          </a:p>
        </p:txBody>
      </p:sp>
      <p:sp>
        <p:nvSpPr>
          <p:cNvPr id="13" name="vendor-panel">
            <a:extLst>
              <a:ext uri="{FF2B5EF4-FFF2-40B4-BE49-F238E27FC236}">
                <a16:creationId xmlns:a16="http://schemas.microsoft.com/office/drawing/2014/main" id="{BBAFAD85-BF0C-4E2D-A3F5-139FBFA64479}"/>
              </a:ext>
            </a:extLst>
          </p:cNvPr>
          <p:cNvSpPr>
            <a:spLocks noGrp="1"/>
          </p:cNvSpPr>
          <p:nvPr/>
        </p:nvSpPr>
        <p:spPr>
          <a:xfrm>
            <a:off x="3390900" y="1695450"/>
            <a:ext cx="2552700" cy="371475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vendor">
            <a:extLst>
              <a:ext uri="{FF2B5EF4-FFF2-40B4-BE49-F238E27FC236}">
                <a16:creationId xmlns:a16="http://schemas.microsoft.com/office/drawing/2014/main" id="{1A605F06-4596-4A64-A256-DA7A899C065A}"/>
              </a:ext>
            </a:extLst>
          </p:cNvPr>
          <p:cNvSpPr>
            <a:spLocks noGrp="1"/>
          </p:cNvSpPr>
          <p:nvPr/>
        </p:nvSpPr>
        <p:spPr>
          <a:xfrm>
            <a:off x="3581400" y="190500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318"/>
                </a:solidFill>
              </a:defRPr>
            </a:pPr>
            <a:r>
              <a:rPr sz="1875" b="1">
                <a:solidFill>
                  <a:srgbClr val="111318"/>
                </a:solidFill>
              </a:rPr>
              <a:t>Cisco IOS XE</a:t>
            </a:r>
          </a:p>
        </p:txBody>
      </p:sp>
      <p:sp>
        <p:nvSpPr>
          <p:cNvPr id="15" name="rule">
            <a:extLst>
              <a:ext uri="{FF2B5EF4-FFF2-40B4-BE49-F238E27FC236}">
                <a16:creationId xmlns:a16="http://schemas.microsoft.com/office/drawing/2014/main" id="{F8C3F88D-0E2C-4A42-A051-78D295AD06AB}"/>
              </a:ext>
            </a:extLst>
          </p:cNvPr>
          <p:cNvSpPr>
            <a:spLocks noGrp="1"/>
          </p:cNvSpPr>
          <p:nvPr/>
        </p:nvSpPr>
        <p:spPr>
          <a:xfrm>
            <a:off x="3581400" y="2381250"/>
            <a:ext cx="21717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pi">
            <a:extLst>
              <a:ext uri="{FF2B5EF4-FFF2-40B4-BE49-F238E27FC236}">
                <a16:creationId xmlns:a16="http://schemas.microsoft.com/office/drawing/2014/main" id="{46B6A246-2A3B-4BCA-9F79-BB88DCA44D68}"/>
              </a:ext>
            </a:extLst>
          </p:cNvPr>
          <p:cNvSpPr>
            <a:spLocks noGrp="1"/>
          </p:cNvSpPr>
          <p:nvPr/>
        </p:nvSpPr>
        <p:spPr>
          <a:xfrm>
            <a:off x="3581400" y="2571750"/>
            <a:ext cx="217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RESTCONF / NETCONF</a:t>
            </a:r>
          </a:p>
        </p:txBody>
      </p:sp>
      <p:sp>
        <p:nvSpPr>
          <p:cNvPr id="17" name="binding">
            <a:extLst>
              <a:ext uri="{FF2B5EF4-FFF2-40B4-BE49-F238E27FC236}">
                <a16:creationId xmlns:a16="http://schemas.microsoft.com/office/drawing/2014/main" id="{037EE4BE-24B0-4C0A-AD51-4B131033A8A1}"/>
              </a:ext>
            </a:extLst>
          </p:cNvPr>
          <p:cNvSpPr>
            <a:spLocks noGrp="1"/>
          </p:cNvSpPr>
          <p:nvPr/>
        </p:nvSpPr>
        <p:spPr>
          <a:xfrm>
            <a:off x="3581400" y="3219450"/>
            <a:ext cx="2171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trustpoints • YANG revisions</a:t>
            </a:r>
          </a:p>
        </p:txBody>
      </p:sp>
      <p:sp>
        <p:nvSpPr>
          <p:cNvPr id="18" name="persist">
            <a:extLst>
              <a:ext uri="{FF2B5EF4-FFF2-40B4-BE49-F238E27FC236}">
                <a16:creationId xmlns:a16="http://schemas.microsoft.com/office/drawing/2014/main" id="{915F7C1E-1931-40D0-AADD-D9919923827B}"/>
              </a:ext>
            </a:extLst>
          </p:cNvPr>
          <p:cNvSpPr>
            <a:spLocks noGrp="1"/>
          </p:cNvSpPr>
          <p:nvPr/>
        </p:nvSpPr>
        <p:spPr>
          <a:xfrm>
            <a:off x="3581400" y="4248150"/>
            <a:ext cx="2171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commit / write memory</a:t>
            </a:r>
          </a:p>
        </p:txBody>
      </p:sp>
      <p:sp>
        <p:nvSpPr>
          <p:cNvPr id="19" name="label">
            <a:extLst>
              <a:ext uri="{FF2B5EF4-FFF2-40B4-BE49-F238E27FC236}">
                <a16:creationId xmlns:a16="http://schemas.microsoft.com/office/drawing/2014/main" id="{538E20D8-5865-4E0F-8F71-3B3791A2E29F}"/>
              </a:ext>
            </a:extLst>
          </p:cNvPr>
          <p:cNvSpPr>
            <a:spLocks noGrp="1"/>
          </p:cNvSpPr>
          <p:nvPr/>
        </p:nvSpPr>
        <p:spPr>
          <a:xfrm>
            <a:off x="3581400" y="40576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E6672"/>
                </a:solidFill>
              </a:defRPr>
            </a:pPr>
            <a:r>
              <a:rPr sz="825" b="1">
                <a:solidFill>
                  <a:srgbClr val="5E6672"/>
                </a:solidFill>
              </a:rPr>
              <a:t>PERSISTENCE</a:t>
            </a:r>
          </a:p>
        </p:txBody>
      </p:sp>
      <p:sp>
        <p:nvSpPr>
          <p:cNvPr id="20" name="vendor-panel">
            <a:extLst>
              <a:ext uri="{FF2B5EF4-FFF2-40B4-BE49-F238E27FC236}">
                <a16:creationId xmlns:a16="http://schemas.microsoft.com/office/drawing/2014/main" id="{63D356B9-C154-4137-B111-ECAF59D084A5}"/>
              </a:ext>
            </a:extLst>
          </p:cNvPr>
          <p:cNvSpPr>
            <a:spLocks noGrp="1"/>
          </p:cNvSpPr>
          <p:nvPr/>
        </p:nvSpPr>
        <p:spPr>
          <a:xfrm>
            <a:off x="6172200" y="1695450"/>
            <a:ext cx="2552700" cy="371475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vendor">
            <a:extLst>
              <a:ext uri="{FF2B5EF4-FFF2-40B4-BE49-F238E27FC236}">
                <a16:creationId xmlns:a16="http://schemas.microsoft.com/office/drawing/2014/main" id="{B3A0B4AC-5521-430F-82BA-56DC4332DA34}"/>
              </a:ext>
            </a:extLst>
          </p:cNvPr>
          <p:cNvSpPr>
            <a:spLocks noGrp="1"/>
          </p:cNvSpPr>
          <p:nvPr/>
        </p:nvSpPr>
        <p:spPr>
          <a:xfrm>
            <a:off x="6362700" y="190500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318"/>
                </a:solidFill>
              </a:defRPr>
            </a:pPr>
            <a:r>
              <a:rPr sz="1875" b="1">
                <a:solidFill>
                  <a:srgbClr val="111318"/>
                </a:solidFill>
              </a:rPr>
              <a:t>Cisco IOS XR</a:t>
            </a:r>
          </a:p>
        </p:txBody>
      </p:sp>
      <p:sp>
        <p:nvSpPr>
          <p:cNvPr id="22" name="rule">
            <a:extLst>
              <a:ext uri="{FF2B5EF4-FFF2-40B4-BE49-F238E27FC236}">
                <a16:creationId xmlns:a16="http://schemas.microsoft.com/office/drawing/2014/main" id="{198152E4-18AF-4D52-A4A4-39EA96050B0F}"/>
              </a:ext>
            </a:extLst>
          </p:cNvPr>
          <p:cNvSpPr>
            <a:spLocks noGrp="1"/>
          </p:cNvSpPr>
          <p:nvPr/>
        </p:nvSpPr>
        <p:spPr>
          <a:xfrm>
            <a:off x="6362700" y="2381250"/>
            <a:ext cx="21717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pi">
            <a:extLst>
              <a:ext uri="{FF2B5EF4-FFF2-40B4-BE49-F238E27FC236}">
                <a16:creationId xmlns:a16="http://schemas.microsoft.com/office/drawing/2014/main" id="{18DFAB3F-6299-42A2-95E7-6DB7B9836267}"/>
              </a:ext>
            </a:extLst>
          </p:cNvPr>
          <p:cNvSpPr>
            <a:spLocks noGrp="1"/>
          </p:cNvSpPr>
          <p:nvPr/>
        </p:nvSpPr>
        <p:spPr>
          <a:xfrm>
            <a:off x="6362700" y="2571750"/>
            <a:ext cx="217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NETCONF / gNMI</a:t>
            </a:r>
          </a:p>
        </p:txBody>
      </p:sp>
      <p:sp>
        <p:nvSpPr>
          <p:cNvPr id="24" name="binding">
            <a:extLst>
              <a:ext uri="{FF2B5EF4-FFF2-40B4-BE49-F238E27FC236}">
                <a16:creationId xmlns:a16="http://schemas.microsoft.com/office/drawing/2014/main" id="{11F72AA7-B843-40F6-B6BC-A2BC791BAF7F}"/>
              </a:ext>
            </a:extLst>
          </p:cNvPr>
          <p:cNvSpPr>
            <a:spLocks noGrp="1"/>
          </p:cNvSpPr>
          <p:nvPr/>
        </p:nvSpPr>
        <p:spPr>
          <a:xfrm>
            <a:off x="6362700" y="3219450"/>
            <a:ext cx="2171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CEPKI • release variance</a:t>
            </a:r>
          </a:p>
        </p:txBody>
      </p:sp>
      <p:sp>
        <p:nvSpPr>
          <p:cNvPr id="25" name="persist">
            <a:extLst>
              <a:ext uri="{FF2B5EF4-FFF2-40B4-BE49-F238E27FC236}">
                <a16:creationId xmlns:a16="http://schemas.microsoft.com/office/drawing/2014/main" id="{DB9B4697-F86C-4761-8C62-0B77A18C386C}"/>
              </a:ext>
            </a:extLst>
          </p:cNvPr>
          <p:cNvSpPr>
            <a:spLocks noGrp="1"/>
          </p:cNvSpPr>
          <p:nvPr/>
        </p:nvSpPr>
        <p:spPr>
          <a:xfrm>
            <a:off x="6362700" y="4248150"/>
            <a:ext cx="2171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candidate / running</a:t>
            </a:r>
          </a:p>
        </p:txBody>
      </p:sp>
      <p:sp>
        <p:nvSpPr>
          <p:cNvPr id="26" name="label">
            <a:extLst>
              <a:ext uri="{FF2B5EF4-FFF2-40B4-BE49-F238E27FC236}">
                <a16:creationId xmlns:a16="http://schemas.microsoft.com/office/drawing/2014/main" id="{EEEF641E-D02C-4A07-9CD6-7743DE6A1009}"/>
              </a:ext>
            </a:extLst>
          </p:cNvPr>
          <p:cNvSpPr>
            <a:spLocks noGrp="1"/>
          </p:cNvSpPr>
          <p:nvPr/>
        </p:nvSpPr>
        <p:spPr>
          <a:xfrm>
            <a:off x="6362700" y="40576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E6672"/>
                </a:solidFill>
              </a:defRPr>
            </a:pPr>
            <a:r>
              <a:rPr sz="825" b="1">
                <a:solidFill>
                  <a:srgbClr val="5E6672"/>
                </a:solidFill>
              </a:rPr>
              <a:t>PERSISTENCE</a:t>
            </a:r>
          </a:p>
        </p:txBody>
      </p:sp>
      <p:sp>
        <p:nvSpPr>
          <p:cNvPr id="27" name="vendor-panel">
            <a:extLst>
              <a:ext uri="{FF2B5EF4-FFF2-40B4-BE49-F238E27FC236}">
                <a16:creationId xmlns:a16="http://schemas.microsoft.com/office/drawing/2014/main" id="{012724DA-96AC-456A-A663-3BFC1979E407}"/>
              </a:ext>
            </a:extLst>
          </p:cNvPr>
          <p:cNvSpPr>
            <a:spLocks noGrp="1"/>
          </p:cNvSpPr>
          <p:nvPr/>
        </p:nvSpPr>
        <p:spPr>
          <a:xfrm>
            <a:off x="8953500" y="1695450"/>
            <a:ext cx="2552700" cy="371475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vendor">
            <a:extLst>
              <a:ext uri="{FF2B5EF4-FFF2-40B4-BE49-F238E27FC236}">
                <a16:creationId xmlns:a16="http://schemas.microsoft.com/office/drawing/2014/main" id="{EC908A85-3018-4E5C-BC68-2AC75624BBDA}"/>
              </a:ext>
            </a:extLst>
          </p:cNvPr>
          <p:cNvSpPr>
            <a:spLocks noGrp="1"/>
          </p:cNvSpPr>
          <p:nvPr/>
        </p:nvSpPr>
        <p:spPr>
          <a:xfrm>
            <a:off x="9144000" y="190500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318"/>
                </a:solidFill>
              </a:defRPr>
            </a:pPr>
            <a:r>
              <a:rPr sz="1875" b="1">
                <a:solidFill>
                  <a:srgbClr val="111318"/>
                </a:solidFill>
              </a:rPr>
              <a:t>Cisco NX-OS</a:t>
            </a:r>
          </a:p>
        </p:txBody>
      </p:sp>
      <p:sp>
        <p:nvSpPr>
          <p:cNvPr id="29" name="rule">
            <a:extLst>
              <a:ext uri="{FF2B5EF4-FFF2-40B4-BE49-F238E27FC236}">
                <a16:creationId xmlns:a16="http://schemas.microsoft.com/office/drawing/2014/main" id="{AEB20B18-C25F-4FC7-8935-FF27FCCAFC2F}"/>
              </a:ext>
            </a:extLst>
          </p:cNvPr>
          <p:cNvSpPr>
            <a:spLocks noGrp="1"/>
          </p:cNvSpPr>
          <p:nvPr/>
        </p:nvSpPr>
        <p:spPr>
          <a:xfrm>
            <a:off x="9144000" y="2381250"/>
            <a:ext cx="21717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pi">
            <a:extLst>
              <a:ext uri="{FF2B5EF4-FFF2-40B4-BE49-F238E27FC236}">
                <a16:creationId xmlns:a16="http://schemas.microsoft.com/office/drawing/2014/main" id="{EC030D8D-DC49-4863-AB73-EFE42E9F7DE9}"/>
              </a:ext>
            </a:extLst>
          </p:cNvPr>
          <p:cNvSpPr>
            <a:spLocks noGrp="1"/>
          </p:cNvSpPr>
          <p:nvPr/>
        </p:nvSpPr>
        <p:spPr>
          <a:xfrm>
            <a:off x="9144000" y="2571750"/>
            <a:ext cx="217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NX-API / YANG</a:t>
            </a:r>
          </a:p>
        </p:txBody>
      </p:sp>
      <p:sp>
        <p:nvSpPr>
          <p:cNvPr id="31" name="binding">
            <a:extLst>
              <a:ext uri="{FF2B5EF4-FFF2-40B4-BE49-F238E27FC236}">
                <a16:creationId xmlns:a16="http://schemas.microsoft.com/office/drawing/2014/main" id="{DAC222F1-75DE-4CA6-AD94-88DCA551701E}"/>
              </a:ext>
            </a:extLst>
          </p:cNvPr>
          <p:cNvSpPr>
            <a:spLocks noGrp="1"/>
          </p:cNvSpPr>
          <p:nvPr/>
        </p:nvSpPr>
        <p:spPr>
          <a:xfrm>
            <a:off x="9144000" y="3219450"/>
            <a:ext cx="2171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feature-dependent PKI</a:t>
            </a:r>
          </a:p>
        </p:txBody>
      </p:sp>
      <p:sp>
        <p:nvSpPr>
          <p:cNvPr id="32" name="persist">
            <a:extLst>
              <a:ext uri="{FF2B5EF4-FFF2-40B4-BE49-F238E27FC236}">
                <a16:creationId xmlns:a16="http://schemas.microsoft.com/office/drawing/2014/main" id="{3DA96ED6-0A85-4DC8-8996-274A3B20D0AE}"/>
              </a:ext>
            </a:extLst>
          </p:cNvPr>
          <p:cNvSpPr>
            <a:spLocks noGrp="1"/>
          </p:cNvSpPr>
          <p:nvPr/>
        </p:nvSpPr>
        <p:spPr>
          <a:xfrm>
            <a:off x="9144000" y="4248150"/>
            <a:ext cx="2171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checkpoint / copy run start</a:t>
            </a:r>
          </a:p>
        </p:txBody>
      </p:sp>
      <p:sp>
        <p:nvSpPr>
          <p:cNvPr id="33" name="label">
            <a:extLst>
              <a:ext uri="{FF2B5EF4-FFF2-40B4-BE49-F238E27FC236}">
                <a16:creationId xmlns:a16="http://schemas.microsoft.com/office/drawing/2014/main" id="{E4B359E2-B664-4C61-8364-D26D0B271090}"/>
              </a:ext>
            </a:extLst>
          </p:cNvPr>
          <p:cNvSpPr>
            <a:spLocks noGrp="1"/>
          </p:cNvSpPr>
          <p:nvPr/>
        </p:nvSpPr>
        <p:spPr>
          <a:xfrm>
            <a:off x="9144000" y="40576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E6672"/>
                </a:solidFill>
              </a:defRPr>
            </a:pPr>
            <a:r>
              <a:rPr sz="825" b="1">
                <a:solidFill>
                  <a:srgbClr val="5E6672"/>
                </a:solidFill>
              </a:rPr>
              <a:t>PERSISTENCE</a:t>
            </a:r>
          </a:p>
        </p:txBody>
      </p:sp>
      <p:sp>
        <p:nvSpPr>
          <p:cNvPr id="34" name="bottom">
            <a:extLst>
              <a:ext uri="{FF2B5EF4-FFF2-40B4-BE49-F238E27FC236}">
                <a16:creationId xmlns:a16="http://schemas.microsoft.com/office/drawing/2014/main" id="{F92D4551-47DD-42AA-86E4-7B3172D9FE5F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11318"/>
                </a:solidFill>
              </a:defRPr>
            </a:pPr>
            <a:r>
              <a:rPr sz="2100" b="1" dirty="0">
                <a:solidFill>
                  <a:srgbClr val="111318"/>
                </a:solidFill>
              </a:rPr>
              <a:t>The adapter must understand the device</a:t>
            </a:r>
            <a:r>
              <a:rPr lang="en-GB" sz="2100" b="1" dirty="0">
                <a:solidFill>
                  <a:srgbClr val="111318"/>
                </a:solidFill>
              </a:rPr>
              <a:t> - </a:t>
            </a:r>
            <a:r>
              <a:rPr sz="2100" b="1" dirty="0">
                <a:solidFill>
                  <a:srgbClr val="111318"/>
                </a:solidFill>
              </a:rPr>
              <a:t>not merely copy PEM files.</a:t>
            </a:r>
          </a:p>
        </p:txBody>
      </p:sp>
    </p:spTree>
    <p:extLst>
      <p:ext uri="{BB962C8B-B14F-4D97-AF65-F5344CB8AC3E}">
        <p14:creationId xmlns:p14="http://schemas.microsoft.com/office/powerpoint/2010/main" val="775773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kicker">
            <a:extLst>
              <a:ext uri="{FF2B5EF4-FFF2-40B4-BE49-F238E27FC236}">
                <a16:creationId xmlns:a16="http://schemas.microsoft.com/office/drawing/2014/main" id="{2A6B206E-A595-4B93-BE02-2CF13B9AC2EC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OPERATIONAL RISK</a:t>
            </a:r>
          </a:p>
        </p:txBody>
      </p:sp>
      <p:sp>
        <p:nvSpPr>
          <p:cNvPr id="550" name="title">
            <a:extLst>
              <a:ext uri="{FF2B5EF4-FFF2-40B4-BE49-F238E27FC236}">
                <a16:creationId xmlns:a16="http://schemas.microsoft.com/office/drawing/2014/main" id="{85CA9224-4031-4713-938B-BEF4926B974D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The most dangerous failures look successful at first</a:t>
            </a:r>
          </a:p>
        </p:txBody>
      </p:sp>
      <p:sp>
        <p:nvSpPr>
          <p:cNvPr id="551" name="rule">
            <a:extLst>
              <a:ext uri="{FF2B5EF4-FFF2-40B4-BE49-F238E27FC236}">
                <a16:creationId xmlns:a16="http://schemas.microsoft.com/office/drawing/2014/main" id="{868CCD12-8BCE-4EBE-8BCC-4FED84031010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2" name="page">
            <a:extLst>
              <a:ext uri="{FF2B5EF4-FFF2-40B4-BE49-F238E27FC236}">
                <a16:creationId xmlns:a16="http://schemas.microsoft.com/office/drawing/2014/main" id="{CC3753A9-1E24-414A-8F83-AF33ED94DC35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15</a:t>
            </a:r>
          </a:p>
        </p:txBody>
      </p:sp>
      <p:sp>
        <p:nvSpPr>
          <p:cNvPr id="553" name="footer">
            <a:extLst>
              <a:ext uri="{FF2B5EF4-FFF2-40B4-BE49-F238E27FC236}">
                <a16:creationId xmlns:a16="http://schemas.microsoft.com/office/drawing/2014/main" id="{098953CF-8A23-4582-A89E-98CF7E772A32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554" name="index">
            <a:extLst>
              <a:ext uri="{FF2B5EF4-FFF2-40B4-BE49-F238E27FC236}">
                <a16:creationId xmlns:a16="http://schemas.microsoft.com/office/drawing/2014/main" id="{18907C6E-D951-4D44-8742-5332B5BCE536}"/>
              </a:ext>
            </a:extLst>
          </p:cNvPr>
          <p:cNvSpPr>
            <a:spLocks noGrp="1"/>
          </p:cNvSpPr>
          <p:nvPr/>
        </p:nvSpPr>
        <p:spPr>
          <a:xfrm>
            <a:off x="612648" y="1481328"/>
            <a:ext cx="457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2F80ED"/>
                </a:solidFill>
              </a:defRPr>
            </a:pPr>
            <a:r>
              <a:rPr lang="en-US" sz="1400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555" name="risk-title">
            <a:extLst>
              <a:ext uri="{FF2B5EF4-FFF2-40B4-BE49-F238E27FC236}">
                <a16:creationId xmlns:a16="http://schemas.microsoft.com/office/drawing/2014/main" id="{9C07D091-AABA-4832-A435-C3DAB2A4E6A2}"/>
              </a:ext>
            </a:extLst>
          </p:cNvPr>
          <p:cNvSpPr>
            <a:spLocks noGrp="1"/>
          </p:cNvSpPr>
          <p:nvPr/>
        </p:nvSpPr>
        <p:spPr>
          <a:xfrm>
            <a:off x="1197864" y="1481328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50" b="1">
                <a:solidFill>
                  <a:srgbClr val="111318"/>
                </a:solidFill>
              </a:defRPr>
            </a:pPr>
            <a:r>
              <a:rPr lang="en-US" sz="1550" b="1">
                <a:solidFill>
                  <a:srgbClr val="111318"/>
                </a:solidFill>
              </a:rPr>
              <a:t>Renewed, not bound</a:t>
            </a:r>
          </a:p>
        </p:txBody>
      </p:sp>
      <p:sp>
        <p:nvSpPr>
          <p:cNvPr id="556" name="risk-body">
            <a:extLst>
              <a:ext uri="{FF2B5EF4-FFF2-40B4-BE49-F238E27FC236}">
                <a16:creationId xmlns:a16="http://schemas.microsoft.com/office/drawing/2014/main" id="{DBE557C6-875C-4324-A582-FCB25EAA8360}"/>
              </a:ext>
            </a:extLst>
          </p:cNvPr>
          <p:cNvSpPr>
            <a:spLocks noGrp="1"/>
          </p:cNvSpPr>
          <p:nvPr/>
        </p:nvSpPr>
        <p:spPr>
          <a:xfrm>
            <a:off x="1197864" y="1810512"/>
            <a:ext cx="448056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The new certificate reaches the device but the active profile still references the old object.</a:t>
            </a:r>
          </a:p>
        </p:txBody>
      </p:sp>
      <p:sp>
        <p:nvSpPr>
          <p:cNvPr id="557" name="rule">
            <a:extLst>
              <a:ext uri="{FF2B5EF4-FFF2-40B4-BE49-F238E27FC236}">
                <a16:creationId xmlns:a16="http://schemas.microsoft.com/office/drawing/2014/main" id="{B15C3435-BBFF-4555-86F8-F89AE76379F7}"/>
              </a:ext>
            </a:extLst>
          </p:cNvPr>
          <p:cNvSpPr>
            <a:spLocks noGrp="1"/>
          </p:cNvSpPr>
          <p:nvPr/>
        </p:nvSpPr>
        <p:spPr>
          <a:xfrm>
            <a:off x="612648" y="2487168"/>
            <a:ext cx="4956048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8" name="index">
            <a:extLst>
              <a:ext uri="{FF2B5EF4-FFF2-40B4-BE49-F238E27FC236}">
                <a16:creationId xmlns:a16="http://schemas.microsoft.com/office/drawing/2014/main" id="{893E7B02-3B92-406C-ACEF-9BBBD1B328A9}"/>
              </a:ext>
            </a:extLst>
          </p:cNvPr>
          <p:cNvSpPr>
            <a:spLocks noGrp="1"/>
          </p:cNvSpPr>
          <p:nvPr/>
        </p:nvSpPr>
        <p:spPr>
          <a:xfrm>
            <a:off x="6135624" y="1481328"/>
            <a:ext cx="457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2F80ED"/>
                </a:solidFill>
              </a:defRPr>
            </a:pPr>
            <a:r>
              <a:rPr lang="en-US" sz="140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559" name="risk-title">
            <a:extLst>
              <a:ext uri="{FF2B5EF4-FFF2-40B4-BE49-F238E27FC236}">
                <a16:creationId xmlns:a16="http://schemas.microsoft.com/office/drawing/2014/main" id="{8A9F5E71-7F22-46AD-B1CD-22CF5ABC8301}"/>
              </a:ext>
            </a:extLst>
          </p:cNvPr>
          <p:cNvSpPr>
            <a:spLocks noGrp="1"/>
          </p:cNvSpPr>
          <p:nvPr/>
        </p:nvSpPr>
        <p:spPr>
          <a:xfrm>
            <a:off x="6720840" y="1481328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50" b="1">
                <a:solidFill>
                  <a:srgbClr val="111318"/>
                </a:solidFill>
              </a:defRPr>
            </a:pPr>
            <a:r>
              <a:rPr lang="en-US" sz="1550" b="1">
                <a:solidFill>
                  <a:srgbClr val="111318"/>
                </a:solidFill>
              </a:rPr>
              <a:t>Applied, not persisted</a:t>
            </a:r>
          </a:p>
        </p:txBody>
      </p:sp>
      <p:sp>
        <p:nvSpPr>
          <p:cNvPr id="560" name="risk-body">
            <a:extLst>
              <a:ext uri="{FF2B5EF4-FFF2-40B4-BE49-F238E27FC236}">
                <a16:creationId xmlns:a16="http://schemas.microsoft.com/office/drawing/2014/main" id="{AD656AF1-2285-431F-AF3C-9E1615E01D21}"/>
              </a:ext>
            </a:extLst>
          </p:cNvPr>
          <p:cNvSpPr>
            <a:spLocks noGrp="1"/>
          </p:cNvSpPr>
          <p:nvPr/>
        </p:nvSpPr>
        <p:spPr>
          <a:xfrm>
            <a:off x="6720840" y="1810512"/>
            <a:ext cx="448056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Traffic works until reboot because running configuration was never saved.</a:t>
            </a:r>
          </a:p>
        </p:txBody>
      </p:sp>
      <p:sp>
        <p:nvSpPr>
          <p:cNvPr id="561" name="rule">
            <a:extLst>
              <a:ext uri="{FF2B5EF4-FFF2-40B4-BE49-F238E27FC236}">
                <a16:creationId xmlns:a16="http://schemas.microsoft.com/office/drawing/2014/main" id="{456B342E-C299-42AF-8DCD-30A6310FA24E}"/>
              </a:ext>
            </a:extLst>
          </p:cNvPr>
          <p:cNvSpPr>
            <a:spLocks noGrp="1"/>
          </p:cNvSpPr>
          <p:nvPr/>
        </p:nvSpPr>
        <p:spPr>
          <a:xfrm>
            <a:off x="6135624" y="2487168"/>
            <a:ext cx="4956048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2" name="index">
            <a:extLst>
              <a:ext uri="{FF2B5EF4-FFF2-40B4-BE49-F238E27FC236}">
                <a16:creationId xmlns:a16="http://schemas.microsoft.com/office/drawing/2014/main" id="{9A3BA9DB-28FA-498D-9BF9-A3DA5FE8716C}"/>
              </a:ext>
            </a:extLst>
          </p:cNvPr>
          <p:cNvSpPr>
            <a:spLocks noGrp="1"/>
          </p:cNvSpPr>
          <p:nvPr/>
        </p:nvSpPr>
        <p:spPr>
          <a:xfrm>
            <a:off x="612648" y="2596896"/>
            <a:ext cx="457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2F80ED"/>
                </a:solidFill>
              </a:defRPr>
            </a:pPr>
            <a:r>
              <a:rPr lang="en-US" sz="140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563" name="risk-title">
            <a:extLst>
              <a:ext uri="{FF2B5EF4-FFF2-40B4-BE49-F238E27FC236}">
                <a16:creationId xmlns:a16="http://schemas.microsoft.com/office/drawing/2014/main" id="{7F203B4D-F3B9-4648-82B0-9169E5E7725E}"/>
              </a:ext>
            </a:extLst>
          </p:cNvPr>
          <p:cNvSpPr>
            <a:spLocks noGrp="1"/>
          </p:cNvSpPr>
          <p:nvPr/>
        </p:nvSpPr>
        <p:spPr>
          <a:xfrm>
            <a:off x="1197864" y="2596896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50" b="1">
                <a:solidFill>
                  <a:srgbClr val="111318"/>
                </a:solidFill>
              </a:defRPr>
            </a:pPr>
            <a:r>
              <a:rPr lang="en-US" sz="1550" b="1">
                <a:solidFill>
                  <a:srgbClr val="111318"/>
                </a:solidFill>
              </a:rPr>
              <a:t>Updated, not synchronized</a:t>
            </a:r>
          </a:p>
        </p:txBody>
      </p:sp>
      <p:sp>
        <p:nvSpPr>
          <p:cNvPr id="564" name="risk-body">
            <a:extLst>
              <a:ext uri="{FF2B5EF4-FFF2-40B4-BE49-F238E27FC236}">
                <a16:creationId xmlns:a16="http://schemas.microsoft.com/office/drawing/2014/main" id="{C11A0CB6-FBAB-4FCC-A323-9C0714D76AD1}"/>
              </a:ext>
            </a:extLst>
          </p:cNvPr>
          <p:cNvSpPr>
            <a:spLocks noGrp="1"/>
          </p:cNvSpPr>
          <p:nvPr/>
        </p:nvSpPr>
        <p:spPr>
          <a:xfrm>
            <a:off x="1197864" y="2926080"/>
            <a:ext cx="448056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One member of an HA pair is correct while its peer remains stale.</a:t>
            </a:r>
          </a:p>
        </p:txBody>
      </p:sp>
      <p:sp>
        <p:nvSpPr>
          <p:cNvPr id="565" name="rule">
            <a:extLst>
              <a:ext uri="{FF2B5EF4-FFF2-40B4-BE49-F238E27FC236}">
                <a16:creationId xmlns:a16="http://schemas.microsoft.com/office/drawing/2014/main" id="{A16A36EC-BDAD-420B-A9BE-D1EB17A116C9}"/>
              </a:ext>
            </a:extLst>
          </p:cNvPr>
          <p:cNvSpPr>
            <a:spLocks noGrp="1"/>
          </p:cNvSpPr>
          <p:nvPr/>
        </p:nvSpPr>
        <p:spPr>
          <a:xfrm>
            <a:off x="612648" y="3602736"/>
            <a:ext cx="4956048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6" name="index">
            <a:extLst>
              <a:ext uri="{FF2B5EF4-FFF2-40B4-BE49-F238E27FC236}">
                <a16:creationId xmlns:a16="http://schemas.microsoft.com/office/drawing/2014/main" id="{1AB916DF-5EFF-41C7-ADA9-0FE503967B27}"/>
              </a:ext>
            </a:extLst>
          </p:cNvPr>
          <p:cNvSpPr>
            <a:spLocks noGrp="1"/>
          </p:cNvSpPr>
          <p:nvPr/>
        </p:nvSpPr>
        <p:spPr>
          <a:xfrm>
            <a:off x="6135624" y="2596896"/>
            <a:ext cx="457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2F80ED"/>
                </a:solidFill>
              </a:defRPr>
            </a:pPr>
            <a:r>
              <a:rPr lang="en-US" sz="1400" b="1">
                <a:solidFill>
                  <a:srgbClr val="2F80ED"/>
                </a:solidFill>
              </a:rPr>
              <a:t>04</a:t>
            </a:r>
          </a:p>
        </p:txBody>
      </p:sp>
      <p:sp>
        <p:nvSpPr>
          <p:cNvPr id="567" name="risk-title">
            <a:extLst>
              <a:ext uri="{FF2B5EF4-FFF2-40B4-BE49-F238E27FC236}">
                <a16:creationId xmlns:a16="http://schemas.microsoft.com/office/drawing/2014/main" id="{945A811A-FD8A-43A4-9040-AA60D1D45E77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50" b="1">
                <a:solidFill>
                  <a:srgbClr val="111318"/>
                </a:solidFill>
              </a:defRPr>
            </a:pPr>
            <a:r>
              <a:rPr lang="en-US" sz="1550" b="1">
                <a:solidFill>
                  <a:srgbClr val="111318"/>
                </a:solidFill>
              </a:rPr>
              <a:t>Installed, not trusted</a:t>
            </a:r>
          </a:p>
        </p:txBody>
      </p:sp>
      <p:sp>
        <p:nvSpPr>
          <p:cNvPr id="568" name="risk-body">
            <a:extLst>
              <a:ext uri="{FF2B5EF4-FFF2-40B4-BE49-F238E27FC236}">
                <a16:creationId xmlns:a16="http://schemas.microsoft.com/office/drawing/2014/main" id="{BDE0F096-5D0D-43F6-BFD0-723DECB0D60C}"/>
              </a:ext>
            </a:extLst>
          </p:cNvPr>
          <p:cNvSpPr>
            <a:spLocks noGrp="1"/>
          </p:cNvSpPr>
          <p:nvPr/>
        </p:nvSpPr>
        <p:spPr>
          <a:xfrm>
            <a:off x="6720840" y="2926080"/>
            <a:ext cx="448056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The leaf is present but the intermediate chain or trust anchor is wrong.</a:t>
            </a:r>
          </a:p>
        </p:txBody>
      </p:sp>
      <p:sp>
        <p:nvSpPr>
          <p:cNvPr id="569" name="rule">
            <a:extLst>
              <a:ext uri="{FF2B5EF4-FFF2-40B4-BE49-F238E27FC236}">
                <a16:creationId xmlns:a16="http://schemas.microsoft.com/office/drawing/2014/main" id="{01A8E573-B247-47B6-9DDB-8BE7337EA53E}"/>
              </a:ext>
            </a:extLst>
          </p:cNvPr>
          <p:cNvSpPr>
            <a:spLocks noGrp="1"/>
          </p:cNvSpPr>
          <p:nvPr/>
        </p:nvSpPr>
        <p:spPr>
          <a:xfrm>
            <a:off x="6135624" y="3602736"/>
            <a:ext cx="4956048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0" name="index">
            <a:extLst>
              <a:ext uri="{FF2B5EF4-FFF2-40B4-BE49-F238E27FC236}">
                <a16:creationId xmlns:a16="http://schemas.microsoft.com/office/drawing/2014/main" id="{C82748EA-2C8E-4D92-9D6D-8FA8BCB5397C}"/>
              </a:ext>
            </a:extLst>
          </p:cNvPr>
          <p:cNvSpPr>
            <a:spLocks noGrp="1"/>
          </p:cNvSpPr>
          <p:nvPr/>
        </p:nvSpPr>
        <p:spPr>
          <a:xfrm>
            <a:off x="612648" y="3712464"/>
            <a:ext cx="457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2F80ED"/>
                </a:solidFill>
              </a:defRPr>
            </a:pPr>
            <a:r>
              <a:rPr lang="en-US" sz="1400" b="1">
                <a:solidFill>
                  <a:srgbClr val="2F80ED"/>
                </a:solidFill>
              </a:rPr>
              <a:t>05</a:t>
            </a:r>
          </a:p>
        </p:txBody>
      </p:sp>
      <p:sp>
        <p:nvSpPr>
          <p:cNvPr id="571" name="risk-title">
            <a:extLst>
              <a:ext uri="{FF2B5EF4-FFF2-40B4-BE49-F238E27FC236}">
                <a16:creationId xmlns:a16="http://schemas.microsoft.com/office/drawing/2014/main" id="{3350B3F3-ED16-43F0-884D-71F9FE8E9AFF}"/>
              </a:ext>
            </a:extLst>
          </p:cNvPr>
          <p:cNvSpPr>
            <a:spLocks noGrp="1"/>
          </p:cNvSpPr>
          <p:nvPr/>
        </p:nvSpPr>
        <p:spPr>
          <a:xfrm>
            <a:off x="1197864" y="3712464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50" b="1">
                <a:solidFill>
                  <a:srgbClr val="111318"/>
                </a:solidFill>
              </a:defRPr>
            </a:pPr>
            <a:r>
              <a:rPr lang="en-US" sz="1550" b="1">
                <a:solidFill>
                  <a:srgbClr val="111318"/>
                </a:solidFill>
              </a:rPr>
              <a:t>Automated, not verified</a:t>
            </a:r>
          </a:p>
        </p:txBody>
      </p:sp>
      <p:sp>
        <p:nvSpPr>
          <p:cNvPr id="572" name="risk-body">
            <a:extLst>
              <a:ext uri="{FF2B5EF4-FFF2-40B4-BE49-F238E27FC236}">
                <a16:creationId xmlns:a16="http://schemas.microsoft.com/office/drawing/2014/main" id="{C76823F9-8FE6-482D-8322-F0DD08DBCE01}"/>
              </a:ext>
            </a:extLst>
          </p:cNvPr>
          <p:cNvSpPr>
            <a:spLocks noGrp="1"/>
          </p:cNvSpPr>
          <p:nvPr/>
        </p:nvSpPr>
        <p:spPr>
          <a:xfrm>
            <a:off x="1197864" y="4041648"/>
            <a:ext cx="448056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The API returns success; the live endpoint still presents the wrong fingerprint.</a:t>
            </a:r>
          </a:p>
        </p:txBody>
      </p:sp>
      <p:sp>
        <p:nvSpPr>
          <p:cNvPr id="573" name="rule">
            <a:extLst>
              <a:ext uri="{FF2B5EF4-FFF2-40B4-BE49-F238E27FC236}">
                <a16:creationId xmlns:a16="http://schemas.microsoft.com/office/drawing/2014/main" id="{9D76D905-685F-4FBC-850A-04E5552E0B4A}"/>
              </a:ext>
            </a:extLst>
          </p:cNvPr>
          <p:cNvSpPr>
            <a:spLocks noGrp="1"/>
          </p:cNvSpPr>
          <p:nvPr/>
        </p:nvSpPr>
        <p:spPr>
          <a:xfrm>
            <a:off x="612648" y="4718304"/>
            <a:ext cx="4956048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4" name="index">
            <a:extLst>
              <a:ext uri="{FF2B5EF4-FFF2-40B4-BE49-F238E27FC236}">
                <a16:creationId xmlns:a16="http://schemas.microsoft.com/office/drawing/2014/main" id="{8B743BB2-52DF-4C7D-9D59-02FCFCA88EE5}"/>
              </a:ext>
            </a:extLst>
          </p:cNvPr>
          <p:cNvSpPr>
            <a:spLocks noGrp="1"/>
          </p:cNvSpPr>
          <p:nvPr/>
        </p:nvSpPr>
        <p:spPr>
          <a:xfrm>
            <a:off x="6135624" y="3712464"/>
            <a:ext cx="457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2F80ED"/>
                </a:solidFill>
              </a:defRPr>
            </a:pPr>
            <a:r>
              <a:rPr lang="en-US" sz="1400" b="1">
                <a:solidFill>
                  <a:srgbClr val="2F80ED"/>
                </a:solidFill>
              </a:rPr>
              <a:t>06</a:t>
            </a:r>
          </a:p>
        </p:txBody>
      </p:sp>
      <p:sp>
        <p:nvSpPr>
          <p:cNvPr id="575" name="risk-title">
            <a:extLst>
              <a:ext uri="{FF2B5EF4-FFF2-40B4-BE49-F238E27FC236}">
                <a16:creationId xmlns:a16="http://schemas.microsoft.com/office/drawing/2014/main" id="{AD8F5D0E-57E0-4146-80D9-7330E1B8B0C1}"/>
              </a:ext>
            </a:extLst>
          </p:cNvPr>
          <p:cNvSpPr>
            <a:spLocks noGrp="1"/>
          </p:cNvSpPr>
          <p:nvPr/>
        </p:nvSpPr>
        <p:spPr>
          <a:xfrm>
            <a:off x="6720840" y="3712464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50" b="1">
                <a:solidFill>
                  <a:srgbClr val="111318"/>
                </a:solidFill>
              </a:defRPr>
            </a:pPr>
            <a:r>
              <a:rPr lang="en-US" sz="1550" b="1">
                <a:solidFill>
                  <a:srgbClr val="111318"/>
                </a:solidFill>
              </a:rPr>
              <a:t>Alerted, not owned</a:t>
            </a:r>
          </a:p>
        </p:txBody>
      </p:sp>
      <p:sp>
        <p:nvSpPr>
          <p:cNvPr id="576" name="risk-body">
            <a:extLst>
              <a:ext uri="{FF2B5EF4-FFF2-40B4-BE49-F238E27FC236}">
                <a16:creationId xmlns:a16="http://schemas.microsoft.com/office/drawing/2014/main" id="{849517ED-9D6E-4D2F-89CF-DAAB908AA3A4}"/>
              </a:ext>
            </a:extLst>
          </p:cNvPr>
          <p:cNvSpPr>
            <a:spLocks noGrp="1"/>
          </p:cNvSpPr>
          <p:nvPr/>
        </p:nvSpPr>
        <p:spPr>
          <a:xfrm>
            <a:off x="6720840" y="4041648"/>
            <a:ext cx="448056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Expiry alarms exist but nobody has accountable remediation ownership.</a:t>
            </a:r>
          </a:p>
        </p:txBody>
      </p:sp>
      <p:sp>
        <p:nvSpPr>
          <p:cNvPr id="577" name="rule">
            <a:extLst>
              <a:ext uri="{FF2B5EF4-FFF2-40B4-BE49-F238E27FC236}">
                <a16:creationId xmlns:a16="http://schemas.microsoft.com/office/drawing/2014/main" id="{D7FFD032-7A76-4CBE-893F-8D08968E3C90}"/>
              </a:ext>
            </a:extLst>
          </p:cNvPr>
          <p:cNvSpPr>
            <a:spLocks noGrp="1"/>
          </p:cNvSpPr>
          <p:nvPr/>
        </p:nvSpPr>
        <p:spPr>
          <a:xfrm>
            <a:off x="6135624" y="4718304"/>
            <a:ext cx="4956048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8" name="index">
            <a:extLst>
              <a:ext uri="{FF2B5EF4-FFF2-40B4-BE49-F238E27FC236}">
                <a16:creationId xmlns:a16="http://schemas.microsoft.com/office/drawing/2014/main" id="{B00E1D49-A1BF-463D-89AC-FD31C9FD29F9}"/>
              </a:ext>
            </a:extLst>
          </p:cNvPr>
          <p:cNvSpPr>
            <a:spLocks noGrp="1"/>
          </p:cNvSpPr>
          <p:nvPr/>
        </p:nvSpPr>
        <p:spPr>
          <a:xfrm>
            <a:off x="612648" y="4828032"/>
            <a:ext cx="457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2F80ED"/>
                </a:solidFill>
              </a:defRPr>
            </a:pPr>
            <a:r>
              <a:rPr lang="en-US" sz="1400" b="1">
                <a:solidFill>
                  <a:srgbClr val="2F80ED"/>
                </a:solidFill>
              </a:rPr>
              <a:t>07</a:t>
            </a:r>
          </a:p>
        </p:txBody>
      </p:sp>
      <p:sp>
        <p:nvSpPr>
          <p:cNvPr id="579" name="risk-title">
            <a:extLst>
              <a:ext uri="{FF2B5EF4-FFF2-40B4-BE49-F238E27FC236}">
                <a16:creationId xmlns:a16="http://schemas.microsoft.com/office/drawing/2014/main" id="{41728377-4EE5-46C0-B983-29F5744EF2EA}"/>
              </a:ext>
            </a:extLst>
          </p:cNvPr>
          <p:cNvSpPr>
            <a:spLocks noGrp="1"/>
          </p:cNvSpPr>
          <p:nvPr/>
        </p:nvSpPr>
        <p:spPr>
          <a:xfrm>
            <a:off x="1197864" y="4828032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50" b="1">
                <a:solidFill>
                  <a:srgbClr val="111318"/>
                </a:solidFill>
              </a:defRPr>
            </a:pPr>
            <a:r>
              <a:rPr lang="en-US" sz="1550" b="1">
                <a:solidFill>
                  <a:srgbClr val="111318"/>
                </a:solidFill>
              </a:rPr>
              <a:t>Renewed, not resolvable</a:t>
            </a:r>
          </a:p>
        </p:txBody>
      </p:sp>
      <p:sp>
        <p:nvSpPr>
          <p:cNvPr id="580" name="risk-body">
            <a:extLst>
              <a:ext uri="{FF2B5EF4-FFF2-40B4-BE49-F238E27FC236}">
                <a16:creationId xmlns:a16="http://schemas.microsoft.com/office/drawing/2014/main" id="{18DDD354-4DAF-4C80-ACB6-E143DB4F5D71}"/>
              </a:ext>
            </a:extLst>
          </p:cNvPr>
          <p:cNvSpPr>
            <a:spLocks noGrp="1"/>
          </p:cNvSpPr>
          <p:nvPr/>
        </p:nvSpPr>
        <p:spPr>
          <a:xfrm>
            <a:off x="1197864" y="5157216"/>
            <a:ext cx="448056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The certificate is perfect; the domain lapsed at the registrar or its delegation points at nothing. The site is down anyway.</a:t>
            </a:r>
          </a:p>
        </p:txBody>
      </p:sp>
      <p:sp>
        <p:nvSpPr>
          <p:cNvPr id="581" name="rule">
            <a:extLst>
              <a:ext uri="{FF2B5EF4-FFF2-40B4-BE49-F238E27FC236}">
                <a16:creationId xmlns:a16="http://schemas.microsoft.com/office/drawing/2014/main" id="{0A953D98-20F8-4835-987C-019EDE22EB65}"/>
              </a:ext>
            </a:extLst>
          </p:cNvPr>
          <p:cNvSpPr>
            <a:spLocks noGrp="1"/>
          </p:cNvSpPr>
          <p:nvPr/>
        </p:nvSpPr>
        <p:spPr>
          <a:xfrm>
            <a:off x="612648" y="5833872"/>
            <a:ext cx="4956048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2" name="index">
            <a:extLst>
              <a:ext uri="{FF2B5EF4-FFF2-40B4-BE49-F238E27FC236}">
                <a16:creationId xmlns:a16="http://schemas.microsoft.com/office/drawing/2014/main" id="{39EA3071-7CF6-44EC-8E33-17C9E1F6FC8B}"/>
              </a:ext>
            </a:extLst>
          </p:cNvPr>
          <p:cNvSpPr>
            <a:spLocks noGrp="1"/>
          </p:cNvSpPr>
          <p:nvPr/>
        </p:nvSpPr>
        <p:spPr>
          <a:xfrm>
            <a:off x="6135624" y="4828032"/>
            <a:ext cx="457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2F80ED"/>
                </a:solidFill>
              </a:defRPr>
            </a:pPr>
            <a:r>
              <a:rPr lang="en-US" sz="1400" b="1">
                <a:solidFill>
                  <a:srgbClr val="2F80ED"/>
                </a:solidFill>
              </a:rPr>
              <a:t>08</a:t>
            </a:r>
          </a:p>
        </p:txBody>
      </p:sp>
      <p:sp>
        <p:nvSpPr>
          <p:cNvPr id="583" name="risk-title">
            <a:extLst>
              <a:ext uri="{FF2B5EF4-FFF2-40B4-BE49-F238E27FC236}">
                <a16:creationId xmlns:a16="http://schemas.microsoft.com/office/drawing/2014/main" id="{E6662126-0B90-4787-953E-658C9264D745}"/>
              </a:ext>
            </a:extLst>
          </p:cNvPr>
          <p:cNvSpPr>
            <a:spLocks noGrp="1"/>
          </p:cNvSpPr>
          <p:nvPr/>
        </p:nvSpPr>
        <p:spPr>
          <a:xfrm>
            <a:off x="6720840" y="4828032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50" b="1">
                <a:solidFill>
                  <a:srgbClr val="111318"/>
                </a:solidFill>
              </a:defRPr>
            </a:pPr>
            <a:r>
              <a:rPr lang="en-US" sz="1550" b="1">
                <a:solidFill>
                  <a:srgbClr val="111318"/>
                </a:solidFill>
              </a:rPr>
              <a:t>Verified at the edge, not the origin</a:t>
            </a:r>
          </a:p>
        </p:txBody>
      </p:sp>
      <p:sp>
        <p:nvSpPr>
          <p:cNvPr id="584" name="risk-body">
            <a:extLst>
              <a:ext uri="{FF2B5EF4-FFF2-40B4-BE49-F238E27FC236}">
                <a16:creationId xmlns:a16="http://schemas.microsoft.com/office/drawing/2014/main" id="{61784AC1-4E8E-4D8C-8B86-36BC54C28B9E}"/>
              </a:ext>
            </a:extLst>
          </p:cNvPr>
          <p:cNvSpPr>
            <a:spLocks noGrp="1"/>
          </p:cNvSpPr>
          <p:nvPr/>
        </p:nvSpPr>
        <p:spPr>
          <a:xfrm>
            <a:off x="6720840" y="5157216"/>
            <a:ext cx="448056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Behind a proxy the public endpoint presents the proxy’s certificate; ours can expire on the server with nobody noticing.</a:t>
            </a:r>
          </a:p>
        </p:txBody>
      </p:sp>
      <p:sp>
        <p:nvSpPr>
          <p:cNvPr id="585" name="rule">
            <a:extLst>
              <a:ext uri="{FF2B5EF4-FFF2-40B4-BE49-F238E27FC236}">
                <a16:creationId xmlns:a16="http://schemas.microsoft.com/office/drawing/2014/main" id="{E99D618F-43E8-42CC-8143-23DDFCA1A573}"/>
              </a:ext>
            </a:extLst>
          </p:cNvPr>
          <p:cNvSpPr>
            <a:spLocks noGrp="1"/>
          </p:cNvSpPr>
          <p:nvPr/>
        </p:nvSpPr>
        <p:spPr>
          <a:xfrm>
            <a:off x="6135624" y="5833872"/>
            <a:ext cx="4956048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">
            <a:extLst>
              <a:ext uri="{FF2B5EF4-FFF2-40B4-BE49-F238E27FC236}">
                <a16:creationId xmlns:a16="http://schemas.microsoft.com/office/drawing/2014/main" id="{1D56352A-9702-47F5-927C-450A5E61E3F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THE CONTROL PLANE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D71649-5DA7-4EBC-83FE-870E08CF0BA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DCops extends reconciliation beyond the cluster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30608E2D-B73C-4A70-857B-C9F1D0D0E00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78528FCD-55FB-470C-A1BA-D89F5C8DC0B4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05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2CCF3C8-F1D5-427F-ADF4-252FA5F768A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6" name="connector">
            <a:extLst>
              <a:ext uri="{FF2B5EF4-FFF2-40B4-BE49-F238E27FC236}">
                <a16:creationId xmlns:a16="http://schemas.microsoft.com/office/drawing/2014/main" id="{45515B56-B27B-4002-BBCD-153A06D0BB49}"/>
              </a:ext>
            </a:extLst>
          </p:cNvPr>
          <p:cNvSpPr>
            <a:spLocks noGrp="1"/>
          </p:cNvSpPr>
          <p:nvPr/>
        </p:nvSpPr>
        <p:spPr>
          <a:xfrm>
            <a:off x="2705100" y="3390900"/>
            <a:ext cx="1466850" cy="9525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nnector">
            <a:extLst>
              <a:ext uri="{FF2B5EF4-FFF2-40B4-BE49-F238E27FC236}">
                <a16:creationId xmlns:a16="http://schemas.microsoft.com/office/drawing/2014/main" id="{8F227DC6-E7F9-4521-B0DA-012E034A3586}"/>
              </a:ext>
            </a:extLst>
          </p:cNvPr>
          <p:cNvSpPr>
            <a:spLocks noGrp="1"/>
          </p:cNvSpPr>
          <p:nvPr/>
        </p:nvSpPr>
        <p:spPr>
          <a:xfrm>
            <a:off x="5981700" y="3390900"/>
            <a:ext cx="1238250" cy="9525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nnector">
            <a:extLst>
              <a:ext uri="{FF2B5EF4-FFF2-40B4-BE49-F238E27FC236}">
                <a16:creationId xmlns:a16="http://schemas.microsoft.com/office/drawing/2014/main" id="{10241632-0E7E-4274-ADB3-82B4467BA763}"/>
              </a:ext>
            </a:extLst>
          </p:cNvPr>
          <p:cNvSpPr>
            <a:spLocks noGrp="1"/>
          </p:cNvSpPr>
          <p:nvPr/>
        </p:nvSpPr>
        <p:spPr>
          <a:xfrm>
            <a:off x="5981700" y="3390900"/>
            <a:ext cx="1238250" cy="9525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nnector">
            <a:extLst>
              <a:ext uri="{FF2B5EF4-FFF2-40B4-BE49-F238E27FC236}">
                <a16:creationId xmlns:a16="http://schemas.microsoft.com/office/drawing/2014/main" id="{D40DBB1E-F949-4177-8263-BEC81C86F773}"/>
              </a:ext>
            </a:extLst>
          </p:cNvPr>
          <p:cNvSpPr>
            <a:spLocks noGrp="1"/>
          </p:cNvSpPr>
          <p:nvPr/>
        </p:nvSpPr>
        <p:spPr>
          <a:xfrm>
            <a:off x="5981700" y="3390900"/>
            <a:ext cx="1238250" cy="121920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onnector">
            <a:extLst>
              <a:ext uri="{FF2B5EF4-FFF2-40B4-BE49-F238E27FC236}">
                <a16:creationId xmlns:a16="http://schemas.microsoft.com/office/drawing/2014/main" id="{60B5ACD1-CE53-4CA8-BBC5-C96EA712CD02}"/>
              </a:ext>
            </a:extLst>
          </p:cNvPr>
          <p:cNvSpPr>
            <a:spLocks noGrp="1"/>
          </p:cNvSpPr>
          <p:nvPr/>
        </p:nvSpPr>
        <p:spPr>
          <a:xfrm>
            <a:off x="9372600" y="2171700"/>
            <a:ext cx="1123950" cy="9525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nector">
            <a:extLst>
              <a:ext uri="{FF2B5EF4-FFF2-40B4-BE49-F238E27FC236}">
                <a16:creationId xmlns:a16="http://schemas.microsoft.com/office/drawing/2014/main" id="{32622728-5690-4C18-BCFF-EA7FF0211A6B}"/>
              </a:ext>
            </a:extLst>
          </p:cNvPr>
          <p:cNvSpPr>
            <a:spLocks noGrp="1"/>
          </p:cNvSpPr>
          <p:nvPr/>
        </p:nvSpPr>
        <p:spPr>
          <a:xfrm>
            <a:off x="9372600" y="3390900"/>
            <a:ext cx="1123950" cy="9525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nnector">
            <a:extLst>
              <a:ext uri="{FF2B5EF4-FFF2-40B4-BE49-F238E27FC236}">
                <a16:creationId xmlns:a16="http://schemas.microsoft.com/office/drawing/2014/main" id="{F20FC493-9C85-4337-B5BF-D774A861239C}"/>
              </a:ext>
            </a:extLst>
          </p:cNvPr>
          <p:cNvSpPr>
            <a:spLocks noGrp="1"/>
          </p:cNvSpPr>
          <p:nvPr/>
        </p:nvSpPr>
        <p:spPr>
          <a:xfrm>
            <a:off x="9372600" y="4610100"/>
            <a:ext cx="1123950" cy="9525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it">
            <a:extLst>
              <a:ext uri="{FF2B5EF4-FFF2-40B4-BE49-F238E27FC236}">
                <a16:creationId xmlns:a16="http://schemas.microsoft.com/office/drawing/2014/main" id="{43FCA0D9-6218-4B7D-A55A-979087913931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2038350" cy="1295400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git-t">
            <a:extLst>
              <a:ext uri="{FF2B5EF4-FFF2-40B4-BE49-F238E27FC236}">
                <a16:creationId xmlns:a16="http://schemas.microsoft.com/office/drawing/2014/main" id="{00D1BB30-162A-40E4-B137-6C8BA5B785D7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Git intent</a:t>
            </a:r>
          </a:p>
        </p:txBody>
      </p:sp>
      <p:sp>
        <p:nvSpPr>
          <p:cNvPr id="15" name="git-b">
            <a:extLst>
              <a:ext uri="{FF2B5EF4-FFF2-40B4-BE49-F238E27FC236}">
                <a16:creationId xmlns:a16="http://schemas.microsoft.com/office/drawing/2014/main" id="{8D094114-0807-4B56-9DE9-BABD422ADB98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DCE6F7"/>
                </a:solidFill>
              </a:defRPr>
            </a:pPr>
            <a:r>
              <a:rPr sz="1275" b="0">
                <a:solidFill>
                  <a:srgbClr val="DCE6F7"/>
                </a:solidFill>
              </a:rPr>
              <a:t>Reviewed YAML</a:t>
            </a:r>
          </a:p>
          <a:p>
            <a:pPr algn="l">
              <a:defRPr sz="1275" b="0">
                <a:solidFill>
                  <a:srgbClr val="DCE6F7"/>
                </a:solidFill>
              </a:defRPr>
            </a:pPr>
            <a:r>
              <a:rPr sz="1275" b="0">
                <a:solidFill>
                  <a:srgbClr val="DCE6F7"/>
                </a:solidFill>
              </a:rPr>
              <a:t>Audit trail • rollback</a:t>
            </a:r>
          </a:p>
        </p:txBody>
      </p:sp>
      <p:sp>
        <p:nvSpPr>
          <p:cNvPr id="16" name="dcops">
            <a:extLst>
              <a:ext uri="{FF2B5EF4-FFF2-40B4-BE49-F238E27FC236}">
                <a16:creationId xmlns:a16="http://schemas.microsoft.com/office/drawing/2014/main" id="{2C4CCFD1-CE20-41C2-991D-D3A070AFF6A5}"/>
              </a:ext>
            </a:extLst>
          </p:cNvPr>
          <p:cNvSpPr>
            <a:spLocks noGrp="1"/>
          </p:cNvSpPr>
          <p:nvPr/>
        </p:nvSpPr>
        <p:spPr>
          <a:xfrm>
            <a:off x="4171950" y="2438400"/>
            <a:ext cx="1809750" cy="19050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dcops-t">
            <a:extLst>
              <a:ext uri="{FF2B5EF4-FFF2-40B4-BE49-F238E27FC236}">
                <a16:creationId xmlns:a16="http://schemas.microsoft.com/office/drawing/2014/main" id="{6FFA11C8-17A0-4869-8108-E3AB948982A7}"/>
              </a:ext>
            </a:extLst>
          </p:cNvPr>
          <p:cNvSpPr>
            <a:spLocks noGrp="1"/>
          </p:cNvSpPr>
          <p:nvPr/>
        </p:nvSpPr>
        <p:spPr>
          <a:xfrm>
            <a:off x="4438650" y="2686050"/>
            <a:ext cx="1276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DCops</a:t>
            </a:r>
          </a:p>
        </p:txBody>
      </p:sp>
      <p:sp>
        <p:nvSpPr>
          <p:cNvPr id="18" name="dcops-b">
            <a:extLst>
              <a:ext uri="{FF2B5EF4-FFF2-40B4-BE49-F238E27FC236}">
                <a16:creationId xmlns:a16="http://schemas.microsoft.com/office/drawing/2014/main" id="{C938E267-A2EC-4A86-A50C-4F76AE287E95}"/>
              </a:ext>
            </a:extLst>
          </p:cNvPr>
          <p:cNvSpPr>
            <a:spLocks noGrp="1"/>
          </p:cNvSpPr>
          <p:nvPr/>
        </p:nvSpPr>
        <p:spPr>
          <a:xfrm>
            <a:off x="4438650" y="3200400"/>
            <a:ext cx="12763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CRDs</a:t>
            </a:r>
          </a:p>
          <a:p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Reconcilers</a:t>
            </a:r>
          </a:p>
          <a:p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Policy + status</a:t>
            </a:r>
          </a:p>
        </p:txBody>
      </p:sp>
      <p:sp>
        <p:nvSpPr>
          <p:cNvPr id="19" name="adapter">
            <a:extLst>
              <a:ext uri="{FF2B5EF4-FFF2-40B4-BE49-F238E27FC236}">
                <a16:creationId xmlns:a16="http://schemas.microsoft.com/office/drawing/2014/main" id="{0795E962-501F-440D-90B8-220D46EDF6FD}"/>
              </a:ext>
            </a:extLst>
          </p:cNvPr>
          <p:cNvSpPr>
            <a:spLocks noGrp="1"/>
          </p:cNvSpPr>
          <p:nvPr/>
        </p:nvSpPr>
        <p:spPr>
          <a:xfrm>
            <a:off x="7219950" y="1657350"/>
            <a:ext cx="2152650" cy="102870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dapter-t">
            <a:extLst>
              <a:ext uri="{FF2B5EF4-FFF2-40B4-BE49-F238E27FC236}">
                <a16:creationId xmlns:a16="http://schemas.microsoft.com/office/drawing/2014/main" id="{8553D96B-6DE7-431F-B9B0-825DA6E4FD1D}"/>
              </a:ext>
            </a:extLst>
          </p:cNvPr>
          <p:cNvSpPr>
            <a:spLocks noGrp="1"/>
          </p:cNvSpPr>
          <p:nvPr/>
        </p:nvSpPr>
        <p:spPr>
          <a:xfrm>
            <a:off x="7391400" y="18288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F5 adapter</a:t>
            </a:r>
          </a:p>
        </p:txBody>
      </p:sp>
      <p:sp>
        <p:nvSpPr>
          <p:cNvPr id="21" name="adapter-b">
            <a:extLst>
              <a:ext uri="{FF2B5EF4-FFF2-40B4-BE49-F238E27FC236}">
                <a16:creationId xmlns:a16="http://schemas.microsoft.com/office/drawing/2014/main" id="{E8BE59D5-DC8B-477E-A5B8-719C147A7BCD}"/>
              </a:ext>
            </a:extLst>
          </p:cNvPr>
          <p:cNvSpPr>
            <a:spLocks noGrp="1"/>
          </p:cNvSpPr>
          <p:nvPr/>
        </p:nvSpPr>
        <p:spPr>
          <a:xfrm>
            <a:off x="7391400" y="21907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E6672"/>
                </a:solidFill>
              </a:defRPr>
            </a:pPr>
            <a:r>
              <a:rPr sz="1125" b="0">
                <a:solidFill>
                  <a:srgbClr val="5E6672"/>
                </a:solidFill>
              </a:rPr>
              <a:t>iControl REST</a:t>
            </a:r>
          </a:p>
        </p:txBody>
      </p:sp>
      <p:sp>
        <p:nvSpPr>
          <p:cNvPr id="22" name="adapter">
            <a:extLst>
              <a:ext uri="{FF2B5EF4-FFF2-40B4-BE49-F238E27FC236}">
                <a16:creationId xmlns:a16="http://schemas.microsoft.com/office/drawing/2014/main" id="{85FA6F82-BD81-4AA1-B0F4-81FC04472C30}"/>
              </a:ext>
            </a:extLst>
          </p:cNvPr>
          <p:cNvSpPr>
            <a:spLocks noGrp="1"/>
          </p:cNvSpPr>
          <p:nvPr/>
        </p:nvSpPr>
        <p:spPr>
          <a:xfrm>
            <a:off x="7219950" y="2876550"/>
            <a:ext cx="2152650" cy="102870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dapter-t">
            <a:extLst>
              <a:ext uri="{FF2B5EF4-FFF2-40B4-BE49-F238E27FC236}">
                <a16:creationId xmlns:a16="http://schemas.microsoft.com/office/drawing/2014/main" id="{1EF74630-8EE5-4BAF-8765-3207461632CC}"/>
              </a:ext>
            </a:extLst>
          </p:cNvPr>
          <p:cNvSpPr>
            <a:spLocks noGrp="1"/>
          </p:cNvSpPr>
          <p:nvPr/>
        </p:nvSpPr>
        <p:spPr>
          <a:xfrm>
            <a:off x="7391400" y="30480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Cisco adapter</a:t>
            </a:r>
          </a:p>
        </p:txBody>
      </p:sp>
      <p:sp>
        <p:nvSpPr>
          <p:cNvPr id="24" name="adapter-b">
            <a:extLst>
              <a:ext uri="{FF2B5EF4-FFF2-40B4-BE49-F238E27FC236}">
                <a16:creationId xmlns:a16="http://schemas.microsoft.com/office/drawing/2014/main" id="{45711A11-95CD-4E92-AF0D-3F67CF0689E9}"/>
              </a:ext>
            </a:extLst>
          </p:cNvPr>
          <p:cNvSpPr>
            <a:spLocks noGrp="1"/>
          </p:cNvSpPr>
          <p:nvPr/>
        </p:nvSpPr>
        <p:spPr>
          <a:xfrm>
            <a:off x="7391400" y="3409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E6672"/>
                </a:solidFill>
              </a:defRPr>
            </a:pPr>
            <a:r>
              <a:rPr sz="1125" b="0">
                <a:solidFill>
                  <a:srgbClr val="5E6672"/>
                </a:solidFill>
              </a:rPr>
              <a:t>RESTCONF • NETCONF • NX-API</a:t>
            </a:r>
          </a:p>
        </p:txBody>
      </p:sp>
      <p:sp>
        <p:nvSpPr>
          <p:cNvPr id="25" name="adapter">
            <a:extLst>
              <a:ext uri="{FF2B5EF4-FFF2-40B4-BE49-F238E27FC236}">
                <a16:creationId xmlns:a16="http://schemas.microsoft.com/office/drawing/2014/main" id="{CA0562BB-02BA-4F87-B647-40D806DF2FD9}"/>
              </a:ext>
            </a:extLst>
          </p:cNvPr>
          <p:cNvSpPr>
            <a:spLocks noGrp="1"/>
          </p:cNvSpPr>
          <p:nvPr/>
        </p:nvSpPr>
        <p:spPr>
          <a:xfrm>
            <a:off x="7219950" y="4095750"/>
            <a:ext cx="2152650" cy="102870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dapter-t">
            <a:extLst>
              <a:ext uri="{FF2B5EF4-FFF2-40B4-BE49-F238E27FC236}">
                <a16:creationId xmlns:a16="http://schemas.microsoft.com/office/drawing/2014/main" id="{8DDE60F4-EE02-40B0-BCF9-B1522702C1A7}"/>
              </a:ext>
            </a:extLst>
          </p:cNvPr>
          <p:cNvSpPr>
            <a:spLocks noGrp="1"/>
          </p:cNvSpPr>
          <p:nvPr/>
        </p:nvSpPr>
        <p:spPr>
          <a:xfrm>
            <a:off x="7391400" y="42672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Future adapters</a:t>
            </a:r>
          </a:p>
        </p:txBody>
      </p:sp>
      <p:sp>
        <p:nvSpPr>
          <p:cNvPr id="27" name="adapter-b">
            <a:extLst>
              <a:ext uri="{FF2B5EF4-FFF2-40B4-BE49-F238E27FC236}">
                <a16:creationId xmlns:a16="http://schemas.microsoft.com/office/drawing/2014/main" id="{F8433E06-6886-4732-AA73-46FFEAE1505A}"/>
              </a:ext>
            </a:extLst>
          </p:cNvPr>
          <p:cNvSpPr>
            <a:spLocks noGrp="1"/>
          </p:cNvSpPr>
          <p:nvPr/>
        </p:nvSpPr>
        <p:spPr>
          <a:xfrm>
            <a:off x="7391400" y="4629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E6672"/>
                </a:solidFill>
              </a:defRPr>
            </a:pPr>
            <a:r>
              <a:rPr sz="1125" b="0">
                <a:solidFill>
                  <a:srgbClr val="5E6672"/>
                </a:solidFill>
              </a:rPr>
              <a:t>Firewall • storage • appliances</a:t>
            </a:r>
          </a:p>
        </p:txBody>
      </p:sp>
      <p:sp>
        <p:nvSpPr>
          <p:cNvPr id="28" name="device">
            <a:extLst>
              <a:ext uri="{FF2B5EF4-FFF2-40B4-BE49-F238E27FC236}">
                <a16:creationId xmlns:a16="http://schemas.microsoft.com/office/drawing/2014/main" id="{CFC0D1BD-74FF-4AE4-A04B-1FCA9BFAFF36}"/>
              </a:ext>
            </a:extLst>
          </p:cNvPr>
          <p:cNvSpPr>
            <a:spLocks noGrp="1"/>
          </p:cNvSpPr>
          <p:nvPr/>
        </p:nvSpPr>
        <p:spPr>
          <a:xfrm>
            <a:off x="10496550" y="1790700"/>
            <a:ext cx="1066800" cy="762000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device-t">
            <a:extLst>
              <a:ext uri="{FF2B5EF4-FFF2-40B4-BE49-F238E27FC236}">
                <a16:creationId xmlns:a16="http://schemas.microsoft.com/office/drawing/2014/main" id="{5921ED5A-E18C-418E-B0C9-074307209EE3}"/>
              </a:ext>
            </a:extLst>
          </p:cNvPr>
          <p:cNvSpPr>
            <a:spLocks noGrp="1"/>
          </p:cNvSpPr>
          <p:nvPr/>
        </p:nvSpPr>
        <p:spPr>
          <a:xfrm>
            <a:off x="10572750" y="1981200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BIG-IP</a:t>
            </a:r>
          </a:p>
        </p:txBody>
      </p:sp>
      <p:sp>
        <p:nvSpPr>
          <p:cNvPr id="30" name="device">
            <a:extLst>
              <a:ext uri="{FF2B5EF4-FFF2-40B4-BE49-F238E27FC236}">
                <a16:creationId xmlns:a16="http://schemas.microsoft.com/office/drawing/2014/main" id="{3F6F55D0-319C-4991-AA70-63C334C84898}"/>
              </a:ext>
            </a:extLst>
          </p:cNvPr>
          <p:cNvSpPr>
            <a:spLocks noGrp="1"/>
          </p:cNvSpPr>
          <p:nvPr/>
        </p:nvSpPr>
        <p:spPr>
          <a:xfrm>
            <a:off x="10496550" y="3009900"/>
            <a:ext cx="1066800" cy="762000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device-t">
            <a:extLst>
              <a:ext uri="{FF2B5EF4-FFF2-40B4-BE49-F238E27FC236}">
                <a16:creationId xmlns:a16="http://schemas.microsoft.com/office/drawing/2014/main" id="{F9FCC972-342F-4B0A-AE6C-2DEA28AE8A39}"/>
              </a:ext>
            </a:extLst>
          </p:cNvPr>
          <p:cNvSpPr>
            <a:spLocks noGrp="1"/>
          </p:cNvSpPr>
          <p:nvPr/>
        </p:nvSpPr>
        <p:spPr>
          <a:xfrm>
            <a:off x="10572750" y="3200400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Edge</a:t>
            </a:r>
          </a:p>
        </p:txBody>
      </p:sp>
      <p:sp>
        <p:nvSpPr>
          <p:cNvPr id="32" name="device">
            <a:extLst>
              <a:ext uri="{FF2B5EF4-FFF2-40B4-BE49-F238E27FC236}">
                <a16:creationId xmlns:a16="http://schemas.microsoft.com/office/drawing/2014/main" id="{B974C690-C5EB-4797-9694-1F7C1B61510A}"/>
              </a:ext>
            </a:extLst>
          </p:cNvPr>
          <p:cNvSpPr>
            <a:spLocks noGrp="1"/>
          </p:cNvSpPr>
          <p:nvPr/>
        </p:nvSpPr>
        <p:spPr>
          <a:xfrm>
            <a:off x="10496550" y="4229100"/>
            <a:ext cx="1066800" cy="762000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device-t">
            <a:extLst>
              <a:ext uri="{FF2B5EF4-FFF2-40B4-BE49-F238E27FC236}">
                <a16:creationId xmlns:a16="http://schemas.microsoft.com/office/drawing/2014/main" id="{E478E961-4F71-4451-B986-FA7176FB7F5E}"/>
              </a:ext>
            </a:extLst>
          </p:cNvPr>
          <p:cNvSpPr>
            <a:spLocks noGrp="1"/>
          </p:cNvSpPr>
          <p:nvPr/>
        </p:nvSpPr>
        <p:spPr>
          <a:xfrm>
            <a:off x="10572750" y="4419600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Estate</a:t>
            </a:r>
          </a:p>
        </p:txBody>
      </p:sp>
      <p:sp>
        <p:nvSpPr>
          <p:cNvPr id="35" name="connector">
            <a:extLst>
              <a:ext uri="{FF2B5EF4-FFF2-40B4-BE49-F238E27FC236}">
                <a16:creationId xmlns:a16="http://schemas.microsoft.com/office/drawing/2014/main" id="{D5FCA34D-386D-3A3F-E85D-88AABE0A73B4}"/>
              </a:ext>
            </a:extLst>
          </p:cNvPr>
          <p:cNvSpPr>
            <a:spLocks noGrp="1"/>
          </p:cNvSpPr>
          <p:nvPr/>
        </p:nvSpPr>
        <p:spPr>
          <a:xfrm flipV="1">
            <a:off x="5981700" y="2162177"/>
            <a:ext cx="1238250" cy="1209673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1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kicker">
            <a:extLst>
              <a:ext uri="{FF2B5EF4-FFF2-40B4-BE49-F238E27FC236}">
                <a16:creationId xmlns:a16="http://schemas.microsoft.com/office/drawing/2014/main" id="{D851CDA1-40E9-40A9-B746-67F83D9D13F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CERTIFICATE LIFECYCLE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A51350D-DD31-4388-9EB3-EF8A39DD966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Every renewal becomes a controlled, observable transaction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DA47ACBD-2658-4F26-A22E-0D2662FCC55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5640398E-51AF-40E9-A5BD-4B14CD04CE74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16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0B6CFD95-263C-4C10-842F-011F6B1E911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6" name="connector">
            <a:extLst>
              <a:ext uri="{FF2B5EF4-FFF2-40B4-BE49-F238E27FC236}">
                <a16:creationId xmlns:a16="http://schemas.microsoft.com/office/drawing/2014/main" id="{E0EA1DC5-0C91-4E63-A5AC-7FEB9F44A897}"/>
              </a:ext>
            </a:extLst>
          </p:cNvPr>
          <p:cNvSpPr>
            <a:spLocks noGrp="1"/>
          </p:cNvSpPr>
          <p:nvPr/>
        </p:nvSpPr>
        <p:spPr>
          <a:xfrm>
            <a:off x="1943100" y="3002457"/>
            <a:ext cx="514350" cy="9525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nnector">
            <a:extLst>
              <a:ext uri="{FF2B5EF4-FFF2-40B4-BE49-F238E27FC236}">
                <a16:creationId xmlns:a16="http://schemas.microsoft.com/office/drawing/2014/main" id="{303C317D-50EE-4836-81D8-D12B424F4865}"/>
              </a:ext>
            </a:extLst>
          </p:cNvPr>
          <p:cNvSpPr>
            <a:spLocks noGrp="1"/>
          </p:cNvSpPr>
          <p:nvPr/>
        </p:nvSpPr>
        <p:spPr>
          <a:xfrm>
            <a:off x="3971925" y="3007219"/>
            <a:ext cx="514350" cy="9525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nnector">
            <a:extLst>
              <a:ext uri="{FF2B5EF4-FFF2-40B4-BE49-F238E27FC236}">
                <a16:creationId xmlns:a16="http://schemas.microsoft.com/office/drawing/2014/main" id="{B498997B-1527-4F38-8175-11DCF16031E2}"/>
              </a:ext>
            </a:extLst>
          </p:cNvPr>
          <p:cNvSpPr>
            <a:spLocks noGrp="1"/>
          </p:cNvSpPr>
          <p:nvPr/>
        </p:nvSpPr>
        <p:spPr>
          <a:xfrm>
            <a:off x="5915025" y="3011981"/>
            <a:ext cx="514350" cy="9525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nnector">
            <a:extLst>
              <a:ext uri="{FF2B5EF4-FFF2-40B4-BE49-F238E27FC236}">
                <a16:creationId xmlns:a16="http://schemas.microsoft.com/office/drawing/2014/main" id="{02F731A5-9A29-4CDB-B83B-2C3BE84F976F}"/>
              </a:ext>
            </a:extLst>
          </p:cNvPr>
          <p:cNvSpPr>
            <a:spLocks noGrp="1"/>
          </p:cNvSpPr>
          <p:nvPr/>
        </p:nvSpPr>
        <p:spPr>
          <a:xfrm>
            <a:off x="7820025" y="3021506"/>
            <a:ext cx="514350" cy="9525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onnector">
            <a:extLst>
              <a:ext uri="{FF2B5EF4-FFF2-40B4-BE49-F238E27FC236}">
                <a16:creationId xmlns:a16="http://schemas.microsoft.com/office/drawing/2014/main" id="{73C7C337-81F6-4728-8993-310A0048E814}"/>
              </a:ext>
            </a:extLst>
          </p:cNvPr>
          <p:cNvSpPr>
            <a:spLocks noGrp="1"/>
          </p:cNvSpPr>
          <p:nvPr/>
        </p:nvSpPr>
        <p:spPr>
          <a:xfrm>
            <a:off x="9763125" y="3002457"/>
            <a:ext cx="514350" cy="9525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">
            <a:extLst>
              <a:ext uri="{FF2B5EF4-FFF2-40B4-BE49-F238E27FC236}">
                <a16:creationId xmlns:a16="http://schemas.microsoft.com/office/drawing/2014/main" id="{244E8339-9693-41E2-8D15-DFED4F256B6D}"/>
              </a:ext>
            </a:extLst>
          </p:cNvPr>
          <p:cNvSpPr>
            <a:spLocks noGrp="1"/>
          </p:cNvSpPr>
          <p:nvPr/>
        </p:nvSpPr>
        <p:spPr>
          <a:xfrm>
            <a:off x="1009650" y="2647950"/>
            <a:ext cx="685800" cy="6858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">
            <a:extLst>
              <a:ext uri="{FF2B5EF4-FFF2-40B4-BE49-F238E27FC236}">
                <a16:creationId xmlns:a16="http://schemas.microsoft.com/office/drawing/2014/main" id="{C6BFA864-753E-42B9-9115-0A4ABF35713B}"/>
              </a:ext>
            </a:extLst>
          </p:cNvPr>
          <p:cNvSpPr>
            <a:spLocks noGrp="1"/>
          </p:cNvSpPr>
          <p:nvPr/>
        </p:nvSpPr>
        <p:spPr>
          <a:xfrm>
            <a:off x="1009650" y="276225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st">
            <a:extLst>
              <a:ext uri="{FF2B5EF4-FFF2-40B4-BE49-F238E27FC236}">
                <a16:creationId xmlns:a16="http://schemas.microsoft.com/office/drawing/2014/main" id="{C9976AB5-5DFE-4A3D-BA74-CA10EC455754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1485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Detect</a:t>
            </a:r>
          </a:p>
        </p:txBody>
      </p:sp>
      <p:sp>
        <p:nvSpPr>
          <p:cNvPr id="14" name="sd">
            <a:extLst>
              <a:ext uri="{FF2B5EF4-FFF2-40B4-BE49-F238E27FC236}">
                <a16:creationId xmlns:a16="http://schemas.microsoft.com/office/drawing/2014/main" id="{4C0C5909-8AD6-48BA-9AA6-44C66E7B2F2A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485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Secret changes or renewal window opens</a:t>
            </a:r>
          </a:p>
        </p:txBody>
      </p:sp>
      <p:sp>
        <p:nvSpPr>
          <p:cNvPr id="15" name="step">
            <a:extLst>
              <a:ext uri="{FF2B5EF4-FFF2-40B4-BE49-F238E27FC236}">
                <a16:creationId xmlns:a16="http://schemas.microsoft.com/office/drawing/2014/main" id="{6DA5AA61-B171-4F92-9BAC-B1F7780EF4C7}"/>
              </a:ext>
            </a:extLst>
          </p:cNvPr>
          <p:cNvSpPr>
            <a:spLocks noGrp="1"/>
          </p:cNvSpPr>
          <p:nvPr/>
        </p:nvSpPr>
        <p:spPr>
          <a:xfrm>
            <a:off x="2933700" y="2647950"/>
            <a:ext cx="685800" cy="6858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n">
            <a:extLst>
              <a:ext uri="{FF2B5EF4-FFF2-40B4-BE49-F238E27FC236}">
                <a16:creationId xmlns:a16="http://schemas.microsoft.com/office/drawing/2014/main" id="{D5EC22BC-0124-4BEC-B5AD-7A564F5820AA}"/>
              </a:ext>
            </a:extLst>
          </p:cNvPr>
          <p:cNvSpPr>
            <a:spLocks noGrp="1"/>
          </p:cNvSpPr>
          <p:nvPr/>
        </p:nvSpPr>
        <p:spPr>
          <a:xfrm>
            <a:off x="2933700" y="276225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st">
            <a:extLst>
              <a:ext uri="{FF2B5EF4-FFF2-40B4-BE49-F238E27FC236}">
                <a16:creationId xmlns:a16="http://schemas.microsoft.com/office/drawing/2014/main" id="{2DB60052-90FB-42F2-968E-A6BAE7DFBDF5}"/>
              </a:ext>
            </a:extLst>
          </p:cNvPr>
          <p:cNvSpPr>
            <a:spLocks noGrp="1"/>
          </p:cNvSpPr>
          <p:nvPr/>
        </p:nvSpPr>
        <p:spPr>
          <a:xfrm>
            <a:off x="2533650" y="3562350"/>
            <a:ext cx="1485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Validate</a:t>
            </a:r>
          </a:p>
        </p:txBody>
      </p:sp>
      <p:sp>
        <p:nvSpPr>
          <p:cNvPr id="18" name="sd">
            <a:extLst>
              <a:ext uri="{FF2B5EF4-FFF2-40B4-BE49-F238E27FC236}">
                <a16:creationId xmlns:a16="http://schemas.microsoft.com/office/drawing/2014/main" id="{513151FE-F4AF-44D5-8E37-EA92FC12D668}"/>
              </a:ext>
            </a:extLst>
          </p:cNvPr>
          <p:cNvSpPr>
            <a:spLocks noGrp="1"/>
          </p:cNvSpPr>
          <p:nvPr/>
        </p:nvSpPr>
        <p:spPr>
          <a:xfrm>
            <a:off x="2533650" y="3981450"/>
            <a:ext cx="1485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Key match, chain, SANs and policy</a:t>
            </a:r>
          </a:p>
        </p:txBody>
      </p:sp>
      <p:sp>
        <p:nvSpPr>
          <p:cNvPr id="19" name="step">
            <a:extLst>
              <a:ext uri="{FF2B5EF4-FFF2-40B4-BE49-F238E27FC236}">
                <a16:creationId xmlns:a16="http://schemas.microsoft.com/office/drawing/2014/main" id="{6CFFFF89-44BF-425E-8EA3-4B1181A8D5C5}"/>
              </a:ext>
            </a:extLst>
          </p:cNvPr>
          <p:cNvSpPr>
            <a:spLocks noGrp="1"/>
          </p:cNvSpPr>
          <p:nvPr/>
        </p:nvSpPr>
        <p:spPr>
          <a:xfrm>
            <a:off x="4857750" y="2647950"/>
            <a:ext cx="685800" cy="6858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n">
            <a:extLst>
              <a:ext uri="{FF2B5EF4-FFF2-40B4-BE49-F238E27FC236}">
                <a16:creationId xmlns:a16="http://schemas.microsoft.com/office/drawing/2014/main" id="{C3C8C658-040A-409C-8D74-F947A253872F}"/>
              </a:ext>
            </a:extLst>
          </p:cNvPr>
          <p:cNvSpPr>
            <a:spLocks noGrp="1"/>
          </p:cNvSpPr>
          <p:nvPr/>
        </p:nvSpPr>
        <p:spPr>
          <a:xfrm>
            <a:off x="4857750" y="276225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st">
            <a:extLst>
              <a:ext uri="{FF2B5EF4-FFF2-40B4-BE49-F238E27FC236}">
                <a16:creationId xmlns:a16="http://schemas.microsoft.com/office/drawing/2014/main" id="{EE390F15-AE95-4EE6-AA7F-5AA5ABF945AD}"/>
              </a:ext>
            </a:extLst>
          </p:cNvPr>
          <p:cNvSpPr>
            <a:spLocks noGrp="1"/>
          </p:cNvSpPr>
          <p:nvPr/>
        </p:nvSpPr>
        <p:spPr>
          <a:xfrm>
            <a:off x="4457700" y="3562350"/>
            <a:ext cx="1485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Stage</a:t>
            </a:r>
          </a:p>
        </p:txBody>
      </p:sp>
      <p:sp>
        <p:nvSpPr>
          <p:cNvPr id="22" name="sd">
            <a:extLst>
              <a:ext uri="{FF2B5EF4-FFF2-40B4-BE49-F238E27FC236}">
                <a16:creationId xmlns:a16="http://schemas.microsoft.com/office/drawing/2014/main" id="{49466636-DC29-4922-A210-CAB23E13C109}"/>
              </a:ext>
            </a:extLst>
          </p:cNvPr>
          <p:cNvSpPr>
            <a:spLocks noGrp="1"/>
          </p:cNvSpPr>
          <p:nvPr/>
        </p:nvSpPr>
        <p:spPr>
          <a:xfrm>
            <a:off x="4457700" y="3981450"/>
            <a:ext cx="1485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Create immutable fingerprinted objects</a:t>
            </a:r>
          </a:p>
        </p:txBody>
      </p:sp>
      <p:sp>
        <p:nvSpPr>
          <p:cNvPr id="23" name="step">
            <a:extLst>
              <a:ext uri="{FF2B5EF4-FFF2-40B4-BE49-F238E27FC236}">
                <a16:creationId xmlns:a16="http://schemas.microsoft.com/office/drawing/2014/main" id="{A1102D7C-4F4B-47F3-91DC-E94943D5081A}"/>
              </a:ext>
            </a:extLst>
          </p:cNvPr>
          <p:cNvSpPr>
            <a:spLocks noGrp="1"/>
          </p:cNvSpPr>
          <p:nvPr/>
        </p:nvSpPr>
        <p:spPr>
          <a:xfrm>
            <a:off x="6781800" y="2647950"/>
            <a:ext cx="685800" cy="6858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n">
            <a:extLst>
              <a:ext uri="{FF2B5EF4-FFF2-40B4-BE49-F238E27FC236}">
                <a16:creationId xmlns:a16="http://schemas.microsoft.com/office/drawing/2014/main" id="{D3A0A31A-71CE-422D-9206-26A3FFF45989}"/>
              </a:ext>
            </a:extLst>
          </p:cNvPr>
          <p:cNvSpPr>
            <a:spLocks noGrp="1"/>
          </p:cNvSpPr>
          <p:nvPr/>
        </p:nvSpPr>
        <p:spPr>
          <a:xfrm>
            <a:off x="6781800" y="276225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st">
            <a:extLst>
              <a:ext uri="{FF2B5EF4-FFF2-40B4-BE49-F238E27FC236}">
                <a16:creationId xmlns:a16="http://schemas.microsoft.com/office/drawing/2014/main" id="{A15B4FE8-663D-43AE-B90C-2D3C74EDD3C7}"/>
              </a:ext>
            </a:extLst>
          </p:cNvPr>
          <p:cNvSpPr>
            <a:spLocks noGrp="1"/>
          </p:cNvSpPr>
          <p:nvPr/>
        </p:nvSpPr>
        <p:spPr>
          <a:xfrm>
            <a:off x="6381750" y="3562350"/>
            <a:ext cx="1485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Activate</a:t>
            </a:r>
          </a:p>
        </p:txBody>
      </p:sp>
      <p:sp>
        <p:nvSpPr>
          <p:cNvPr id="26" name="sd">
            <a:extLst>
              <a:ext uri="{FF2B5EF4-FFF2-40B4-BE49-F238E27FC236}">
                <a16:creationId xmlns:a16="http://schemas.microsoft.com/office/drawing/2014/main" id="{4BAA357C-E01A-4B64-85B3-519AF338F211}"/>
              </a:ext>
            </a:extLst>
          </p:cNvPr>
          <p:cNvSpPr>
            <a:spLocks noGrp="1"/>
          </p:cNvSpPr>
          <p:nvPr/>
        </p:nvSpPr>
        <p:spPr>
          <a:xfrm>
            <a:off x="6381750" y="3981450"/>
            <a:ext cx="1485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Switch binding using device semantics</a:t>
            </a:r>
          </a:p>
        </p:txBody>
      </p:sp>
      <p:sp>
        <p:nvSpPr>
          <p:cNvPr id="27" name="step">
            <a:extLst>
              <a:ext uri="{FF2B5EF4-FFF2-40B4-BE49-F238E27FC236}">
                <a16:creationId xmlns:a16="http://schemas.microsoft.com/office/drawing/2014/main" id="{E39A4BFA-4691-4852-A990-CBD8AF8B438D}"/>
              </a:ext>
            </a:extLst>
          </p:cNvPr>
          <p:cNvSpPr>
            <a:spLocks noGrp="1"/>
          </p:cNvSpPr>
          <p:nvPr/>
        </p:nvSpPr>
        <p:spPr>
          <a:xfrm>
            <a:off x="8705850" y="2647950"/>
            <a:ext cx="685800" cy="685800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n">
            <a:extLst>
              <a:ext uri="{FF2B5EF4-FFF2-40B4-BE49-F238E27FC236}">
                <a16:creationId xmlns:a16="http://schemas.microsoft.com/office/drawing/2014/main" id="{23CAA460-9B79-4BEE-9F91-8BA0C615A7FC}"/>
              </a:ext>
            </a:extLst>
          </p:cNvPr>
          <p:cNvSpPr>
            <a:spLocks noGrp="1"/>
          </p:cNvSpPr>
          <p:nvPr/>
        </p:nvSpPr>
        <p:spPr>
          <a:xfrm>
            <a:off x="8705850" y="276225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st">
            <a:extLst>
              <a:ext uri="{FF2B5EF4-FFF2-40B4-BE49-F238E27FC236}">
                <a16:creationId xmlns:a16="http://schemas.microsoft.com/office/drawing/2014/main" id="{3B3178B8-DCDC-43DC-A494-81FD8C8E067C}"/>
              </a:ext>
            </a:extLst>
          </p:cNvPr>
          <p:cNvSpPr>
            <a:spLocks noGrp="1"/>
          </p:cNvSpPr>
          <p:nvPr/>
        </p:nvSpPr>
        <p:spPr>
          <a:xfrm>
            <a:off x="8305800" y="3562350"/>
            <a:ext cx="1485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Verify</a:t>
            </a:r>
          </a:p>
        </p:txBody>
      </p:sp>
      <p:sp>
        <p:nvSpPr>
          <p:cNvPr id="30" name="sd">
            <a:extLst>
              <a:ext uri="{FF2B5EF4-FFF2-40B4-BE49-F238E27FC236}">
                <a16:creationId xmlns:a16="http://schemas.microsoft.com/office/drawing/2014/main" id="{83B17AD6-FCDE-42EC-A59F-566C624D0B27}"/>
              </a:ext>
            </a:extLst>
          </p:cNvPr>
          <p:cNvSpPr>
            <a:spLocks noGrp="1"/>
          </p:cNvSpPr>
          <p:nvPr/>
        </p:nvSpPr>
        <p:spPr>
          <a:xfrm>
            <a:off x="8305800" y="3981450"/>
            <a:ext cx="1485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Read back state; probe live TLS at the edge and the origin</a:t>
            </a:r>
          </a:p>
        </p:txBody>
      </p:sp>
      <p:sp>
        <p:nvSpPr>
          <p:cNvPr id="31" name="step">
            <a:extLst>
              <a:ext uri="{FF2B5EF4-FFF2-40B4-BE49-F238E27FC236}">
                <a16:creationId xmlns:a16="http://schemas.microsoft.com/office/drawing/2014/main" id="{DB8DD1AF-7123-4BCE-B539-4A4E2284B97C}"/>
              </a:ext>
            </a:extLst>
          </p:cNvPr>
          <p:cNvSpPr>
            <a:spLocks noGrp="1"/>
          </p:cNvSpPr>
          <p:nvPr/>
        </p:nvSpPr>
        <p:spPr>
          <a:xfrm>
            <a:off x="10629900" y="2647950"/>
            <a:ext cx="685800" cy="6858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n">
            <a:extLst>
              <a:ext uri="{FF2B5EF4-FFF2-40B4-BE49-F238E27FC236}">
                <a16:creationId xmlns:a16="http://schemas.microsoft.com/office/drawing/2014/main" id="{8EB7B21A-B71E-4623-9B7B-7D17B67C97A4}"/>
              </a:ext>
            </a:extLst>
          </p:cNvPr>
          <p:cNvSpPr>
            <a:spLocks noGrp="1"/>
          </p:cNvSpPr>
          <p:nvPr/>
        </p:nvSpPr>
        <p:spPr>
          <a:xfrm>
            <a:off x="10629900" y="276225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st">
            <a:extLst>
              <a:ext uri="{FF2B5EF4-FFF2-40B4-BE49-F238E27FC236}">
                <a16:creationId xmlns:a16="http://schemas.microsoft.com/office/drawing/2014/main" id="{4905CE7E-132F-4606-A4B4-E1DBB4EFADFB}"/>
              </a:ext>
            </a:extLst>
          </p:cNvPr>
          <p:cNvSpPr>
            <a:spLocks noGrp="1"/>
          </p:cNvSpPr>
          <p:nvPr/>
        </p:nvSpPr>
        <p:spPr>
          <a:xfrm>
            <a:off x="10229850" y="3562350"/>
            <a:ext cx="1485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Retain</a:t>
            </a:r>
          </a:p>
        </p:txBody>
      </p:sp>
      <p:sp>
        <p:nvSpPr>
          <p:cNvPr id="34" name="sd">
            <a:extLst>
              <a:ext uri="{FF2B5EF4-FFF2-40B4-BE49-F238E27FC236}">
                <a16:creationId xmlns:a16="http://schemas.microsoft.com/office/drawing/2014/main" id="{19F46C5B-119E-4ECE-AB17-846B0A69A982}"/>
              </a:ext>
            </a:extLst>
          </p:cNvPr>
          <p:cNvSpPr>
            <a:spLocks noGrp="1"/>
          </p:cNvSpPr>
          <p:nvPr/>
        </p:nvSpPr>
        <p:spPr>
          <a:xfrm>
            <a:off x="10229850" y="3981450"/>
            <a:ext cx="1485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Keep last-known-good, then clean safely</a:t>
            </a:r>
          </a:p>
        </p:txBody>
      </p:sp>
      <p:sp>
        <p:nvSpPr>
          <p:cNvPr id="35" name="rollback">
            <a:extLst>
              <a:ext uri="{FF2B5EF4-FFF2-40B4-BE49-F238E27FC236}">
                <a16:creationId xmlns:a16="http://schemas.microsoft.com/office/drawing/2014/main" id="{8DBCC789-BFF3-480D-A4B2-3CE9FD6C2D72}"/>
              </a:ext>
            </a:extLst>
          </p:cNvPr>
          <p:cNvSpPr>
            <a:spLocks noGrp="1"/>
          </p:cNvSpPr>
          <p:nvPr/>
        </p:nvSpPr>
        <p:spPr>
          <a:xfrm>
            <a:off x="3562350" y="5191125"/>
            <a:ext cx="5048250" cy="552450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llback-text">
            <a:extLst>
              <a:ext uri="{FF2B5EF4-FFF2-40B4-BE49-F238E27FC236}">
                <a16:creationId xmlns:a16="http://schemas.microsoft.com/office/drawing/2014/main" id="{8A40DABE-F7C5-4E4A-8B40-D8AB489BAD34}"/>
              </a:ext>
            </a:extLst>
          </p:cNvPr>
          <p:cNvSpPr>
            <a:spLocks noGrp="1"/>
          </p:cNvSpPr>
          <p:nvPr/>
        </p:nvSpPr>
        <p:spPr>
          <a:xfrm>
            <a:off x="3714750" y="5257800"/>
            <a:ext cx="4743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Any failed verification triggers rollback and an actionable alert.</a:t>
            </a:r>
          </a:p>
        </p:txBody>
      </p:sp>
      <p:sp>
        <p:nvSpPr>
          <p:cNvPr id="376" name="lvl-label">
            <a:extLst>
              <a:ext uri="{FF2B5EF4-FFF2-40B4-BE49-F238E27FC236}">
                <a16:creationId xmlns:a16="http://schemas.microsoft.com/office/drawing/2014/main" id="{25D3221F-CF73-4DA8-A014-6F8EE1A7A404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2FA36B"/>
                </a:solidFill>
              </a:defRPr>
            </a:pPr>
            <a:r>
              <a:rPr lang="en-US" sz="900" b="1">
                <a:solidFill>
                  <a:srgbClr val="2FA36B"/>
                </a:solidFill>
              </a:rPr>
              <a:t>Reaches Level 5 · Optimising</a:t>
            </a:r>
          </a:p>
        </p:txBody>
      </p:sp>
      <p:sp>
        <p:nvSpPr>
          <p:cNvPr id="377" name="lvl-block">
            <a:extLst>
              <a:ext uri="{FF2B5EF4-FFF2-40B4-BE49-F238E27FC236}">
                <a16:creationId xmlns:a16="http://schemas.microsoft.com/office/drawing/2014/main" id="{13E3F15E-3728-4C7B-B46C-418867585801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lvl-block">
            <a:extLst>
              <a:ext uri="{FF2B5EF4-FFF2-40B4-BE49-F238E27FC236}">
                <a16:creationId xmlns:a16="http://schemas.microsoft.com/office/drawing/2014/main" id="{ED28B230-D229-44EE-B834-B36ED39D1140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lvl-block">
            <a:extLst>
              <a:ext uri="{FF2B5EF4-FFF2-40B4-BE49-F238E27FC236}">
                <a16:creationId xmlns:a16="http://schemas.microsoft.com/office/drawing/2014/main" id="{5B504236-2BA0-4B14-B88C-10AE2C462F18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lvl-block">
            <a:extLst>
              <a:ext uri="{FF2B5EF4-FFF2-40B4-BE49-F238E27FC236}">
                <a16:creationId xmlns:a16="http://schemas.microsoft.com/office/drawing/2014/main" id="{847FF13E-15EE-479C-A6A1-EC2F4CE13277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lvl-block">
            <a:extLst>
              <a:ext uri="{FF2B5EF4-FFF2-40B4-BE49-F238E27FC236}">
                <a16:creationId xmlns:a16="http://schemas.microsoft.com/office/drawing/2014/main" id="{B21175F3-CBFA-4239-BF5A-7360445CE6A4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90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kicker">
            <a:extLst>
              <a:ext uri="{FF2B5EF4-FFF2-40B4-BE49-F238E27FC236}">
                <a16:creationId xmlns:a16="http://schemas.microsoft.com/office/drawing/2014/main" id="{A41CBF89-F97F-4303-9B78-7543394268B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ADAPTER STRATEGY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93A764F-36A2-4CDE-9C6A-108E857AB6B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A common contract prevents vendor logic leaking into operations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F270706F-6DBD-4A7D-92C2-F032A86C62AF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3712DF2E-7A79-46DE-93BC-B437E138E26C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17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5D2060AE-0E88-4905-BD36-0383B3DC166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6" name="row-bg">
            <a:extLst>
              <a:ext uri="{FF2B5EF4-FFF2-40B4-BE49-F238E27FC236}">
                <a16:creationId xmlns:a16="http://schemas.microsoft.com/office/drawing/2014/main" id="{FAD50F0E-456E-4A45-AB78-8E78CE19E66B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10972800" cy="55245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ntract">
            <a:extLst>
              <a:ext uri="{FF2B5EF4-FFF2-40B4-BE49-F238E27FC236}">
                <a16:creationId xmlns:a16="http://schemas.microsoft.com/office/drawing/2014/main" id="{D5C75E46-14E6-4423-B487-DBF0623C109D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80ED"/>
                </a:solidFill>
              </a:defRPr>
            </a:pPr>
            <a:r>
              <a:rPr sz="1425" b="1">
                <a:solidFill>
                  <a:srgbClr val="2F80ED"/>
                </a:solidFill>
              </a:rPr>
              <a:t>Capability discovery</a:t>
            </a:r>
          </a:p>
        </p:txBody>
      </p:sp>
      <p:sp>
        <p:nvSpPr>
          <p:cNvPr id="8" name="meaning">
            <a:extLst>
              <a:ext uri="{FF2B5EF4-FFF2-40B4-BE49-F238E27FC236}">
                <a16:creationId xmlns:a16="http://schemas.microsoft.com/office/drawing/2014/main" id="{F2DB7A85-EA28-4795-8993-C6A933B4CCCC}"/>
              </a:ext>
            </a:extLst>
          </p:cNvPr>
          <p:cNvSpPr>
            <a:spLocks noGrp="1"/>
          </p:cNvSpPr>
          <p:nvPr/>
        </p:nvSpPr>
        <p:spPr>
          <a:xfrm>
            <a:off x="3714750" y="16192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Version • platform • writable models • HA role</a:t>
            </a:r>
          </a:p>
        </p:txBody>
      </p:sp>
      <p:sp>
        <p:nvSpPr>
          <p:cNvPr id="9" name="contract">
            <a:extLst>
              <a:ext uri="{FF2B5EF4-FFF2-40B4-BE49-F238E27FC236}">
                <a16:creationId xmlns:a16="http://schemas.microsoft.com/office/drawing/2014/main" id="{5545F262-F057-4802-89A4-77EAC583AA47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80ED"/>
                </a:solidFill>
              </a:defRPr>
            </a:pPr>
            <a:r>
              <a:rPr sz="1425" b="1">
                <a:solidFill>
                  <a:srgbClr val="2F80ED"/>
                </a:solidFill>
              </a:rPr>
              <a:t>Inspect</a:t>
            </a:r>
          </a:p>
        </p:txBody>
      </p:sp>
      <p:sp>
        <p:nvSpPr>
          <p:cNvPr id="10" name="meaning">
            <a:extLst>
              <a:ext uri="{FF2B5EF4-FFF2-40B4-BE49-F238E27FC236}">
                <a16:creationId xmlns:a16="http://schemas.microsoft.com/office/drawing/2014/main" id="{EBC92255-BC0C-43CB-827A-5EE65999598D}"/>
              </a:ext>
            </a:extLst>
          </p:cNvPr>
          <p:cNvSpPr>
            <a:spLocks noGrp="1"/>
          </p:cNvSpPr>
          <p:nvPr/>
        </p:nvSpPr>
        <p:spPr>
          <a:xfrm>
            <a:off x="3714750" y="22669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Fingerprint • expiry • binding • persistence</a:t>
            </a:r>
          </a:p>
        </p:txBody>
      </p:sp>
      <p:sp>
        <p:nvSpPr>
          <p:cNvPr id="11" name="row-bg">
            <a:extLst>
              <a:ext uri="{FF2B5EF4-FFF2-40B4-BE49-F238E27FC236}">
                <a16:creationId xmlns:a16="http://schemas.microsoft.com/office/drawing/2014/main" id="{E556C530-25D9-4F51-9C81-6ABDE1DF61D5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972800" cy="55245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ntract">
            <a:extLst>
              <a:ext uri="{FF2B5EF4-FFF2-40B4-BE49-F238E27FC236}">
                <a16:creationId xmlns:a16="http://schemas.microsoft.com/office/drawing/2014/main" id="{771A77B6-6572-4824-A6E8-E9533C845F67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80ED"/>
                </a:solidFill>
              </a:defRPr>
            </a:pPr>
            <a:r>
              <a:rPr sz="1425" b="1">
                <a:solidFill>
                  <a:srgbClr val="2F80ED"/>
                </a:solidFill>
              </a:rPr>
              <a:t>Stage</a:t>
            </a:r>
          </a:p>
        </p:txBody>
      </p:sp>
      <p:sp>
        <p:nvSpPr>
          <p:cNvPr id="13" name="meaning">
            <a:extLst>
              <a:ext uri="{FF2B5EF4-FFF2-40B4-BE49-F238E27FC236}">
                <a16:creationId xmlns:a16="http://schemas.microsoft.com/office/drawing/2014/main" id="{0A33BCBC-EA79-4E14-B164-CC6F6294C1BA}"/>
              </a:ext>
            </a:extLst>
          </p:cNvPr>
          <p:cNvSpPr>
            <a:spLocks noGrp="1"/>
          </p:cNvSpPr>
          <p:nvPr/>
        </p:nvSpPr>
        <p:spPr>
          <a:xfrm>
            <a:off x="3714750" y="29146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Upload/import without touching live traffic</a:t>
            </a:r>
          </a:p>
        </p:txBody>
      </p:sp>
      <p:sp>
        <p:nvSpPr>
          <p:cNvPr id="14" name="contract">
            <a:extLst>
              <a:ext uri="{FF2B5EF4-FFF2-40B4-BE49-F238E27FC236}">
                <a16:creationId xmlns:a16="http://schemas.microsoft.com/office/drawing/2014/main" id="{E302707A-6999-462F-8005-4DAE2EC6D1B1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80ED"/>
                </a:solidFill>
              </a:defRPr>
            </a:pPr>
            <a:r>
              <a:rPr sz="1425" b="1">
                <a:solidFill>
                  <a:srgbClr val="2F80ED"/>
                </a:solidFill>
              </a:rPr>
              <a:t>Activate</a:t>
            </a:r>
          </a:p>
        </p:txBody>
      </p:sp>
      <p:sp>
        <p:nvSpPr>
          <p:cNvPr id="15" name="meaning">
            <a:extLst>
              <a:ext uri="{FF2B5EF4-FFF2-40B4-BE49-F238E27FC236}">
                <a16:creationId xmlns:a16="http://schemas.microsoft.com/office/drawing/2014/main" id="{48E50483-4516-4764-A10C-CE133B53784B}"/>
              </a:ext>
            </a:extLst>
          </p:cNvPr>
          <p:cNvSpPr>
            <a:spLocks noGrp="1"/>
          </p:cNvSpPr>
          <p:nvPr/>
        </p:nvSpPr>
        <p:spPr>
          <a:xfrm>
            <a:off x="3714750" y="35623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Vendor-specific atomic switch or guarded command set</a:t>
            </a:r>
          </a:p>
        </p:txBody>
      </p:sp>
      <p:sp>
        <p:nvSpPr>
          <p:cNvPr id="16" name="row-bg">
            <a:extLst>
              <a:ext uri="{FF2B5EF4-FFF2-40B4-BE49-F238E27FC236}">
                <a16:creationId xmlns:a16="http://schemas.microsoft.com/office/drawing/2014/main" id="{CEEEE120-B847-46BE-80F9-CDF77E1E0266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10972800" cy="55245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ontract">
            <a:extLst>
              <a:ext uri="{FF2B5EF4-FFF2-40B4-BE49-F238E27FC236}">
                <a16:creationId xmlns:a16="http://schemas.microsoft.com/office/drawing/2014/main" id="{8B4D7D97-B183-4197-B3B6-36DDBD7F3508}"/>
              </a:ext>
            </a:extLst>
          </p:cNvPr>
          <p:cNvSpPr>
            <a:spLocks noGrp="1"/>
          </p:cNvSpPr>
          <p:nvPr/>
        </p:nvSpPr>
        <p:spPr>
          <a:xfrm>
            <a:off x="800100" y="42100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80ED"/>
                </a:solidFill>
              </a:defRPr>
            </a:pPr>
            <a:r>
              <a:rPr sz="1425" b="1">
                <a:solidFill>
                  <a:srgbClr val="2F80ED"/>
                </a:solidFill>
              </a:rPr>
              <a:t>Verify</a:t>
            </a:r>
          </a:p>
        </p:txBody>
      </p:sp>
      <p:sp>
        <p:nvSpPr>
          <p:cNvPr id="18" name="meaning">
            <a:extLst>
              <a:ext uri="{FF2B5EF4-FFF2-40B4-BE49-F238E27FC236}">
                <a16:creationId xmlns:a16="http://schemas.microsoft.com/office/drawing/2014/main" id="{3B56E3D6-BA0A-4E18-B625-6E1015D1C931}"/>
              </a:ext>
            </a:extLst>
          </p:cNvPr>
          <p:cNvSpPr>
            <a:spLocks noGrp="1"/>
          </p:cNvSpPr>
          <p:nvPr/>
        </p:nvSpPr>
        <p:spPr>
          <a:xfrm>
            <a:off x="3714750" y="42100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API readback plus endpoint TLS probe</a:t>
            </a:r>
          </a:p>
        </p:txBody>
      </p:sp>
      <p:sp>
        <p:nvSpPr>
          <p:cNvPr id="19" name="contract">
            <a:extLst>
              <a:ext uri="{FF2B5EF4-FFF2-40B4-BE49-F238E27FC236}">
                <a16:creationId xmlns:a16="http://schemas.microsoft.com/office/drawing/2014/main" id="{6C7B9760-6158-4945-AD3B-67AEAB7D3357}"/>
              </a:ext>
            </a:extLst>
          </p:cNvPr>
          <p:cNvSpPr>
            <a:spLocks noGrp="1"/>
          </p:cNvSpPr>
          <p:nvPr/>
        </p:nvSpPr>
        <p:spPr>
          <a:xfrm>
            <a:off x="800100" y="48577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F80ED"/>
                </a:solidFill>
              </a:defRPr>
            </a:pPr>
            <a:r>
              <a:rPr sz="1425" b="1">
                <a:solidFill>
                  <a:srgbClr val="2F80ED"/>
                </a:solidFill>
              </a:rPr>
              <a:t>Rollback &amp; cleanup</a:t>
            </a:r>
          </a:p>
        </p:txBody>
      </p:sp>
      <p:sp>
        <p:nvSpPr>
          <p:cNvPr id="20" name="meaning">
            <a:extLst>
              <a:ext uri="{FF2B5EF4-FFF2-40B4-BE49-F238E27FC236}">
                <a16:creationId xmlns:a16="http://schemas.microsoft.com/office/drawing/2014/main" id="{890AEEB6-09C0-4EF5-9DF3-E662FE6E6083}"/>
              </a:ext>
            </a:extLst>
          </p:cNvPr>
          <p:cNvSpPr>
            <a:spLocks noGrp="1"/>
          </p:cNvSpPr>
          <p:nvPr/>
        </p:nvSpPr>
        <p:spPr>
          <a:xfrm>
            <a:off x="3714750" y="4857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Restore last-known-good; delete only unreferenced objects</a:t>
            </a:r>
          </a:p>
        </p:txBody>
      </p:sp>
      <p:sp>
        <p:nvSpPr>
          <p:cNvPr id="21" name="principle">
            <a:extLst>
              <a:ext uri="{FF2B5EF4-FFF2-40B4-BE49-F238E27FC236}">
                <a16:creationId xmlns:a16="http://schemas.microsoft.com/office/drawing/2014/main" id="{42A5244E-1957-40B0-BB42-D8A74B3B9B73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11318"/>
                </a:solidFill>
              </a:defRPr>
            </a:pPr>
            <a:r>
              <a:rPr sz="2025" b="1">
                <a:solidFill>
                  <a:srgbClr val="111318"/>
                </a:solidFill>
              </a:rPr>
              <a:t>Unsupported is a valid result. Silent fallback is not.</a:t>
            </a:r>
          </a:p>
        </p:txBody>
      </p:sp>
      <p:sp>
        <p:nvSpPr>
          <p:cNvPr id="382" name="lvl-label">
            <a:extLst>
              <a:ext uri="{FF2B5EF4-FFF2-40B4-BE49-F238E27FC236}">
                <a16:creationId xmlns:a16="http://schemas.microsoft.com/office/drawing/2014/main" id="{42DC070B-AC3E-418C-9788-5F29FA9F2783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2FA36B"/>
                </a:solidFill>
              </a:defRPr>
            </a:pPr>
            <a:r>
              <a:rPr lang="en-US" sz="900" b="1">
                <a:solidFill>
                  <a:srgbClr val="2FA36B"/>
                </a:solidFill>
              </a:rPr>
              <a:t>Reaches Level 5 · Optimising</a:t>
            </a:r>
          </a:p>
        </p:txBody>
      </p:sp>
      <p:sp>
        <p:nvSpPr>
          <p:cNvPr id="383" name="lvl-block">
            <a:extLst>
              <a:ext uri="{FF2B5EF4-FFF2-40B4-BE49-F238E27FC236}">
                <a16:creationId xmlns:a16="http://schemas.microsoft.com/office/drawing/2014/main" id="{4E3B36E3-2670-40AB-BB72-9591A1618445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lvl-block">
            <a:extLst>
              <a:ext uri="{FF2B5EF4-FFF2-40B4-BE49-F238E27FC236}">
                <a16:creationId xmlns:a16="http://schemas.microsoft.com/office/drawing/2014/main" id="{72E343AC-8E62-4293-8B9A-CC636B57235C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lvl-block">
            <a:extLst>
              <a:ext uri="{FF2B5EF4-FFF2-40B4-BE49-F238E27FC236}">
                <a16:creationId xmlns:a16="http://schemas.microsoft.com/office/drawing/2014/main" id="{9289BDAC-7191-4FEF-8993-418777C082BD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lvl-block">
            <a:extLst>
              <a:ext uri="{FF2B5EF4-FFF2-40B4-BE49-F238E27FC236}">
                <a16:creationId xmlns:a16="http://schemas.microsoft.com/office/drawing/2014/main" id="{C84DEA48-D26E-43C5-B8EC-568C1DA81AC6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lvl-block">
            <a:extLst>
              <a:ext uri="{FF2B5EF4-FFF2-40B4-BE49-F238E27FC236}">
                <a16:creationId xmlns:a16="http://schemas.microsoft.com/office/drawing/2014/main" id="{AD394C7A-AA3B-41CA-8BC8-767A3382D4BB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0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kicker">
            <a:extLst>
              <a:ext uri="{FF2B5EF4-FFF2-40B4-BE49-F238E27FC236}">
                <a16:creationId xmlns:a16="http://schemas.microsoft.com/office/drawing/2014/main" id="{123BD5E1-CB00-474B-A64D-983686ED2CC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OPERATIONS DASHBOARD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07B4FD-2928-415A-92B7-EB324D183B5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Datadog gives Operations one fleet-level certificate view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97B6F9C6-ACC0-4966-A9F0-FC079BBD69F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A4EFC215-F63A-4A4A-9913-33785C67A0A2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11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8C8FA87-A00D-47CC-BD1C-ECF59F5B94F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6" name="dashboard">
            <a:extLst>
              <a:ext uri="{FF2B5EF4-FFF2-40B4-BE49-F238E27FC236}">
                <a16:creationId xmlns:a16="http://schemas.microsoft.com/office/drawing/2014/main" id="{61935B4B-436F-41D0-AB69-DA91B0894965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4381500"/>
          </a:xfrm>
          <a:prstGeom prst="roundRect">
            <a:avLst>
              <a:gd name="adj" fmla="val 2609"/>
            </a:avLst>
          </a:prstGeom>
          <a:solidFill>
            <a:srgbClr val="F7F9FB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d-title">
            <a:extLst>
              <a:ext uri="{FF2B5EF4-FFF2-40B4-BE49-F238E27FC236}">
                <a16:creationId xmlns:a16="http://schemas.microsoft.com/office/drawing/2014/main" id="{3D5E3513-3E22-4B69-A5AC-32E0732E459D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Certificate posture • Global estate</a:t>
            </a:r>
          </a:p>
        </p:txBody>
      </p:sp>
      <p:sp>
        <p:nvSpPr>
          <p:cNvPr id="8" name="dd-filter">
            <a:extLst>
              <a:ext uri="{FF2B5EF4-FFF2-40B4-BE49-F238E27FC236}">
                <a16:creationId xmlns:a16="http://schemas.microsoft.com/office/drawing/2014/main" id="{AC5AD8B8-7BC2-4C98-9664-490896C2ED11}"/>
              </a:ext>
            </a:extLst>
          </p:cNvPr>
          <p:cNvSpPr>
            <a:spLocks noGrp="1"/>
          </p:cNvSpPr>
          <p:nvPr/>
        </p:nvSpPr>
        <p:spPr>
          <a:xfrm>
            <a:off x="7429500" y="17145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E6672"/>
                </a:solidFill>
              </a:defRPr>
            </a:pPr>
            <a:r>
              <a:rPr sz="975" b="1">
                <a:solidFill>
                  <a:srgbClr val="5E6672"/>
                </a:solidFill>
              </a:rPr>
              <a:t>SITE: ALL   VENDOR: ALL   ENV: PROD</a:t>
            </a:r>
          </a:p>
        </p:txBody>
      </p:sp>
      <p:sp>
        <p:nvSpPr>
          <p:cNvPr id="9" name="metric">
            <a:extLst>
              <a:ext uri="{FF2B5EF4-FFF2-40B4-BE49-F238E27FC236}">
                <a16:creationId xmlns:a16="http://schemas.microsoft.com/office/drawing/2014/main" id="{6A8EFD2C-415A-46DE-AB06-E585040DDC59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23050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mv">
            <a:extLst>
              <a:ext uri="{FF2B5EF4-FFF2-40B4-BE49-F238E27FC236}">
                <a16:creationId xmlns:a16="http://schemas.microsoft.com/office/drawing/2014/main" id="{917CCF6E-6A5A-451D-918D-4E8B6FE68C73}"/>
              </a:ext>
            </a:extLst>
          </p:cNvPr>
          <p:cNvSpPr>
            <a:spLocks noGrp="1"/>
          </p:cNvSpPr>
          <p:nvPr/>
        </p:nvSpPr>
        <p:spPr>
          <a:xfrm>
            <a:off x="990600" y="229552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111318"/>
                </a:solidFill>
              </a:defRPr>
            </a:pPr>
            <a:r>
              <a:rPr sz="2175" b="1">
                <a:solidFill>
                  <a:srgbClr val="111318"/>
                </a:solidFill>
              </a:rPr>
              <a:t>1,284</a:t>
            </a:r>
          </a:p>
        </p:txBody>
      </p:sp>
      <p:sp>
        <p:nvSpPr>
          <p:cNvPr id="11" name="ml">
            <a:extLst>
              <a:ext uri="{FF2B5EF4-FFF2-40B4-BE49-F238E27FC236}">
                <a16:creationId xmlns:a16="http://schemas.microsoft.com/office/drawing/2014/main" id="{D881EF33-0943-4983-BD5E-F198B99311EA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E6672"/>
                </a:solidFill>
              </a:defRPr>
            </a:pPr>
            <a:r>
              <a:rPr sz="1050" b="1">
                <a:solidFill>
                  <a:srgbClr val="5E6672"/>
                </a:solidFill>
              </a:rPr>
              <a:t>managed</a:t>
            </a:r>
          </a:p>
        </p:txBody>
      </p:sp>
      <p:sp>
        <p:nvSpPr>
          <p:cNvPr id="12" name="metric">
            <a:extLst>
              <a:ext uri="{FF2B5EF4-FFF2-40B4-BE49-F238E27FC236}">
                <a16:creationId xmlns:a16="http://schemas.microsoft.com/office/drawing/2014/main" id="{54EBD699-BEFE-430E-903F-03754B365AAF}"/>
              </a:ext>
            </a:extLst>
          </p:cNvPr>
          <p:cNvSpPr>
            <a:spLocks noGrp="1"/>
          </p:cNvSpPr>
          <p:nvPr/>
        </p:nvSpPr>
        <p:spPr>
          <a:xfrm>
            <a:off x="3409950" y="2209800"/>
            <a:ext cx="23050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mv">
            <a:extLst>
              <a:ext uri="{FF2B5EF4-FFF2-40B4-BE49-F238E27FC236}">
                <a16:creationId xmlns:a16="http://schemas.microsoft.com/office/drawing/2014/main" id="{0A20ADB9-CA35-45BB-96EE-43A5873C7ECC}"/>
              </a:ext>
            </a:extLst>
          </p:cNvPr>
          <p:cNvSpPr>
            <a:spLocks noGrp="1"/>
          </p:cNvSpPr>
          <p:nvPr/>
        </p:nvSpPr>
        <p:spPr>
          <a:xfrm>
            <a:off x="3562350" y="229552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111318"/>
                </a:solidFill>
              </a:defRPr>
            </a:pPr>
            <a:r>
              <a:rPr sz="2175" b="1">
                <a:solidFill>
                  <a:srgbClr val="111318"/>
                </a:solidFill>
              </a:rPr>
              <a:t>37</a:t>
            </a:r>
          </a:p>
        </p:txBody>
      </p:sp>
      <p:sp>
        <p:nvSpPr>
          <p:cNvPr id="14" name="ml">
            <a:extLst>
              <a:ext uri="{FF2B5EF4-FFF2-40B4-BE49-F238E27FC236}">
                <a16:creationId xmlns:a16="http://schemas.microsoft.com/office/drawing/2014/main" id="{D4EF24CE-D1A2-4F32-AADE-C9BC750C69AB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E6672"/>
                </a:solidFill>
              </a:defRPr>
            </a:pPr>
            <a:r>
              <a:rPr sz="1050" b="1">
                <a:solidFill>
                  <a:srgbClr val="5E6672"/>
                </a:solidFill>
              </a:rPr>
              <a:t>≤ 30 days</a:t>
            </a:r>
          </a:p>
        </p:txBody>
      </p:sp>
      <p:sp>
        <p:nvSpPr>
          <p:cNvPr id="15" name="metric">
            <a:extLst>
              <a:ext uri="{FF2B5EF4-FFF2-40B4-BE49-F238E27FC236}">
                <a16:creationId xmlns:a16="http://schemas.microsoft.com/office/drawing/2014/main" id="{4C5C1C8F-578C-4091-A1BD-43C0157EFA67}"/>
              </a:ext>
            </a:extLst>
          </p:cNvPr>
          <p:cNvSpPr>
            <a:spLocks noGrp="1"/>
          </p:cNvSpPr>
          <p:nvPr/>
        </p:nvSpPr>
        <p:spPr>
          <a:xfrm>
            <a:off x="5981700" y="2209800"/>
            <a:ext cx="23050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v">
            <a:extLst>
              <a:ext uri="{FF2B5EF4-FFF2-40B4-BE49-F238E27FC236}">
                <a16:creationId xmlns:a16="http://schemas.microsoft.com/office/drawing/2014/main" id="{49468653-7B4B-4432-A765-79B1303AE7C6}"/>
              </a:ext>
            </a:extLst>
          </p:cNvPr>
          <p:cNvSpPr>
            <a:spLocks noGrp="1"/>
          </p:cNvSpPr>
          <p:nvPr/>
        </p:nvSpPr>
        <p:spPr>
          <a:xfrm>
            <a:off x="6134100" y="229552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D94A4A"/>
                </a:solidFill>
              </a:defRPr>
            </a:pPr>
            <a:r>
              <a:rPr sz="2175" b="1">
                <a:solidFill>
                  <a:srgbClr val="D94A4A"/>
                </a:solidFill>
              </a:rPr>
              <a:t>8</a:t>
            </a:r>
          </a:p>
        </p:txBody>
      </p:sp>
      <p:sp>
        <p:nvSpPr>
          <p:cNvPr id="17" name="ml">
            <a:extLst>
              <a:ext uri="{FF2B5EF4-FFF2-40B4-BE49-F238E27FC236}">
                <a16:creationId xmlns:a16="http://schemas.microsoft.com/office/drawing/2014/main" id="{235D6058-1114-437C-B463-D95379A34B15}"/>
              </a:ext>
            </a:extLst>
          </p:cNvPr>
          <p:cNvSpPr>
            <a:spLocks noGrp="1"/>
          </p:cNvSpPr>
          <p:nvPr/>
        </p:nvSpPr>
        <p:spPr>
          <a:xfrm>
            <a:off x="6134100" y="26860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E6672"/>
                </a:solidFill>
              </a:defRPr>
            </a:pPr>
            <a:r>
              <a:rPr sz="1050" b="1">
                <a:solidFill>
                  <a:srgbClr val="5E6672"/>
                </a:solidFill>
              </a:rPr>
              <a:t>renewal failed</a:t>
            </a:r>
          </a:p>
        </p:txBody>
      </p:sp>
      <p:sp>
        <p:nvSpPr>
          <p:cNvPr id="18" name="metric">
            <a:extLst>
              <a:ext uri="{FF2B5EF4-FFF2-40B4-BE49-F238E27FC236}">
                <a16:creationId xmlns:a16="http://schemas.microsoft.com/office/drawing/2014/main" id="{9BBF6DEA-0C77-4B53-9442-C4B547B40CEA}"/>
              </a:ext>
            </a:extLst>
          </p:cNvPr>
          <p:cNvSpPr>
            <a:spLocks noGrp="1"/>
          </p:cNvSpPr>
          <p:nvPr/>
        </p:nvSpPr>
        <p:spPr>
          <a:xfrm>
            <a:off x="8553450" y="2209800"/>
            <a:ext cx="23050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mv">
            <a:extLst>
              <a:ext uri="{FF2B5EF4-FFF2-40B4-BE49-F238E27FC236}">
                <a16:creationId xmlns:a16="http://schemas.microsoft.com/office/drawing/2014/main" id="{2A8E2528-FAE2-4D82-B727-613D37DAB164}"/>
              </a:ext>
            </a:extLst>
          </p:cNvPr>
          <p:cNvSpPr>
            <a:spLocks noGrp="1"/>
          </p:cNvSpPr>
          <p:nvPr/>
        </p:nvSpPr>
        <p:spPr>
          <a:xfrm>
            <a:off x="8705850" y="2295525"/>
            <a:ext cx="104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111318"/>
                </a:solidFill>
              </a:defRPr>
            </a:pPr>
            <a:r>
              <a:rPr sz="2175" b="1">
                <a:solidFill>
                  <a:srgbClr val="111318"/>
                </a:solidFill>
              </a:rPr>
              <a:t>99.2%</a:t>
            </a:r>
          </a:p>
        </p:txBody>
      </p:sp>
      <p:sp>
        <p:nvSpPr>
          <p:cNvPr id="20" name="ml">
            <a:extLst>
              <a:ext uri="{FF2B5EF4-FFF2-40B4-BE49-F238E27FC236}">
                <a16:creationId xmlns:a16="http://schemas.microsoft.com/office/drawing/2014/main" id="{BC52881E-6B47-456A-95D2-6B110D420B5E}"/>
              </a:ext>
            </a:extLst>
          </p:cNvPr>
          <p:cNvSpPr>
            <a:spLocks noGrp="1"/>
          </p:cNvSpPr>
          <p:nvPr/>
        </p:nvSpPr>
        <p:spPr>
          <a:xfrm>
            <a:off x="8705850" y="26860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E6672"/>
                </a:solidFill>
              </a:defRPr>
            </a:pPr>
            <a:r>
              <a:rPr sz="1050" b="1">
                <a:solidFill>
                  <a:srgbClr val="5E6672"/>
                </a:solidFill>
              </a:rPr>
              <a:t>verified</a:t>
            </a:r>
          </a:p>
        </p:txBody>
      </p:sp>
      <p:sp>
        <p:nvSpPr>
          <p:cNvPr id="21" name="chart-label">
            <a:extLst>
              <a:ext uri="{FF2B5EF4-FFF2-40B4-BE49-F238E27FC236}">
                <a16:creationId xmlns:a16="http://schemas.microsoft.com/office/drawing/2014/main" id="{20650C21-4FD3-40BD-881B-E6D45E41EF29}"/>
              </a:ext>
            </a:extLst>
          </p:cNvPr>
          <p:cNvSpPr>
            <a:spLocks noGrp="1"/>
          </p:cNvSpPr>
          <p:nvPr/>
        </p:nvSpPr>
        <p:spPr>
          <a:xfrm>
            <a:off x="838200" y="32575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EXPIRY HORIZON</a:t>
            </a:r>
          </a:p>
        </p:txBody>
      </p:sp>
      <p:sp>
        <p:nvSpPr>
          <p:cNvPr id="22" name="bar-l">
            <a:extLst>
              <a:ext uri="{FF2B5EF4-FFF2-40B4-BE49-F238E27FC236}">
                <a16:creationId xmlns:a16="http://schemas.microsoft.com/office/drawing/2014/main" id="{94799BC5-4BFB-4CCA-9B84-A88EA009B2FF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sz="1050" b="0">
                <a:solidFill>
                  <a:srgbClr val="5E6672"/>
                </a:solidFill>
              </a:rPr>
              <a:t>&gt; 60 days</a:t>
            </a:r>
          </a:p>
        </p:txBody>
      </p:sp>
      <p:sp>
        <p:nvSpPr>
          <p:cNvPr id="23" name="bar">
            <a:extLst>
              <a:ext uri="{FF2B5EF4-FFF2-40B4-BE49-F238E27FC236}">
                <a16:creationId xmlns:a16="http://schemas.microsoft.com/office/drawing/2014/main" id="{C22E289A-E4C3-4877-8506-9C8986A22D65}"/>
              </a:ext>
            </a:extLst>
          </p:cNvPr>
          <p:cNvSpPr>
            <a:spLocks noGrp="1"/>
          </p:cNvSpPr>
          <p:nvPr/>
        </p:nvSpPr>
        <p:spPr>
          <a:xfrm>
            <a:off x="1924050" y="3638550"/>
            <a:ext cx="1809750" cy="209550"/>
          </a:xfrm>
          <a:prstGeom prst="rect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ar-v">
            <a:extLst>
              <a:ext uri="{FF2B5EF4-FFF2-40B4-BE49-F238E27FC236}">
                <a16:creationId xmlns:a16="http://schemas.microsoft.com/office/drawing/2014/main" id="{DEBC5517-DD3F-4695-ABEE-9CA4731D17CF}"/>
              </a:ext>
            </a:extLst>
          </p:cNvPr>
          <p:cNvSpPr>
            <a:spLocks noGrp="1"/>
          </p:cNvSpPr>
          <p:nvPr/>
        </p:nvSpPr>
        <p:spPr>
          <a:xfrm>
            <a:off x="3867150" y="36385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1040</a:t>
            </a:r>
          </a:p>
        </p:txBody>
      </p:sp>
      <p:sp>
        <p:nvSpPr>
          <p:cNvPr id="25" name="bar-l">
            <a:extLst>
              <a:ext uri="{FF2B5EF4-FFF2-40B4-BE49-F238E27FC236}">
                <a16:creationId xmlns:a16="http://schemas.microsoft.com/office/drawing/2014/main" id="{769D7DF6-A280-41B8-98A8-3B45387282BC}"/>
              </a:ext>
            </a:extLst>
          </p:cNvPr>
          <p:cNvSpPr>
            <a:spLocks noGrp="1"/>
          </p:cNvSpPr>
          <p:nvPr/>
        </p:nvSpPr>
        <p:spPr>
          <a:xfrm>
            <a:off x="838200" y="4067175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sz="1050" b="0">
                <a:solidFill>
                  <a:srgbClr val="5E6672"/>
                </a:solidFill>
              </a:rPr>
              <a:t>31–60</a:t>
            </a:r>
          </a:p>
        </p:txBody>
      </p:sp>
      <p:sp>
        <p:nvSpPr>
          <p:cNvPr id="26" name="bar">
            <a:extLst>
              <a:ext uri="{FF2B5EF4-FFF2-40B4-BE49-F238E27FC236}">
                <a16:creationId xmlns:a16="http://schemas.microsoft.com/office/drawing/2014/main" id="{5E6209F6-1D72-4C7E-94AD-47A6000A1DC1}"/>
              </a:ext>
            </a:extLst>
          </p:cNvPr>
          <p:cNvSpPr>
            <a:spLocks noGrp="1"/>
          </p:cNvSpPr>
          <p:nvPr/>
        </p:nvSpPr>
        <p:spPr>
          <a:xfrm>
            <a:off x="1924050" y="4067175"/>
            <a:ext cx="1257300" cy="209550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ar-v">
            <a:extLst>
              <a:ext uri="{FF2B5EF4-FFF2-40B4-BE49-F238E27FC236}">
                <a16:creationId xmlns:a16="http://schemas.microsoft.com/office/drawing/2014/main" id="{AA94635F-2895-4775-84A0-AACD20498D38}"/>
              </a:ext>
            </a:extLst>
          </p:cNvPr>
          <p:cNvSpPr>
            <a:spLocks noGrp="1"/>
          </p:cNvSpPr>
          <p:nvPr/>
        </p:nvSpPr>
        <p:spPr>
          <a:xfrm>
            <a:off x="3867150" y="40671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207</a:t>
            </a:r>
          </a:p>
        </p:txBody>
      </p:sp>
      <p:sp>
        <p:nvSpPr>
          <p:cNvPr id="28" name="bar-l">
            <a:extLst>
              <a:ext uri="{FF2B5EF4-FFF2-40B4-BE49-F238E27FC236}">
                <a16:creationId xmlns:a16="http://schemas.microsoft.com/office/drawing/2014/main" id="{9448ED5D-DCF9-4497-968F-60DBF59191E8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sz="1050" b="0">
                <a:solidFill>
                  <a:srgbClr val="5E6672"/>
                </a:solidFill>
              </a:rPr>
              <a:t>8–30</a:t>
            </a:r>
          </a:p>
        </p:txBody>
      </p:sp>
      <p:sp>
        <p:nvSpPr>
          <p:cNvPr id="29" name="bar">
            <a:extLst>
              <a:ext uri="{FF2B5EF4-FFF2-40B4-BE49-F238E27FC236}">
                <a16:creationId xmlns:a16="http://schemas.microsoft.com/office/drawing/2014/main" id="{CE82ED5C-DF55-4A51-8B80-D6669405D289}"/>
              </a:ext>
            </a:extLst>
          </p:cNvPr>
          <p:cNvSpPr>
            <a:spLocks noGrp="1"/>
          </p:cNvSpPr>
          <p:nvPr/>
        </p:nvSpPr>
        <p:spPr>
          <a:xfrm>
            <a:off x="1924050" y="4495800"/>
            <a:ext cx="781050" cy="209550"/>
          </a:xfrm>
          <a:prstGeom prst="rect">
            <a:avLst/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bar-v">
            <a:extLst>
              <a:ext uri="{FF2B5EF4-FFF2-40B4-BE49-F238E27FC236}">
                <a16:creationId xmlns:a16="http://schemas.microsoft.com/office/drawing/2014/main" id="{8FA52ACA-9C8D-4FDD-B43D-91D74B032532}"/>
              </a:ext>
            </a:extLst>
          </p:cNvPr>
          <p:cNvSpPr>
            <a:spLocks noGrp="1"/>
          </p:cNvSpPr>
          <p:nvPr/>
        </p:nvSpPr>
        <p:spPr>
          <a:xfrm>
            <a:off x="3867150" y="44958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29</a:t>
            </a:r>
          </a:p>
        </p:txBody>
      </p:sp>
      <p:sp>
        <p:nvSpPr>
          <p:cNvPr id="31" name="bar-l">
            <a:extLst>
              <a:ext uri="{FF2B5EF4-FFF2-40B4-BE49-F238E27FC236}">
                <a16:creationId xmlns:a16="http://schemas.microsoft.com/office/drawing/2014/main" id="{7ADD64FD-E8E7-40C0-8320-6618A68C9BD8}"/>
              </a:ext>
            </a:extLst>
          </p:cNvPr>
          <p:cNvSpPr>
            <a:spLocks noGrp="1"/>
          </p:cNvSpPr>
          <p:nvPr/>
        </p:nvSpPr>
        <p:spPr>
          <a:xfrm>
            <a:off x="838200" y="4924425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sz="1050" b="0">
                <a:solidFill>
                  <a:srgbClr val="5E6672"/>
                </a:solidFill>
              </a:rPr>
              <a:t>≤ 7</a:t>
            </a:r>
          </a:p>
        </p:txBody>
      </p:sp>
      <p:sp>
        <p:nvSpPr>
          <p:cNvPr id="32" name="bar">
            <a:extLst>
              <a:ext uri="{FF2B5EF4-FFF2-40B4-BE49-F238E27FC236}">
                <a16:creationId xmlns:a16="http://schemas.microsoft.com/office/drawing/2014/main" id="{03218523-A021-4F75-A9ED-2656C7F93E0E}"/>
              </a:ext>
            </a:extLst>
          </p:cNvPr>
          <p:cNvSpPr>
            <a:spLocks noGrp="1"/>
          </p:cNvSpPr>
          <p:nvPr/>
        </p:nvSpPr>
        <p:spPr>
          <a:xfrm>
            <a:off x="1924050" y="4924425"/>
            <a:ext cx="419100" cy="209550"/>
          </a:xfrm>
          <a:prstGeom prst="rect">
            <a:avLst/>
          </a:prstGeom>
          <a:solidFill>
            <a:srgbClr val="9A343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bar-v">
            <a:extLst>
              <a:ext uri="{FF2B5EF4-FFF2-40B4-BE49-F238E27FC236}">
                <a16:creationId xmlns:a16="http://schemas.microsoft.com/office/drawing/2014/main" id="{81077DEF-8DE5-4AFF-BC3F-1BA20E67C7C8}"/>
              </a:ext>
            </a:extLst>
          </p:cNvPr>
          <p:cNvSpPr>
            <a:spLocks noGrp="1"/>
          </p:cNvSpPr>
          <p:nvPr/>
        </p:nvSpPr>
        <p:spPr>
          <a:xfrm>
            <a:off x="3867150" y="492442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8</a:t>
            </a:r>
          </a:p>
        </p:txBody>
      </p:sp>
      <p:sp>
        <p:nvSpPr>
          <p:cNvPr id="34" name="exceptions">
            <a:extLst>
              <a:ext uri="{FF2B5EF4-FFF2-40B4-BE49-F238E27FC236}">
                <a16:creationId xmlns:a16="http://schemas.microsoft.com/office/drawing/2014/main" id="{E3E3B837-BC13-4412-9594-05A39662EA3F}"/>
              </a:ext>
            </a:extLst>
          </p:cNvPr>
          <p:cNvSpPr>
            <a:spLocks noGrp="1"/>
          </p:cNvSpPr>
          <p:nvPr/>
        </p:nvSpPr>
        <p:spPr>
          <a:xfrm>
            <a:off x="6000750" y="32575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TOP EXCEPTIONS</a:t>
            </a:r>
          </a:p>
        </p:txBody>
      </p:sp>
      <p:sp>
        <p:nvSpPr>
          <p:cNvPr id="35" name="status">
            <a:extLst>
              <a:ext uri="{FF2B5EF4-FFF2-40B4-BE49-F238E27FC236}">
                <a16:creationId xmlns:a16="http://schemas.microsoft.com/office/drawing/2014/main" id="{69A712F5-C815-4B52-97F9-DEA188DE8C82}"/>
              </a:ext>
            </a:extLst>
          </p:cNvPr>
          <p:cNvSpPr>
            <a:spLocks noGrp="1"/>
          </p:cNvSpPr>
          <p:nvPr/>
        </p:nvSpPr>
        <p:spPr>
          <a:xfrm>
            <a:off x="6000750" y="3714750"/>
            <a:ext cx="95250" cy="95250"/>
          </a:xfrm>
          <a:prstGeom prst="ellipse">
            <a:avLst/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host">
            <a:extLst>
              <a:ext uri="{FF2B5EF4-FFF2-40B4-BE49-F238E27FC236}">
                <a16:creationId xmlns:a16="http://schemas.microsoft.com/office/drawing/2014/main" id="{05AE6AD0-C192-49C3-8DC9-C203E1C6CE33}"/>
              </a:ext>
            </a:extLst>
          </p:cNvPr>
          <p:cNvSpPr>
            <a:spLocks noGrp="1"/>
          </p:cNvSpPr>
          <p:nvPr/>
        </p:nvSpPr>
        <p:spPr>
          <a:xfrm>
            <a:off x="6210300" y="3638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edge-sofia-12</a:t>
            </a:r>
          </a:p>
        </p:txBody>
      </p:sp>
      <p:sp>
        <p:nvSpPr>
          <p:cNvPr id="37" name="vendor">
            <a:extLst>
              <a:ext uri="{FF2B5EF4-FFF2-40B4-BE49-F238E27FC236}">
                <a16:creationId xmlns:a16="http://schemas.microsoft.com/office/drawing/2014/main" id="{5493163D-9F8F-4E0C-9F1B-F8AEBC9A7175}"/>
              </a:ext>
            </a:extLst>
          </p:cNvPr>
          <p:cNvSpPr>
            <a:spLocks noGrp="1"/>
          </p:cNvSpPr>
          <p:nvPr/>
        </p:nvSpPr>
        <p:spPr>
          <a:xfrm>
            <a:off x="8020050" y="36385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sz="1050" b="0">
                <a:solidFill>
                  <a:srgbClr val="5E6672"/>
                </a:solidFill>
              </a:rPr>
              <a:t>F5</a:t>
            </a:r>
          </a:p>
        </p:txBody>
      </p:sp>
      <p:sp>
        <p:nvSpPr>
          <p:cNvPr id="38" name="issue">
            <a:extLst>
              <a:ext uri="{FF2B5EF4-FFF2-40B4-BE49-F238E27FC236}">
                <a16:creationId xmlns:a16="http://schemas.microsoft.com/office/drawing/2014/main" id="{D9F47A3C-00FD-4D52-BDE0-7771466F9E3E}"/>
              </a:ext>
            </a:extLst>
          </p:cNvPr>
          <p:cNvSpPr>
            <a:spLocks noGrp="1"/>
          </p:cNvSpPr>
          <p:nvPr/>
        </p:nvSpPr>
        <p:spPr>
          <a:xfrm>
            <a:off x="8953500" y="36385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94A4A"/>
                </a:solidFill>
              </a:defRPr>
            </a:pPr>
            <a:r>
              <a:rPr sz="1050" b="1">
                <a:solidFill>
                  <a:srgbClr val="D94A4A"/>
                </a:solidFill>
              </a:rPr>
              <a:t>renewal failed</a:t>
            </a:r>
          </a:p>
        </p:txBody>
      </p:sp>
      <p:sp>
        <p:nvSpPr>
          <p:cNvPr id="39" name="status">
            <a:extLst>
              <a:ext uri="{FF2B5EF4-FFF2-40B4-BE49-F238E27FC236}">
                <a16:creationId xmlns:a16="http://schemas.microsoft.com/office/drawing/2014/main" id="{C67E3D0C-76FC-4F2E-9B86-DE352BE2347A}"/>
              </a:ext>
            </a:extLst>
          </p:cNvPr>
          <p:cNvSpPr>
            <a:spLocks noGrp="1"/>
          </p:cNvSpPr>
          <p:nvPr/>
        </p:nvSpPr>
        <p:spPr>
          <a:xfrm>
            <a:off x="6000750" y="4229100"/>
            <a:ext cx="95250" cy="95250"/>
          </a:xfrm>
          <a:prstGeom prst="ellipse">
            <a:avLst/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host">
            <a:extLst>
              <a:ext uri="{FF2B5EF4-FFF2-40B4-BE49-F238E27FC236}">
                <a16:creationId xmlns:a16="http://schemas.microsoft.com/office/drawing/2014/main" id="{E677CD4C-48F7-4703-A4F1-86F2FB88E741}"/>
              </a:ext>
            </a:extLst>
          </p:cNvPr>
          <p:cNvSpPr>
            <a:spLocks noGrp="1"/>
          </p:cNvSpPr>
          <p:nvPr/>
        </p:nvSpPr>
        <p:spPr>
          <a:xfrm>
            <a:off x="6210300" y="41529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rtr-bansko-03</a:t>
            </a:r>
          </a:p>
        </p:txBody>
      </p:sp>
      <p:sp>
        <p:nvSpPr>
          <p:cNvPr id="41" name="vendor">
            <a:extLst>
              <a:ext uri="{FF2B5EF4-FFF2-40B4-BE49-F238E27FC236}">
                <a16:creationId xmlns:a16="http://schemas.microsoft.com/office/drawing/2014/main" id="{2B2FE2FD-A704-4B51-88C2-37ADB3837FC5}"/>
              </a:ext>
            </a:extLst>
          </p:cNvPr>
          <p:cNvSpPr>
            <a:spLocks noGrp="1"/>
          </p:cNvSpPr>
          <p:nvPr/>
        </p:nvSpPr>
        <p:spPr>
          <a:xfrm>
            <a:off x="8020050" y="41529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sz="1050" b="0">
                <a:solidFill>
                  <a:srgbClr val="5E6672"/>
                </a:solidFill>
              </a:rPr>
              <a:t>IOS XE</a:t>
            </a:r>
          </a:p>
        </p:txBody>
      </p:sp>
      <p:sp>
        <p:nvSpPr>
          <p:cNvPr id="42" name="issue">
            <a:extLst>
              <a:ext uri="{FF2B5EF4-FFF2-40B4-BE49-F238E27FC236}">
                <a16:creationId xmlns:a16="http://schemas.microsoft.com/office/drawing/2014/main" id="{27D48595-AC28-4447-BEC0-AD5E22917E52}"/>
              </a:ext>
            </a:extLst>
          </p:cNvPr>
          <p:cNvSpPr>
            <a:spLocks noGrp="1"/>
          </p:cNvSpPr>
          <p:nvPr/>
        </p:nvSpPr>
        <p:spPr>
          <a:xfrm>
            <a:off x="8953500" y="41529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D94A4A"/>
                </a:solidFill>
              </a:defRPr>
            </a:pPr>
            <a:r>
              <a:rPr sz="1050" b="1">
                <a:solidFill>
                  <a:srgbClr val="D94A4A"/>
                </a:solidFill>
              </a:rPr>
              <a:t>expires in 6 days</a:t>
            </a:r>
          </a:p>
        </p:txBody>
      </p:sp>
      <p:sp>
        <p:nvSpPr>
          <p:cNvPr id="43" name="status">
            <a:extLst>
              <a:ext uri="{FF2B5EF4-FFF2-40B4-BE49-F238E27FC236}">
                <a16:creationId xmlns:a16="http://schemas.microsoft.com/office/drawing/2014/main" id="{14187A54-AEFE-4A14-8485-5E26EA371F3E}"/>
              </a:ext>
            </a:extLst>
          </p:cNvPr>
          <p:cNvSpPr>
            <a:spLocks noGrp="1"/>
          </p:cNvSpPr>
          <p:nvPr/>
        </p:nvSpPr>
        <p:spPr>
          <a:xfrm>
            <a:off x="6000750" y="4743450"/>
            <a:ext cx="95250" cy="95250"/>
          </a:xfrm>
          <a:prstGeom prst="ellipse">
            <a:avLst/>
          </a:prstGeom>
          <a:solidFill>
            <a:srgbClr val="E6A2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host">
            <a:extLst>
              <a:ext uri="{FF2B5EF4-FFF2-40B4-BE49-F238E27FC236}">
                <a16:creationId xmlns:a16="http://schemas.microsoft.com/office/drawing/2014/main" id="{E8DA1F34-AA0E-4AE8-B528-17E7D01353D3}"/>
              </a:ext>
            </a:extLst>
          </p:cNvPr>
          <p:cNvSpPr>
            <a:spLocks noGrp="1"/>
          </p:cNvSpPr>
          <p:nvPr/>
        </p:nvSpPr>
        <p:spPr>
          <a:xfrm>
            <a:off x="6210300" y="4667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nx-dc2-01</a:t>
            </a:r>
          </a:p>
        </p:txBody>
      </p:sp>
      <p:sp>
        <p:nvSpPr>
          <p:cNvPr id="45" name="vendor">
            <a:extLst>
              <a:ext uri="{FF2B5EF4-FFF2-40B4-BE49-F238E27FC236}">
                <a16:creationId xmlns:a16="http://schemas.microsoft.com/office/drawing/2014/main" id="{D3BCE6C5-1AFE-4F4B-8928-9B883A466DEF}"/>
              </a:ext>
            </a:extLst>
          </p:cNvPr>
          <p:cNvSpPr>
            <a:spLocks noGrp="1"/>
          </p:cNvSpPr>
          <p:nvPr/>
        </p:nvSpPr>
        <p:spPr>
          <a:xfrm>
            <a:off x="8020050" y="46672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sz="1050" b="0">
                <a:solidFill>
                  <a:srgbClr val="5E6672"/>
                </a:solidFill>
              </a:rPr>
              <a:t>NX-OS</a:t>
            </a:r>
          </a:p>
        </p:txBody>
      </p:sp>
      <p:sp>
        <p:nvSpPr>
          <p:cNvPr id="46" name="issue">
            <a:extLst>
              <a:ext uri="{FF2B5EF4-FFF2-40B4-BE49-F238E27FC236}">
                <a16:creationId xmlns:a16="http://schemas.microsoft.com/office/drawing/2014/main" id="{375F2FED-5CB9-4A7F-817E-BE4286ECF94B}"/>
              </a:ext>
            </a:extLst>
          </p:cNvPr>
          <p:cNvSpPr>
            <a:spLocks noGrp="1"/>
          </p:cNvSpPr>
          <p:nvPr/>
        </p:nvSpPr>
        <p:spPr>
          <a:xfrm>
            <a:off x="8953500" y="46672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E6A23C"/>
                </a:solidFill>
              </a:defRPr>
            </a:pPr>
            <a:r>
              <a:rPr sz="1050" b="1">
                <a:solidFill>
                  <a:srgbClr val="E6A23C"/>
                </a:solidFill>
              </a:rPr>
              <a:t>verification drift</a:t>
            </a:r>
          </a:p>
        </p:txBody>
      </p:sp>
      <p:sp>
        <p:nvSpPr>
          <p:cNvPr id="47" name="caption">
            <a:extLst>
              <a:ext uri="{FF2B5EF4-FFF2-40B4-BE49-F238E27FC236}">
                <a16:creationId xmlns:a16="http://schemas.microsoft.com/office/drawing/2014/main" id="{9BE1F5D8-5434-4D8F-997A-93255FD52EBD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E6672"/>
                </a:solidFill>
              </a:defRPr>
            </a:pPr>
            <a:r>
              <a:rPr sz="900" b="0">
                <a:solidFill>
                  <a:srgbClr val="5E6672"/>
                </a:solidFill>
              </a:rPr>
              <a:t>Illustrative dashboard layout—metrics and thresholds are configurable.</a:t>
            </a:r>
          </a:p>
        </p:txBody>
      </p:sp>
      <p:sp>
        <p:nvSpPr>
          <p:cNvPr id="388" name="lvl-label">
            <a:extLst>
              <a:ext uri="{FF2B5EF4-FFF2-40B4-BE49-F238E27FC236}">
                <a16:creationId xmlns:a16="http://schemas.microsoft.com/office/drawing/2014/main" id="{9F9E7730-CE29-4503-9B80-48A4559674EF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2F80ED"/>
                </a:solidFill>
              </a:defRPr>
            </a:pPr>
            <a:r>
              <a:rPr lang="en-US" sz="900" b="1">
                <a:solidFill>
                  <a:srgbClr val="2F80ED"/>
                </a:solidFill>
              </a:rPr>
              <a:t>Reaches Level 4 · Measured</a:t>
            </a:r>
          </a:p>
        </p:txBody>
      </p:sp>
      <p:sp>
        <p:nvSpPr>
          <p:cNvPr id="389" name="lvl-block">
            <a:extLst>
              <a:ext uri="{FF2B5EF4-FFF2-40B4-BE49-F238E27FC236}">
                <a16:creationId xmlns:a16="http://schemas.microsoft.com/office/drawing/2014/main" id="{A8B93A2E-DA45-4473-B7B4-FF6BBD8CC0F2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lvl-block">
            <a:extLst>
              <a:ext uri="{FF2B5EF4-FFF2-40B4-BE49-F238E27FC236}">
                <a16:creationId xmlns:a16="http://schemas.microsoft.com/office/drawing/2014/main" id="{0F7CC608-1621-49A9-8B2B-4CF4EAB395C2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lvl-block">
            <a:extLst>
              <a:ext uri="{FF2B5EF4-FFF2-40B4-BE49-F238E27FC236}">
                <a16:creationId xmlns:a16="http://schemas.microsoft.com/office/drawing/2014/main" id="{DEBBF0BA-3035-42F4-8F91-236EEF14E0DD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lvl-block">
            <a:extLst>
              <a:ext uri="{FF2B5EF4-FFF2-40B4-BE49-F238E27FC236}">
                <a16:creationId xmlns:a16="http://schemas.microsoft.com/office/drawing/2014/main" id="{8F57372E-DF96-48C7-B2D4-A014488056F3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lvl-block">
            <a:extLst>
              <a:ext uri="{FF2B5EF4-FFF2-40B4-BE49-F238E27FC236}">
                <a16:creationId xmlns:a16="http://schemas.microsoft.com/office/drawing/2014/main" id="{7F539EE4-C102-49BA-AC4F-C3D5D35934BD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81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kicker">
            <a:extLst>
              <a:ext uri="{FF2B5EF4-FFF2-40B4-BE49-F238E27FC236}">
                <a16:creationId xmlns:a16="http://schemas.microsoft.com/office/drawing/2014/main" id="{62B0325E-D246-43CE-8810-4389A896E64B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DCOPS DASHBOARD</a:t>
            </a:r>
          </a:p>
        </p:txBody>
      </p:sp>
      <p:sp>
        <p:nvSpPr>
          <p:cNvPr id="353" name="title">
            <a:extLst>
              <a:ext uri="{FF2B5EF4-FFF2-40B4-BE49-F238E27FC236}">
                <a16:creationId xmlns:a16="http://schemas.microsoft.com/office/drawing/2014/main" id="{1B4CAD09-DD5F-401D-A879-907FEC4B5F1B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Every certificate and domain becomes an owned operational object</a:t>
            </a:r>
          </a:p>
        </p:txBody>
      </p:sp>
      <p:sp>
        <p:nvSpPr>
          <p:cNvPr id="354" name="rule">
            <a:extLst>
              <a:ext uri="{FF2B5EF4-FFF2-40B4-BE49-F238E27FC236}">
                <a16:creationId xmlns:a16="http://schemas.microsoft.com/office/drawing/2014/main" id="{1DC10EB6-7E8D-4E83-999B-7CB1B23B6DA3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page">
            <a:extLst>
              <a:ext uri="{FF2B5EF4-FFF2-40B4-BE49-F238E27FC236}">
                <a16:creationId xmlns:a16="http://schemas.microsoft.com/office/drawing/2014/main" id="{BAF30528-9712-4DF3-B26B-57E5963648A0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09</a:t>
            </a:r>
          </a:p>
        </p:txBody>
      </p:sp>
      <p:sp>
        <p:nvSpPr>
          <p:cNvPr id="356" name="footer">
            <a:extLst>
              <a:ext uri="{FF2B5EF4-FFF2-40B4-BE49-F238E27FC236}">
                <a16:creationId xmlns:a16="http://schemas.microsoft.com/office/drawing/2014/main" id="{7CE17343-C366-4463-AF99-A14F744F0C83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357" name="ui">
            <a:extLst>
              <a:ext uri="{FF2B5EF4-FFF2-40B4-BE49-F238E27FC236}">
                <a16:creationId xmlns:a16="http://schemas.microsoft.com/office/drawing/2014/main" id="{408F7A64-76A4-4121-AAA9-0524F9762CF6}"/>
              </a:ext>
            </a:extLst>
          </p:cNvPr>
          <p:cNvSpPr>
            <a:spLocks noGrp="1"/>
          </p:cNvSpPr>
          <p:nvPr/>
        </p:nvSpPr>
        <p:spPr>
          <a:xfrm>
            <a:off x="612648" y="1508760"/>
            <a:ext cx="10972800" cy="4416552"/>
          </a:xfrm>
          <a:prstGeom prst="rect">
            <a:avLst/>
          </a:prstGeom>
          <a:solidFill>
            <a:srgbClr val="F7F9FB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nav">
            <a:extLst>
              <a:ext uri="{FF2B5EF4-FFF2-40B4-BE49-F238E27FC236}">
                <a16:creationId xmlns:a16="http://schemas.microsoft.com/office/drawing/2014/main" id="{C5E75CCE-62AD-4ABF-B1C2-217B53CDC842}"/>
              </a:ext>
            </a:extLst>
          </p:cNvPr>
          <p:cNvSpPr>
            <a:spLocks noGrp="1"/>
          </p:cNvSpPr>
          <p:nvPr/>
        </p:nvSpPr>
        <p:spPr>
          <a:xfrm>
            <a:off x="841248" y="1691640"/>
            <a:ext cx="5486400" cy="283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75" b="1">
                <a:solidFill>
                  <a:srgbClr val="111318"/>
                </a:solidFill>
              </a:defRPr>
            </a:pPr>
            <a:r>
              <a:rPr lang="en-US" sz="1575" b="1">
                <a:solidFill>
                  <a:srgbClr val="5E6672"/>
                </a:solidFill>
              </a:rPr>
              <a:t>DCops  /  </a:t>
            </a:r>
            <a:r>
              <a:rPr lang="en-US" sz="1575" b="1">
                <a:solidFill>
                  <a:srgbClr val="111318"/>
                </a:solidFill>
              </a:rPr>
              <a:t>Certificates</a:t>
            </a:r>
            <a:r>
              <a:rPr lang="en-US" sz="1575" b="1">
                <a:solidFill>
                  <a:srgbClr val="5E6672"/>
                </a:solidFill>
              </a:rPr>
              <a:t>     Domains</a:t>
            </a:r>
          </a:p>
        </p:txBody>
      </p:sp>
      <p:sp>
        <p:nvSpPr>
          <p:cNvPr id="359" name="sync">
            <a:extLst>
              <a:ext uri="{FF2B5EF4-FFF2-40B4-BE49-F238E27FC236}">
                <a16:creationId xmlns:a16="http://schemas.microsoft.com/office/drawing/2014/main" id="{492242AF-FB71-4ED6-87E9-C750749B8359}"/>
              </a:ext>
            </a:extLst>
          </p:cNvPr>
          <p:cNvSpPr>
            <a:spLocks noGrp="1"/>
          </p:cNvSpPr>
          <p:nvPr/>
        </p:nvSpPr>
        <p:spPr>
          <a:xfrm>
            <a:off x="8385048" y="1737360"/>
            <a:ext cx="2743200" cy="2103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975" b="0">
                <a:solidFill>
                  <a:srgbClr val="5E6672"/>
                </a:solidFill>
              </a:defRPr>
            </a:pPr>
            <a:r>
              <a:rPr lang="en-US" sz="975" b="0">
                <a:solidFill>
                  <a:srgbClr val="5E6672"/>
                </a:solidFill>
              </a:rPr>
              <a:t>Last check 32s ago</a:t>
            </a:r>
          </a:p>
        </p:txBody>
      </p:sp>
      <p:sp>
        <p:nvSpPr>
          <p:cNvPr id="360" name="filterbar">
            <a:extLst>
              <a:ext uri="{FF2B5EF4-FFF2-40B4-BE49-F238E27FC236}">
                <a16:creationId xmlns:a16="http://schemas.microsoft.com/office/drawing/2014/main" id="{A85995D0-9B95-435F-AB6C-C3CC4FD69D04}"/>
              </a:ext>
            </a:extLst>
          </p:cNvPr>
          <p:cNvSpPr>
            <a:spLocks noGrp="1"/>
          </p:cNvSpPr>
          <p:nvPr/>
        </p:nvSpPr>
        <p:spPr>
          <a:xfrm>
            <a:off x="841248" y="2130552"/>
            <a:ext cx="10287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filters">
            <a:extLst>
              <a:ext uri="{FF2B5EF4-FFF2-40B4-BE49-F238E27FC236}">
                <a16:creationId xmlns:a16="http://schemas.microsoft.com/office/drawing/2014/main" id="{2733D6F3-E750-4691-8825-DEDA8E643667}"/>
              </a:ext>
            </a:extLst>
          </p:cNvPr>
          <p:cNvSpPr>
            <a:spLocks noGrp="1"/>
          </p:cNvSpPr>
          <p:nvPr/>
        </p:nvSpPr>
        <p:spPr>
          <a:xfrm>
            <a:off x="1024128" y="2212848"/>
            <a:ext cx="7808976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Search…        Bucket: All        Owner: All        State: Attention required</a:t>
            </a:r>
          </a:p>
        </p:txBody>
      </p:sp>
      <p:sp>
        <p:nvSpPr>
          <p:cNvPr id="362" name="new">
            <a:extLst>
              <a:ext uri="{FF2B5EF4-FFF2-40B4-BE49-F238E27FC236}">
                <a16:creationId xmlns:a16="http://schemas.microsoft.com/office/drawing/2014/main" id="{5FDFC4D1-2311-4F99-ADC8-CADBBBD5D301}"/>
              </a:ext>
            </a:extLst>
          </p:cNvPr>
          <p:cNvSpPr>
            <a:spLocks noGrp="1"/>
          </p:cNvSpPr>
          <p:nvPr/>
        </p:nvSpPr>
        <p:spPr>
          <a:xfrm>
            <a:off x="8860536" y="2212848"/>
            <a:ext cx="2039112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1050" b="1">
                <a:solidFill>
                  <a:srgbClr val="2F80ED"/>
                </a:solidFill>
              </a:defRPr>
            </a:pPr>
            <a:r>
              <a:rPr lang="en-US" sz="1050" b="1">
                <a:solidFill>
                  <a:srgbClr val="2F80ED"/>
                </a:solidFill>
              </a:rPr>
              <a:t>Import scan</a:t>
            </a:r>
          </a:p>
        </p:txBody>
      </p:sp>
      <p:sp>
        <p:nvSpPr>
          <p:cNvPr id="363" name="th">
            <a:extLst>
              <a:ext uri="{FF2B5EF4-FFF2-40B4-BE49-F238E27FC236}">
                <a16:creationId xmlns:a16="http://schemas.microsoft.com/office/drawing/2014/main" id="{889809E3-ED13-469B-A79B-183FE48B681E}"/>
              </a:ext>
            </a:extLst>
          </p:cNvPr>
          <p:cNvSpPr>
            <a:spLocks noGrp="1"/>
          </p:cNvSpPr>
          <p:nvPr/>
        </p:nvSpPr>
        <p:spPr>
          <a:xfrm>
            <a:off x="950976" y="27980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HOSTNAME</a:t>
            </a:r>
          </a:p>
        </p:txBody>
      </p:sp>
      <p:sp>
        <p:nvSpPr>
          <p:cNvPr id="364" name="th">
            <a:extLst>
              <a:ext uri="{FF2B5EF4-FFF2-40B4-BE49-F238E27FC236}">
                <a16:creationId xmlns:a16="http://schemas.microsoft.com/office/drawing/2014/main" id="{873BF77B-D687-439C-A234-E4A32427CA22}"/>
              </a:ext>
            </a:extLst>
          </p:cNvPr>
          <p:cNvSpPr>
            <a:spLocks noGrp="1"/>
          </p:cNvSpPr>
          <p:nvPr/>
        </p:nvSpPr>
        <p:spPr>
          <a:xfrm>
            <a:off x="3675888" y="2798064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DOMAIN</a:t>
            </a:r>
          </a:p>
        </p:txBody>
      </p:sp>
      <p:sp>
        <p:nvSpPr>
          <p:cNvPr id="365" name="th">
            <a:extLst>
              <a:ext uri="{FF2B5EF4-FFF2-40B4-BE49-F238E27FC236}">
                <a16:creationId xmlns:a16="http://schemas.microsoft.com/office/drawing/2014/main" id="{1625E439-71CD-47A2-A0BB-2F10577ED9EC}"/>
              </a:ext>
            </a:extLst>
          </p:cNvPr>
          <p:cNvSpPr>
            <a:spLocks noGrp="1"/>
          </p:cNvSpPr>
          <p:nvPr/>
        </p:nvSpPr>
        <p:spPr>
          <a:xfrm>
            <a:off x="5349240" y="2798064"/>
            <a:ext cx="15544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ISSUER</a:t>
            </a:r>
          </a:p>
        </p:txBody>
      </p:sp>
      <p:sp>
        <p:nvSpPr>
          <p:cNvPr id="366" name="th">
            <a:extLst>
              <a:ext uri="{FF2B5EF4-FFF2-40B4-BE49-F238E27FC236}">
                <a16:creationId xmlns:a16="http://schemas.microsoft.com/office/drawing/2014/main" id="{4BF78F40-71E3-4390-B5E9-8E64B9E56804}"/>
              </a:ext>
            </a:extLst>
          </p:cNvPr>
          <p:cNvSpPr>
            <a:spLocks noGrp="1"/>
          </p:cNvSpPr>
          <p:nvPr/>
        </p:nvSpPr>
        <p:spPr>
          <a:xfrm>
            <a:off x="6949440" y="2798064"/>
            <a:ext cx="10515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EXPIRES</a:t>
            </a:r>
          </a:p>
        </p:txBody>
      </p:sp>
      <p:sp>
        <p:nvSpPr>
          <p:cNvPr id="367" name="th">
            <a:extLst>
              <a:ext uri="{FF2B5EF4-FFF2-40B4-BE49-F238E27FC236}">
                <a16:creationId xmlns:a16="http://schemas.microsoft.com/office/drawing/2014/main" id="{C2A55914-5FBE-4310-BF11-146E0935C796}"/>
              </a:ext>
            </a:extLst>
          </p:cNvPr>
          <p:cNvSpPr>
            <a:spLocks noGrp="1"/>
          </p:cNvSpPr>
          <p:nvPr/>
        </p:nvSpPr>
        <p:spPr>
          <a:xfrm>
            <a:off x="8092440" y="2798064"/>
            <a:ext cx="171907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STATE</a:t>
            </a:r>
          </a:p>
        </p:txBody>
      </p:sp>
      <p:sp>
        <p:nvSpPr>
          <p:cNvPr id="368" name="th">
            <a:extLst>
              <a:ext uri="{FF2B5EF4-FFF2-40B4-BE49-F238E27FC236}">
                <a16:creationId xmlns:a16="http://schemas.microsoft.com/office/drawing/2014/main" id="{086F1BFF-6828-4F18-8551-F801A04B57E0}"/>
              </a:ext>
            </a:extLst>
          </p:cNvPr>
          <p:cNvSpPr>
            <a:spLocks noGrp="1"/>
          </p:cNvSpPr>
          <p:nvPr/>
        </p:nvSpPr>
        <p:spPr>
          <a:xfrm>
            <a:off x="9902952" y="2798064"/>
            <a:ext cx="10515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OWNER</a:t>
            </a:r>
          </a:p>
        </p:txBody>
      </p:sp>
      <p:sp>
        <p:nvSpPr>
          <p:cNvPr id="369" name="rule">
            <a:extLst>
              <a:ext uri="{FF2B5EF4-FFF2-40B4-BE49-F238E27FC236}">
                <a16:creationId xmlns:a16="http://schemas.microsoft.com/office/drawing/2014/main" id="{71D77BEA-6030-4F30-A70D-CFA157F7CA07}"/>
              </a:ext>
            </a:extLst>
          </p:cNvPr>
          <p:cNvSpPr>
            <a:spLocks noGrp="1"/>
          </p:cNvSpPr>
          <p:nvPr/>
        </p:nvSpPr>
        <p:spPr>
          <a:xfrm>
            <a:off x="841248" y="3108960"/>
            <a:ext cx="102870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td">
            <a:extLst>
              <a:ext uri="{FF2B5EF4-FFF2-40B4-BE49-F238E27FC236}">
                <a16:creationId xmlns:a16="http://schemas.microsoft.com/office/drawing/2014/main" id="{B6E1A136-C6DA-43E2-B639-BF37400966DE}"/>
              </a:ext>
            </a:extLst>
          </p:cNvPr>
          <p:cNvSpPr>
            <a:spLocks noGrp="1"/>
          </p:cNvSpPr>
          <p:nvPr/>
        </p:nvSpPr>
        <p:spPr>
          <a:xfrm>
            <a:off x="950976" y="3255264"/>
            <a:ext cx="26517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api.example.com</a:t>
            </a:r>
          </a:p>
        </p:txBody>
      </p:sp>
      <p:sp>
        <p:nvSpPr>
          <p:cNvPr id="371" name="td">
            <a:extLst>
              <a:ext uri="{FF2B5EF4-FFF2-40B4-BE49-F238E27FC236}">
                <a16:creationId xmlns:a16="http://schemas.microsoft.com/office/drawing/2014/main" id="{6FD02BAC-2A34-425D-9E0B-40445E141968}"/>
              </a:ext>
            </a:extLst>
          </p:cNvPr>
          <p:cNvSpPr>
            <a:spLocks noGrp="1"/>
          </p:cNvSpPr>
          <p:nvPr/>
        </p:nvSpPr>
        <p:spPr>
          <a:xfrm>
            <a:off x="3675888" y="3255264"/>
            <a:ext cx="1600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example.com</a:t>
            </a:r>
          </a:p>
        </p:txBody>
      </p:sp>
      <p:sp>
        <p:nvSpPr>
          <p:cNvPr id="372" name="td">
            <a:extLst>
              <a:ext uri="{FF2B5EF4-FFF2-40B4-BE49-F238E27FC236}">
                <a16:creationId xmlns:a16="http://schemas.microsoft.com/office/drawing/2014/main" id="{4CE3C1FC-5DF7-490F-B6BA-2BF50EA2226A}"/>
              </a:ext>
            </a:extLst>
          </p:cNvPr>
          <p:cNvSpPr>
            <a:spLocks noGrp="1"/>
          </p:cNvSpPr>
          <p:nvPr/>
        </p:nvSpPr>
        <p:spPr>
          <a:xfrm>
            <a:off x="5349240" y="3255264"/>
            <a:ext cx="1554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Let’s Encrypt</a:t>
            </a:r>
          </a:p>
        </p:txBody>
      </p:sp>
      <p:sp>
        <p:nvSpPr>
          <p:cNvPr id="373" name="td">
            <a:extLst>
              <a:ext uri="{FF2B5EF4-FFF2-40B4-BE49-F238E27FC236}">
                <a16:creationId xmlns:a16="http://schemas.microsoft.com/office/drawing/2014/main" id="{C8E73DF2-9D1C-43BE-818D-1B244E11288B}"/>
              </a:ext>
            </a:extLst>
          </p:cNvPr>
          <p:cNvSpPr>
            <a:spLocks noGrp="1"/>
          </p:cNvSpPr>
          <p:nvPr/>
        </p:nvSpPr>
        <p:spPr>
          <a:xfrm>
            <a:off x="6949440" y="3255264"/>
            <a:ext cx="10515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89 days</a:t>
            </a:r>
          </a:p>
        </p:txBody>
      </p:sp>
      <p:sp>
        <p:nvSpPr>
          <p:cNvPr id="374" name="td">
            <a:extLst>
              <a:ext uri="{FF2B5EF4-FFF2-40B4-BE49-F238E27FC236}">
                <a16:creationId xmlns:a16="http://schemas.microsoft.com/office/drawing/2014/main" id="{22BA8308-08CF-426F-8019-696F96E528B3}"/>
              </a:ext>
            </a:extLst>
          </p:cNvPr>
          <p:cNvSpPr>
            <a:spLocks noGrp="1"/>
          </p:cNvSpPr>
          <p:nvPr/>
        </p:nvSpPr>
        <p:spPr>
          <a:xfrm>
            <a:off x="8092440" y="3255264"/>
            <a:ext cx="1719072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1">
                <a:solidFill>
                  <a:srgbClr val="2FA36B"/>
                </a:solidFill>
              </a:defRPr>
            </a:pPr>
            <a:r>
              <a:rPr lang="en-US" sz="1125" b="1">
                <a:solidFill>
                  <a:srgbClr val="2FA36B"/>
                </a:solidFill>
              </a:rPr>
              <a:t>Healthy</a:t>
            </a:r>
          </a:p>
        </p:txBody>
      </p:sp>
      <p:sp>
        <p:nvSpPr>
          <p:cNvPr id="375" name="td">
            <a:extLst>
              <a:ext uri="{FF2B5EF4-FFF2-40B4-BE49-F238E27FC236}">
                <a16:creationId xmlns:a16="http://schemas.microsoft.com/office/drawing/2014/main" id="{6D700296-7022-4B1A-8BD6-5F4C9AB7EA3A}"/>
              </a:ext>
            </a:extLst>
          </p:cNvPr>
          <p:cNvSpPr>
            <a:spLocks noGrp="1"/>
          </p:cNvSpPr>
          <p:nvPr/>
        </p:nvSpPr>
        <p:spPr>
          <a:xfrm>
            <a:off x="9902952" y="3255264"/>
            <a:ext cx="10515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Platform</a:t>
            </a:r>
          </a:p>
        </p:txBody>
      </p:sp>
      <p:sp>
        <p:nvSpPr>
          <p:cNvPr id="376" name="tr">
            <a:extLst>
              <a:ext uri="{FF2B5EF4-FFF2-40B4-BE49-F238E27FC236}">
                <a16:creationId xmlns:a16="http://schemas.microsoft.com/office/drawing/2014/main" id="{1E7B7876-6AE6-490F-8B7D-0CF7920DA7F4}"/>
              </a:ext>
            </a:extLst>
          </p:cNvPr>
          <p:cNvSpPr>
            <a:spLocks noGrp="1"/>
          </p:cNvSpPr>
          <p:nvPr/>
        </p:nvSpPr>
        <p:spPr>
          <a:xfrm>
            <a:off x="841248" y="3808476"/>
            <a:ext cx="10287000" cy="512064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td">
            <a:extLst>
              <a:ext uri="{FF2B5EF4-FFF2-40B4-BE49-F238E27FC236}">
                <a16:creationId xmlns:a16="http://schemas.microsoft.com/office/drawing/2014/main" id="{69D495EC-7F59-4673-AA56-CCDF09A6DB79}"/>
              </a:ext>
            </a:extLst>
          </p:cNvPr>
          <p:cNvSpPr>
            <a:spLocks noGrp="1"/>
          </p:cNvSpPr>
          <p:nvPr/>
        </p:nvSpPr>
        <p:spPr>
          <a:xfrm>
            <a:off x="950976" y="3845052"/>
            <a:ext cx="26517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shop.example.co.za</a:t>
            </a:r>
          </a:p>
        </p:txBody>
      </p:sp>
      <p:sp>
        <p:nvSpPr>
          <p:cNvPr id="378" name="td">
            <a:extLst>
              <a:ext uri="{FF2B5EF4-FFF2-40B4-BE49-F238E27FC236}">
                <a16:creationId xmlns:a16="http://schemas.microsoft.com/office/drawing/2014/main" id="{25B7CA94-B474-4F60-9C85-26334D3FAC70}"/>
              </a:ext>
            </a:extLst>
          </p:cNvPr>
          <p:cNvSpPr>
            <a:spLocks noGrp="1"/>
          </p:cNvSpPr>
          <p:nvPr/>
        </p:nvSpPr>
        <p:spPr>
          <a:xfrm>
            <a:off x="3675888" y="3845052"/>
            <a:ext cx="1600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example.co.za</a:t>
            </a:r>
          </a:p>
        </p:txBody>
      </p:sp>
      <p:sp>
        <p:nvSpPr>
          <p:cNvPr id="379" name="td">
            <a:extLst>
              <a:ext uri="{FF2B5EF4-FFF2-40B4-BE49-F238E27FC236}">
                <a16:creationId xmlns:a16="http://schemas.microsoft.com/office/drawing/2014/main" id="{4A67853D-4395-4D2C-B934-345499DA4261}"/>
              </a:ext>
            </a:extLst>
          </p:cNvPr>
          <p:cNvSpPr>
            <a:spLocks noGrp="1"/>
          </p:cNvSpPr>
          <p:nvPr/>
        </p:nvSpPr>
        <p:spPr>
          <a:xfrm>
            <a:off x="5349240" y="3845052"/>
            <a:ext cx="1554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DigiCert · manual</a:t>
            </a:r>
          </a:p>
        </p:txBody>
      </p:sp>
      <p:sp>
        <p:nvSpPr>
          <p:cNvPr id="380" name="td">
            <a:extLst>
              <a:ext uri="{FF2B5EF4-FFF2-40B4-BE49-F238E27FC236}">
                <a16:creationId xmlns:a16="http://schemas.microsoft.com/office/drawing/2014/main" id="{FE0598B3-4EF4-4079-9EF1-46800F6F7D00}"/>
              </a:ext>
            </a:extLst>
          </p:cNvPr>
          <p:cNvSpPr>
            <a:spLocks noGrp="1"/>
          </p:cNvSpPr>
          <p:nvPr/>
        </p:nvSpPr>
        <p:spPr>
          <a:xfrm>
            <a:off x="6949440" y="3845052"/>
            <a:ext cx="10515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6 days</a:t>
            </a:r>
          </a:p>
        </p:txBody>
      </p:sp>
      <p:sp>
        <p:nvSpPr>
          <p:cNvPr id="381" name="td">
            <a:extLst>
              <a:ext uri="{FF2B5EF4-FFF2-40B4-BE49-F238E27FC236}">
                <a16:creationId xmlns:a16="http://schemas.microsoft.com/office/drawing/2014/main" id="{27844A50-FA9D-41F7-8F67-C994EBBB118F}"/>
              </a:ext>
            </a:extLst>
          </p:cNvPr>
          <p:cNvSpPr>
            <a:spLocks noGrp="1"/>
          </p:cNvSpPr>
          <p:nvPr/>
        </p:nvSpPr>
        <p:spPr>
          <a:xfrm>
            <a:off x="8092440" y="3845052"/>
            <a:ext cx="1719072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1">
                <a:solidFill>
                  <a:srgbClr val="E6A23C"/>
                </a:solidFill>
              </a:defRPr>
            </a:pPr>
            <a:r>
              <a:rPr lang="en-US" sz="1125" b="1">
                <a:solidFill>
                  <a:srgbClr val="E6A23C"/>
                </a:solidFill>
              </a:rPr>
              <a:t>Renewal due</a:t>
            </a:r>
          </a:p>
        </p:txBody>
      </p:sp>
      <p:sp>
        <p:nvSpPr>
          <p:cNvPr id="382" name="td">
            <a:extLst>
              <a:ext uri="{FF2B5EF4-FFF2-40B4-BE49-F238E27FC236}">
                <a16:creationId xmlns:a16="http://schemas.microsoft.com/office/drawing/2014/main" id="{A6DE0503-1D31-4ADB-B396-FB00D03FA220}"/>
              </a:ext>
            </a:extLst>
          </p:cNvPr>
          <p:cNvSpPr>
            <a:spLocks noGrp="1"/>
          </p:cNvSpPr>
          <p:nvPr/>
        </p:nvSpPr>
        <p:spPr>
          <a:xfrm>
            <a:off x="9902952" y="3845052"/>
            <a:ext cx="10515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Commerce</a:t>
            </a:r>
          </a:p>
        </p:txBody>
      </p:sp>
      <p:sp>
        <p:nvSpPr>
          <p:cNvPr id="383" name="td">
            <a:extLst>
              <a:ext uri="{FF2B5EF4-FFF2-40B4-BE49-F238E27FC236}">
                <a16:creationId xmlns:a16="http://schemas.microsoft.com/office/drawing/2014/main" id="{EC208ABA-4DCC-44DF-96B5-9A404E9220FE}"/>
              </a:ext>
            </a:extLst>
          </p:cNvPr>
          <p:cNvSpPr>
            <a:spLocks noGrp="1"/>
          </p:cNvSpPr>
          <p:nvPr/>
        </p:nvSpPr>
        <p:spPr>
          <a:xfrm>
            <a:off x="950976" y="4434840"/>
            <a:ext cx="26517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mgmt.example.net</a:t>
            </a:r>
          </a:p>
        </p:txBody>
      </p:sp>
      <p:sp>
        <p:nvSpPr>
          <p:cNvPr id="384" name="td">
            <a:extLst>
              <a:ext uri="{FF2B5EF4-FFF2-40B4-BE49-F238E27FC236}">
                <a16:creationId xmlns:a16="http://schemas.microsoft.com/office/drawing/2014/main" id="{AB75A978-BF1A-4AD5-9535-C243F4824DE9}"/>
              </a:ext>
            </a:extLst>
          </p:cNvPr>
          <p:cNvSpPr>
            <a:spLocks noGrp="1"/>
          </p:cNvSpPr>
          <p:nvPr/>
        </p:nvSpPr>
        <p:spPr>
          <a:xfrm>
            <a:off x="3675888" y="4434840"/>
            <a:ext cx="1600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example.net</a:t>
            </a:r>
          </a:p>
        </p:txBody>
      </p:sp>
      <p:sp>
        <p:nvSpPr>
          <p:cNvPr id="385" name="td">
            <a:extLst>
              <a:ext uri="{FF2B5EF4-FFF2-40B4-BE49-F238E27FC236}">
                <a16:creationId xmlns:a16="http://schemas.microsoft.com/office/drawing/2014/main" id="{6579BF46-822C-40B0-9231-B1E2EB634BBF}"/>
              </a:ext>
            </a:extLst>
          </p:cNvPr>
          <p:cNvSpPr>
            <a:spLocks noGrp="1"/>
          </p:cNvSpPr>
          <p:nvPr/>
        </p:nvSpPr>
        <p:spPr>
          <a:xfrm>
            <a:off x="5349240" y="4434840"/>
            <a:ext cx="1554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Internal CA</a:t>
            </a:r>
          </a:p>
        </p:txBody>
      </p:sp>
      <p:sp>
        <p:nvSpPr>
          <p:cNvPr id="386" name="td">
            <a:extLst>
              <a:ext uri="{FF2B5EF4-FFF2-40B4-BE49-F238E27FC236}">
                <a16:creationId xmlns:a16="http://schemas.microsoft.com/office/drawing/2014/main" id="{6A33915B-F32C-4B9C-8412-2E6A14C70150}"/>
              </a:ext>
            </a:extLst>
          </p:cNvPr>
          <p:cNvSpPr>
            <a:spLocks noGrp="1"/>
          </p:cNvSpPr>
          <p:nvPr/>
        </p:nvSpPr>
        <p:spPr>
          <a:xfrm>
            <a:off x="6949440" y="4434840"/>
            <a:ext cx="10515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41 days</a:t>
            </a:r>
          </a:p>
        </p:txBody>
      </p:sp>
      <p:sp>
        <p:nvSpPr>
          <p:cNvPr id="387" name="td">
            <a:extLst>
              <a:ext uri="{FF2B5EF4-FFF2-40B4-BE49-F238E27FC236}">
                <a16:creationId xmlns:a16="http://schemas.microsoft.com/office/drawing/2014/main" id="{4AAE1019-678C-43F2-8CFA-C38D5809357A}"/>
              </a:ext>
            </a:extLst>
          </p:cNvPr>
          <p:cNvSpPr>
            <a:spLocks noGrp="1"/>
          </p:cNvSpPr>
          <p:nvPr/>
        </p:nvSpPr>
        <p:spPr>
          <a:xfrm>
            <a:off x="8092440" y="4434840"/>
            <a:ext cx="1719072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1">
                <a:solidFill>
                  <a:srgbClr val="E6A23C"/>
                </a:solidFill>
              </a:defRPr>
            </a:pPr>
            <a:r>
              <a:rPr lang="en-US" sz="1125" b="1">
                <a:solidFill>
                  <a:srgbClr val="E6A23C"/>
                </a:solidFill>
              </a:rPr>
              <a:t>Drift found</a:t>
            </a:r>
          </a:p>
        </p:txBody>
      </p:sp>
      <p:sp>
        <p:nvSpPr>
          <p:cNvPr id="388" name="td">
            <a:extLst>
              <a:ext uri="{FF2B5EF4-FFF2-40B4-BE49-F238E27FC236}">
                <a16:creationId xmlns:a16="http://schemas.microsoft.com/office/drawing/2014/main" id="{1509E42D-AB6F-4C32-991B-8C23A9839C8D}"/>
              </a:ext>
            </a:extLst>
          </p:cNvPr>
          <p:cNvSpPr>
            <a:spLocks noGrp="1"/>
          </p:cNvSpPr>
          <p:nvPr/>
        </p:nvSpPr>
        <p:spPr>
          <a:xfrm>
            <a:off x="9902952" y="4434840"/>
            <a:ext cx="10515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Network</a:t>
            </a:r>
          </a:p>
        </p:txBody>
      </p:sp>
      <p:sp>
        <p:nvSpPr>
          <p:cNvPr id="389" name="tr">
            <a:extLst>
              <a:ext uri="{FF2B5EF4-FFF2-40B4-BE49-F238E27FC236}">
                <a16:creationId xmlns:a16="http://schemas.microsoft.com/office/drawing/2014/main" id="{C8764C27-24B3-4FEB-A864-AC676EFFC483}"/>
              </a:ext>
            </a:extLst>
          </p:cNvPr>
          <p:cNvSpPr>
            <a:spLocks noGrp="1"/>
          </p:cNvSpPr>
          <p:nvPr/>
        </p:nvSpPr>
        <p:spPr>
          <a:xfrm>
            <a:off x="841248" y="4988052"/>
            <a:ext cx="10287000" cy="512064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td">
            <a:extLst>
              <a:ext uri="{FF2B5EF4-FFF2-40B4-BE49-F238E27FC236}">
                <a16:creationId xmlns:a16="http://schemas.microsoft.com/office/drawing/2014/main" id="{31C8E2B1-BCBF-4F3A-BB7F-3E24CF2346B9}"/>
              </a:ext>
            </a:extLst>
          </p:cNvPr>
          <p:cNvSpPr>
            <a:spLocks noGrp="1"/>
          </p:cNvSpPr>
          <p:nvPr/>
        </p:nvSpPr>
        <p:spPr>
          <a:xfrm>
            <a:off x="950976" y="5024628"/>
            <a:ext cx="26517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portal.example.org</a:t>
            </a:r>
          </a:p>
        </p:txBody>
      </p:sp>
      <p:sp>
        <p:nvSpPr>
          <p:cNvPr id="391" name="td">
            <a:extLst>
              <a:ext uri="{FF2B5EF4-FFF2-40B4-BE49-F238E27FC236}">
                <a16:creationId xmlns:a16="http://schemas.microsoft.com/office/drawing/2014/main" id="{467C00E7-A2E6-489C-9E40-2A2BA43F2431}"/>
              </a:ext>
            </a:extLst>
          </p:cNvPr>
          <p:cNvSpPr>
            <a:spLocks noGrp="1"/>
          </p:cNvSpPr>
          <p:nvPr/>
        </p:nvSpPr>
        <p:spPr>
          <a:xfrm>
            <a:off x="3675888" y="5024628"/>
            <a:ext cx="1600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example.org</a:t>
            </a:r>
          </a:p>
        </p:txBody>
      </p:sp>
      <p:sp>
        <p:nvSpPr>
          <p:cNvPr id="392" name="td">
            <a:extLst>
              <a:ext uri="{FF2B5EF4-FFF2-40B4-BE49-F238E27FC236}">
                <a16:creationId xmlns:a16="http://schemas.microsoft.com/office/drawing/2014/main" id="{91A281AC-41CE-4A80-8472-96964129A9FB}"/>
              </a:ext>
            </a:extLst>
          </p:cNvPr>
          <p:cNvSpPr>
            <a:spLocks noGrp="1"/>
          </p:cNvSpPr>
          <p:nvPr/>
        </p:nvSpPr>
        <p:spPr>
          <a:xfrm>
            <a:off x="5349240" y="5024628"/>
            <a:ext cx="1554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Let’s Encrypt</a:t>
            </a:r>
          </a:p>
        </p:txBody>
      </p:sp>
      <p:sp>
        <p:nvSpPr>
          <p:cNvPr id="393" name="td">
            <a:extLst>
              <a:ext uri="{FF2B5EF4-FFF2-40B4-BE49-F238E27FC236}">
                <a16:creationId xmlns:a16="http://schemas.microsoft.com/office/drawing/2014/main" id="{BCFE02B7-4BAC-43E8-8FB4-2D1AF0CD9CCC}"/>
              </a:ext>
            </a:extLst>
          </p:cNvPr>
          <p:cNvSpPr>
            <a:spLocks noGrp="1"/>
          </p:cNvSpPr>
          <p:nvPr/>
        </p:nvSpPr>
        <p:spPr>
          <a:xfrm>
            <a:off x="6949440" y="5024628"/>
            <a:ext cx="10515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0">
                <a:solidFill>
                  <a:srgbClr val="111318"/>
                </a:solidFill>
              </a:defRPr>
            </a:pPr>
            <a:r>
              <a:rPr lang="en-US" sz="1125" b="0">
                <a:solidFill>
                  <a:srgbClr val="111318"/>
                </a:solidFill>
              </a:rPr>
              <a:t>52 days</a:t>
            </a:r>
          </a:p>
        </p:txBody>
      </p:sp>
      <p:sp>
        <p:nvSpPr>
          <p:cNvPr id="394" name="td">
            <a:extLst>
              <a:ext uri="{FF2B5EF4-FFF2-40B4-BE49-F238E27FC236}">
                <a16:creationId xmlns:a16="http://schemas.microsoft.com/office/drawing/2014/main" id="{A16F6004-05A6-4B8D-A42C-5F04AEDDC0B8}"/>
              </a:ext>
            </a:extLst>
          </p:cNvPr>
          <p:cNvSpPr>
            <a:spLocks noGrp="1"/>
          </p:cNvSpPr>
          <p:nvPr/>
        </p:nvSpPr>
        <p:spPr>
          <a:xfrm>
            <a:off x="8092440" y="5024628"/>
            <a:ext cx="1719072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1">
                <a:solidFill>
                  <a:srgbClr val="D94A4A"/>
                </a:solidFill>
              </a:defRPr>
            </a:pPr>
            <a:r>
              <a:rPr lang="en-US" sz="1125" b="1">
                <a:solidFill>
                  <a:srgbClr val="D94A4A"/>
                </a:solidFill>
              </a:rPr>
              <a:t>Domain expires in 12 days</a:t>
            </a:r>
          </a:p>
        </p:txBody>
      </p:sp>
      <p:sp>
        <p:nvSpPr>
          <p:cNvPr id="395" name="td">
            <a:extLst>
              <a:ext uri="{FF2B5EF4-FFF2-40B4-BE49-F238E27FC236}">
                <a16:creationId xmlns:a16="http://schemas.microsoft.com/office/drawing/2014/main" id="{93481988-3882-4F1E-82AC-4426A07A8360}"/>
              </a:ext>
            </a:extLst>
          </p:cNvPr>
          <p:cNvSpPr>
            <a:spLocks noGrp="1"/>
          </p:cNvSpPr>
          <p:nvPr/>
        </p:nvSpPr>
        <p:spPr>
          <a:xfrm>
            <a:off x="9902952" y="5024628"/>
            <a:ext cx="10515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25" b="1">
                <a:solidFill>
                  <a:srgbClr val="D94A4A"/>
                </a:solidFill>
              </a:defRPr>
            </a:pPr>
            <a:r>
              <a:rPr lang="en-US" sz="1125" b="1">
                <a:solidFill>
                  <a:srgbClr val="D94A4A"/>
                </a:solidFill>
              </a:rPr>
              <a:t>Unowned</a:t>
            </a:r>
          </a:p>
        </p:txBody>
      </p:sp>
      <p:sp>
        <p:nvSpPr>
          <p:cNvPr id="396" name="drawer">
            <a:extLst>
              <a:ext uri="{FF2B5EF4-FFF2-40B4-BE49-F238E27FC236}">
                <a16:creationId xmlns:a16="http://schemas.microsoft.com/office/drawing/2014/main" id="{36352FDE-F692-4ED2-81F7-947DCD368D6A}"/>
              </a:ext>
            </a:extLst>
          </p:cNvPr>
          <p:cNvSpPr>
            <a:spLocks noGrp="1"/>
          </p:cNvSpPr>
          <p:nvPr/>
        </p:nvSpPr>
        <p:spPr>
          <a:xfrm>
            <a:off x="841248" y="5431536"/>
            <a:ext cx="304495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1">
                <a:solidFill>
                  <a:srgbClr val="5E6672"/>
                </a:solidFill>
              </a:defRPr>
            </a:pPr>
            <a:r>
              <a:rPr lang="en-US" sz="825" b="1">
                <a:solidFill>
                  <a:srgbClr val="5E6672"/>
                </a:solidFill>
              </a:rPr>
              <a:t>SELECT A ROW TO VIEW</a:t>
            </a:r>
          </a:p>
        </p:txBody>
      </p:sp>
      <p:sp>
        <p:nvSpPr>
          <p:cNvPr id="397" name="actions">
            <a:extLst>
              <a:ext uri="{FF2B5EF4-FFF2-40B4-BE49-F238E27FC236}">
                <a16:creationId xmlns:a16="http://schemas.microsoft.com/office/drawing/2014/main" id="{3F4E569E-A257-467A-A067-E742866E5935}"/>
              </a:ext>
            </a:extLst>
          </p:cNvPr>
          <p:cNvSpPr>
            <a:spLocks noGrp="1"/>
          </p:cNvSpPr>
          <p:nvPr/>
        </p:nvSpPr>
        <p:spPr>
          <a:xfrm>
            <a:off x="4096512" y="5394960"/>
            <a:ext cx="6803136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Observed vs expected • delegation chain • event history • planned action • owner</a:t>
            </a:r>
          </a:p>
        </p:txBody>
      </p:sp>
      <p:sp>
        <p:nvSpPr>
          <p:cNvPr id="398" name="lvl-label">
            <a:extLst>
              <a:ext uri="{FF2B5EF4-FFF2-40B4-BE49-F238E27FC236}">
                <a16:creationId xmlns:a16="http://schemas.microsoft.com/office/drawing/2014/main" id="{B07F4961-BE8A-4205-952B-71322919D1BE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2F80ED"/>
                </a:solidFill>
              </a:defRPr>
            </a:pPr>
            <a:r>
              <a:rPr lang="en-US" sz="900" b="1">
                <a:solidFill>
                  <a:srgbClr val="2F80ED"/>
                </a:solidFill>
              </a:rPr>
              <a:t>Reaches Level 2 · Managed</a:t>
            </a:r>
          </a:p>
        </p:txBody>
      </p:sp>
      <p:sp>
        <p:nvSpPr>
          <p:cNvPr id="399" name="lvl-block">
            <a:extLst>
              <a:ext uri="{FF2B5EF4-FFF2-40B4-BE49-F238E27FC236}">
                <a16:creationId xmlns:a16="http://schemas.microsoft.com/office/drawing/2014/main" id="{EFB4E8BF-A1DB-4E83-BC8C-8A45C48BA180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lvl-block">
            <a:extLst>
              <a:ext uri="{FF2B5EF4-FFF2-40B4-BE49-F238E27FC236}">
                <a16:creationId xmlns:a16="http://schemas.microsoft.com/office/drawing/2014/main" id="{062907C1-7378-4530-AC57-485702983FA6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lvl-block">
            <a:extLst>
              <a:ext uri="{FF2B5EF4-FFF2-40B4-BE49-F238E27FC236}">
                <a16:creationId xmlns:a16="http://schemas.microsoft.com/office/drawing/2014/main" id="{7DADC867-3D9E-402E-A105-9E57CB095AFE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lvl-block">
            <a:extLst>
              <a:ext uri="{FF2B5EF4-FFF2-40B4-BE49-F238E27FC236}">
                <a16:creationId xmlns:a16="http://schemas.microsoft.com/office/drawing/2014/main" id="{E0964847-AB56-4126-8CCF-765E06AA9297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lvl-block">
            <a:extLst>
              <a:ext uri="{FF2B5EF4-FFF2-40B4-BE49-F238E27FC236}">
                <a16:creationId xmlns:a16="http://schemas.microsoft.com/office/drawing/2014/main" id="{16C28FCB-8965-4DA6-B01C-0F319A1026D3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9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kicker">
            <a:extLst>
              <a:ext uri="{FF2B5EF4-FFF2-40B4-BE49-F238E27FC236}">
                <a16:creationId xmlns:a16="http://schemas.microsoft.com/office/drawing/2014/main" id="{61984B34-51E1-4F3B-A35C-238017748426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PROACTIVE COMMUNICATION</a:t>
            </a:r>
          </a:p>
        </p:txBody>
      </p:sp>
      <p:sp>
        <p:nvSpPr>
          <p:cNvPr id="405" name="title">
            <a:extLst>
              <a:ext uri="{FF2B5EF4-FFF2-40B4-BE49-F238E27FC236}">
                <a16:creationId xmlns:a16="http://schemas.microsoft.com/office/drawing/2014/main" id="{8D30DCAC-32E5-4656-835D-3D15032F0ADD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Alerts follow the lifecycle — and distinguish action from assurance</a:t>
            </a:r>
          </a:p>
        </p:txBody>
      </p:sp>
      <p:sp>
        <p:nvSpPr>
          <p:cNvPr id="406" name="rule">
            <a:extLst>
              <a:ext uri="{FF2B5EF4-FFF2-40B4-BE49-F238E27FC236}">
                <a16:creationId xmlns:a16="http://schemas.microsoft.com/office/drawing/2014/main" id="{F6EBA5FA-FDC2-4EE6-B3E9-72546AE8099E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page">
            <a:extLst>
              <a:ext uri="{FF2B5EF4-FFF2-40B4-BE49-F238E27FC236}">
                <a16:creationId xmlns:a16="http://schemas.microsoft.com/office/drawing/2014/main" id="{682E3119-8EA4-48CF-BDCF-AB465AEE0905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10</a:t>
            </a:r>
          </a:p>
        </p:txBody>
      </p:sp>
      <p:sp>
        <p:nvSpPr>
          <p:cNvPr id="408" name="footer">
            <a:extLst>
              <a:ext uri="{FF2B5EF4-FFF2-40B4-BE49-F238E27FC236}">
                <a16:creationId xmlns:a16="http://schemas.microsoft.com/office/drawing/2014/main" id="{C1201608-2B4F-4177-ABAB-760C14B702E3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409" name="lane">
            <a:extLst>
              <a:ext uri="{FF2B5EF4-FFF2-40B4-BE49-F238E27FC236}">
                <a16:creationId xmlns:a16="http://schemas.microsoft.com/office/drawing/2014/main" id="{20FD08C8-321A-4AAD-B7DA-F84E18B5039F}"/>
              </a:ext>
            </a:extLst>
          </p:cNvPr>
          <p:cNvSpPr>
            <a:spLocks noGrp="1"/>
          </p:cNvSpPr>
          <p:nvPr/>
        </p:nvSpPr>
        <p:spPr>
          <a:xfrm>
            <a:off x="612648" y="1481328"/>
            <a:ext cx="10972800" cy="749808"/>
          </a:xfrm>
          <a:prstGeom prst="rect">
            <a:avLst/>
          </a:prstGeom>
          <a:solidFill>
            <a:srgbClr val="FFF6E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tripe">
            <a:extLst>
              <a:ext uri="{FF2B5EF4-FFF2-40B4-BE49-F238E27FC236}">
                <a16:creationId xmlns:a16="http://schemas.microsoft.com/office/drawing/2014/main" id="{2BFCA2A4-C83C-44DE-91CC-A9A97EE613E3}"/>
              </a:ext>
            </a:extLst>
          </p:cNvPr>
          <p:cNvSpPr>
            <a:spLocks noGrp="1"/>
          </p:cNvSpPr>
          <p:nvPr/>
        </p:nvSpPr>
        <p:spPr>
          <a:xfrm>
            <a:off x="612648" y="1481328"/>
            <a:ext cx="73152" cy="749808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alert">
            <a:extLst>
              <a:ext uri="{FF2B5EF4-FFF2-40B4-BE49-F238E27FC236}">
                <a16:creationId xmlns:a16="http://schemas.microsoft.com/office/drawing/2014/main" id="{15BBF942-44A7-4479-B90A-A659E5A41F6E}"/>
              </a:ext>
            </a:extLst>
          </p:cNvPr>
          <p:cNvSpPr>
            <a:spLocks noGrp="1"/>
          </p:cNvSpPr>
          <p:nvPr/>
        </p:nvSpPr>
        <p:spPr>
          <a:xfrm>
            <a:off x="896112" y="1554480"/>
            <a:ext cx="251460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50" b="1">
                <a:solidFill>
                  <a:srgbClr val="111318"/>
                </a:solidFill>
              </a:defRPr>
            </a:pPr>
            <a:r>
              <a:rPr lang="en-US" sz="1450" b="1">
                <a:solidFill>
                  <a:srgbClr val="111318"/>
                </a:solidFill>
              </a:rPr>
              <a:t>Renewal due</a:t>
            </a:r>
          </a:p>
        </p:txBody>
      </p:sp>
      <p:sp>
        <p:nvSpPr>
          <p:cNvPr id="412" name="when">
            <a:extLst>
              <a:ext uri="{FF2B5EF4-FFF2-40B4-BE49-F238E27FC236}">
                <a16:creationId xmlns:a16="http://schemas.microsoft.com/office/drawing/2014/main" id="{BA7C15AB-9C97-48DB-B5A3-3693B70DE99F}"/>
              </a:ext>
            </a:extLst>
          </p:cNvPr>
          <p:cNvSpPr>
            <a:spLocks noGrp="1"/>
          </p:cNvSpPr>
          <p:nvPr/>
        </p:nvSpPr>
        <p:spPr>
          <a:xfrm>
            <a:off x="3474720" y="1554480"/>
            <a:ext cx="251460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1">
                <a:solidFill>
                  <a:srgbClr val="E6A23C"/>
                </a:solidFill>
              </a:defRPr>
            </a:pPr>
            <a:r>
              <a:rPr lang="en-US" sz="1150" b="1">
                <a:solidFill>
                  <a:srgbClr val="E6A23C"/>
                </a:solidFill>
              </a:rPr>
              <a:t>90 / 60 / 30 / 14 / 7 days</a:t>
            </a:r>
          </a:p>
        </p:txBody>
      </p:sp>
      <p:sp>
        <p:nvSpPr>
          <p:cNvPr id="413" name="desc">
            <a:extLst>
              <a:ext uri="{FF2B5EF4-FFF2-40B4-BE49-F238E27FC236}">
                <a16:creationId xmlns:a16="http://schemas.microsoft.com/office/drawing/2014/main" id="{9B5FAF1D-DC41-4357-8609-20E7CF08F3AF}"/>
              </a:ext>
            </a:extLst>
          </p:cNvPr>
          <p:cNvSpPr>
            <a:spLocks noGrp="1"/>
          </p:cNvSpPr>
          <p:nvPr/>
        </p:nvSpPr>
        <p:spPr>
          <a:xfrm>
            <a:off x="6153912" y="1536192"/>
            <a:ext cx="50749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111318"/>
                </a:solidFill>
              </a:defRPr>
            </a:pPr>
            <a:r>
              <a:rPr lang="en-US" sz="1100" b="0">
                <a:solidFill>
                  <a:srgbClr val="111318"/>
                </a:solidFill>
              </a:rPr>
              <a:t>Owner reminder with target, expiry, policy and planned renewal window.</a:t>
            </a:r>
          </a:p>
        </p:txBody>
      </p:sp>
      <p:sp>
        <p:nvSpPr>
          <p:cNvPr id="414" name="channels">
            <a:extLst>
              <a:ext uri="{FF2B5EF4-FFF2-40B4-BE49-F238E27FC236}">
                <a16:creationId xmlns:a16="http://schemas.microsoft.com/office/drawing/2014/main" id="{4CB6F5D9-AB1E-48D4-8D7D-81344B1A4FB1}"/>
              </a:ext>
            </a:extLst>
          </p:cNvPr>
          <p:cNvSpPr>
            <a:spLocks noGrp="1"/>
          </p:cNvSpPr>
          <p:nvPr/>
        </p:nvSpPr>
        <p:spPr>
          <a:xfrm>
            <a:off x="6153912" y="1993392"/>
            <a:ext cx="33375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0">
                <a:solidFill>
                  <a:srgbClr val="5E6672"/>
                </a:solidFill>
              </a:defRPr>
            </a:pPr>
            <a:r>
              <a:rPr lang="en-US" sz="900" b="0">
                <a:solidFill>
                  <a:srgbClr val="5E6672"/>
                </a:solidFill>
              </a:rPr>
              <a:t>Microsoft Teams  +  Email</a:t>
            </a:r>
          </a:p>
        </p:txBody>
      </p:sp>
      <p:sp>
        <p:nvSpPr>
          <p:cNvPr id="415" name="lane">
            <a:extLst>
              <a:ext uri="{FF2B5EF4-FFF2-40B4-BE49-F238E27FC236}">
                <a16:creationId xmlns:a16="http://schemas.microsoft.com/office/drawing/2014/main" id="{26322026-D5C3-415E-8E0F-830D2497A138}"/>
              </a:ext>
            </a:extLst>
          </p:cNvPr>
          <p:cNvSpPr>
            <a:spLocks noGrp="1"/>
          </p:cNvSpPr>
          <p:nvPr/>
        </p:nvSpPr>
        <p:spPr>
          <a:xfrm>
            <a:off x="612648" y="2304288"/>
            <a:ext cx="10972800" cy="749808"/>
          </a:xfrm>
          <a:prstGeom prst="rect">
            <a:avLst/>
          </a:prstGeom>
          <a:solidFill>
            <a:srgbClr val="FFF6E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tripe">
            <a:extLst>
              <a:ext uri="{FF2B5EF4-FFF2-40B4-BE49-F238E27FC236}">
                <a16:creationId xmlns:a16="http://schemas.microsoft.com/office/drawing/2014/main" id="{9743311E-DFD4-44B8-96A0-5A0A61405FF4}"/>
              </a:ext>
            </a:extLst>
          </p:cNvPr>
          <p:cNvSpPr>
            <a:spLocks noGrp="1"/>
          </p:cNvSpPr>
          <p:nvPr/>
        </p:nvSpPr>
        <p:spPr>
          <a:xfrm>
            <a:off x="612648" y="2304288"/>
            <a:ext cx="73152" cy="749808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alert">
            <a:extLst>
              <a:ext uri="{FF2B5EF4-FFF2-40B4-BE49-F238E27FC236}">
                <a16:creationId xmlns:a16="http://schemas.microsoft.com/office/drawing/2014/main" id="{D26EB7B1-A413-4ACE-AF81-0550722A864A}"/>
              </a:ext>
            </a:extLst>
          </p:cNvPr>
          <p:cNvSpPr>
            <a:spLocks noGrp="1"/>
          </p:cNvSpPr>
          <p:nvPr/>
        </p:nvSpPr>
        <p:spPr>
          <a:xfrm>
            <a:off x="896112" y="2377440"/>
            <a:ext cx="251460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50" b="1">
                <a:solidFill>
                  <a:srgbClr val="111318"/>
                </a:solidFill>
              </a:defRPr>
            </a:pPr>
            <a:r>
              <a:rPr lang="en-US" sz="1450" b="1">
                <a:solidFill>
                  <a:srgbClr val="111318"/>
                </a:solidFill>
              </a:rPr>
              <a:t>Domain expiring</a:t>
            </a:r>
          </a:p>
        </p:txBody>
      </p:sp>
      <p:sp>
        <p:nvSpPr>
          <p:cNvPr id="418" name="when">
            <a:extLst>
              <a:ext uri="{FF2B5EF4-FFF2-40B4-BE49-F238E27FC236}">
                <a16:creationId xmlns:a16="http://schemas.microsoft.com/office/drawing/2014/main" id="{CDBB0F12-4D1F-4466-B4B4-BA7D73D69429}"/>
              </a:ext>
            </a:extLst>
          </p:cNvPr>
          <p:cNvSpPr>
            <a:spLocks noGrp="1"/>
          </p:cNvSpPr>
          <p:nvPr/>
        </p:nvSpPr>
        <p:spPr>
          <a:xfrm>
            <a:off x="3474720" y="2377440"/>
            <a:ext cx="251460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1">
                <a:solidFill>
                  <a:srgbClr val="E6A23C"/>
                </a:solidFill>
              </a:defRPr>
            </a:pPr>
            <a:r>
              <a:rPr lang="en-US" sz="1150" b="1">
                <a:solidFill>
                  <a:srgbClr val="E6A23C"/>
                </a:solidFill>
              </a:rPr>
              <a:t>90 / 60 / 30 days</a:t>
            </a:r>
          </a:p>
        </p:txBody>
      </p:sp>
      <p:sp>
        <p:nvSpPr>
          <p:cNvPr id="419" name="desc">
            <a:extLst>
              <a:ext uri="{FF2B5EF4-FFF2-40B4-BE49-F238E27FC236}">
                <a16:creationId xmlns:a16="http://schemas.microsoft.com/office/drawing/2014/main" id="{C6169304-638A-4A10-B793-841A17EA1887}"/>
              </a:ext>
            </a:extLst>
          </p:cNvPr>
          <p:cNvSpPr>
            <a:spLocks noGrp="1"/>
          </p:cNvSpPr>
          <p:nvPr/>
        </p:nvSpPr>
        <p:spPr>
          <a:xfrm>
            <a:off x="6153912" y="2359152"/>
            <a:ext cx="50749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111318"/>
                </a:solidFill>
              </a:defRPr>
            </a:pPr>
            <a:r>
              <a:rPr lang="en-US" sz="1100" b="0">
                <a:solidFill>
                  <a:srgbClr val="111318"/>
                </a:solidFill>
              </a:rPr>
              <a:t>Registrant owner reminder with registrar, auto-renew status and every certificate that would go down with it.</a:t>
            </a:r>
          </a:p>
        </p:txBody>
      </p:sp>
      <p:sp>
        <p:nvSpPr>
          <p:cNvPr id="420" name="channels">
            <a:extLst>
              <a:ext uri="{FF2B5EF4-FFF2-40B4-BE49-F238E27FC236}">
                <a16:creationId xmlns:a16="http://schemas.microsoft.com/office/drawing/2014/main" id="{E96BC120-AA18-400A-85C0-63B968C0B290}"/>
              </a:ext>
            </a:extLst>
          </p:cNvPr>
          <p:cNvSpPr>
            <a:spLocks noGrp="1"/>
          </p:cNvSpPr>
          <p:nvPr/>
        </p:nvSpPr>
        <p:spPr>
          <a:xfrm>
            <a:off x="6153912" y="2816352"/>
            <a:ext cx="33375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0">
                <a:solidFill>
                  <a:srgbClr val="5E6672"/>
                </a:solidFill>
              </a:defRPr>
            </a:pPr>
            <a:r>
              <a:rPr lang="en-US" sz="900" b="0">
                <a:solidFill>
                  <a:srgbClr val="5E6672"/>
                </a:solidFill>
              </a:rPr>
              <a:t>Microsoft Teams  +  Email</a:t>
            </a:r>
          </a:p>
        </p:txBody>
      </p:sp>
      <p:sp>
        <p:nvSpPr>
          <p:cNvPr id="421" name="lane">
            <a:extLst>
              <a:ext uri="{FF2B5EF4-FFF2-40B4-BE49-F238E27FC236}">
                <a16:creationId xmlns:a16="http://schemas.microsoft.com/office/drawing/2014/main" id="{C5B923B5-FBDD-47A9-82E1-232F127F2E62}"/>
              </a:ext>
            </a:extLst>
          </p:cNvPr>
          <p:cNvSpPr>
            <a:spLocks noGrp="1"/>
          </p:cNvSpPr>
          <p:nvPr/>
        </p:nvSpPr>
        <p:spPr>
          <a:xfrm>
            <a:off x="612648" y="3127248"/>
            <a:ext cx="10972800" cy="749808"/>
          </a:xfrm>
          <a:prstGeom prst="rect">
            <a:avLst/>
          </a:prstGeom>
          <a:solidFill>
            <a:srgbClr val="FCED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tripe">
            <a:extLst>
              <a:ext uri="{FF2B5EF4-FFF2-40B4-BE49-F238E27FC236}">
                <a16:creationId xmlns:a16="http://schemas.microsoft.com/office/drawing/2014/main" id="{022B753A-651A-4E8B-A23D-80CD469C30C9}"/>
              </a:ext>
            </a:extLst>
          </p:cNvPr>
          <p:cNvSpPr>
            <a:spLocks noGrp="1"/>
          </p:cNvSpPr>
          <p:nvPr/>
        </p:nvSpPr>
        <p:spPr>
          <a:xfrm>
            <a:off x="612648" y="3127248"/>
            <a:ext cx="73152" cy="749808"/>
          </a:xfrm>
          <a:prstGeom prst="rect">
            <a:avLst/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alert">
            <a:extLst>
              <a:ext uri="{FF2B5EF4-FFF2-40B4-BE49-F238E27FC236}">
                <a16:creationId xmlns:a16="http://schemas.microsoft.com/office/drawing/2014/main" id="{8AC50247-BBFB-4C14-8A4D-3D47165543FE}"/>
              </a:ext>
            </a:extLst>
          </p:cNvPr>
          <p:cNvSpPr>
            <a:spLocks noGrp="1"/>
          </p:cNvSpPr>
          <p:nvPr/>
        </p:nvSpPr>
        <p:spPr>
          <a:xfrm>
            <a:off x="896112" y="3200400"/>
            <a:ext cx="251460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50" b="1">
                <a:solidFill>
                  <a:srgbClr val="111318"/>
                </a:solidFill>
              </a:defRPr>
            </a:pPr>
            <a:r>
              <a:rPr lang="en-US" sz="1450" b="1">
                <a:solidFill>
                  <a:srgbClr val="111318"/>
                </a:solidFill>
              </a:rPr>
              <a:t>Delegation broken / DNSSEC invalid</a:t>
            </a:r>
          </a:p>
        </p:txBody>
      </p:sp>
      <p:sp>
        <p:nvSpPr>
          <p:cNvPr id="424" name="when">
            <a:extLst>
              <a:ext uri="{FF2B5EF4-FFF2-40B4-BE49-F238E27FC236}">
                <a16:creationId xmlns:a16="http://schemas.microsoft.com/office/drawing/2014/main" id="{FA65A946-515A-479F-BE3E-37254D0EDC53}"/>
              </a:ext>
            </a:extLst>
          </p:cNvPr>
          <p:cNvSpPr>
            <a:spLocks noGrp="1"/>
          </p:cNvSpPr>
          <p:nvPr/>
        </p:nvSpPr>
        <p:spPr>
          <a:xfrm>
            <a:off x="3474720" y="3200400"/>
            <a:ext cx="251460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1">
                <a:solidFill>
                  <a:srgbClr val="D94A4A"/>
                </a:solidFill>
              </a:defRPr>
            </a:pPr>
            <a:r>
              <a:rPr lang="en-US" sz="1150" b="1">
                <a:solidFill>
                  <a:srgbClr val="D94A4A"/>
                </a:solidFill>
              </a:rPr>
              <a:t>Immediately — an outage in progress</a:t>
            </a:r>
          </a:p>
        </p:txBody>
      </p:sp>
      <p:sp>
        <p:nvSpPr>
          <p:cNvPr id="425" name="desc">
            <a:extLst>
              <a:ext uri="{FF2B5EF4-FFF2-40B4-BE49-F238E27FC236}">
                <a16:creationId xmlns:a16="http://schemas.microsoft.com/office/drawing/2014/main" id="{DE7C3374-404C-4D9E-BC24-93FBAF2F8D1A}"/>
              </a:ext>
            </a:extLst>
          </p:cNvPr>
          <p:cNvSpPr>
            <a:spLocks noGrp="1"/>
          </p:cNvSpPr>
          <p:nvPr/>
        </p:nvSpPr>
        <p:spPr>
          <a:xfrm>
            <a:off x="6153912" y="3182112"/>
            <a:ext cx="50749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111318"/>
                </a:solidFill>
              </a:defRPr>
            </a:pPr>
            <a:r>
              <a:rPr lang="en-US" sz="1100" b="0">
                <a:solidFill>
                  <a:srgbClr val="111318"/>
                </a:solidFill>
              </a:rPr>
              <a:t>Owner and platform team: which hop disagrees (registry, Cloudflare, Cloud DNS) and the Git change that fixes it.</a:t>
            </a:r>
          </a:p>
        </p:txBody>
      </p:sp>
      <p:sp>
        <p:nvSpPr>
          <p:cNvPr id="426" name="channels">
            <a:extLst>
              <a:ext uri="{FF2B5EF4-FFF2-40B4-BE49-F238E27FC236}">
                <a16:creationId xmlns:a16="http://schemas.microsoft.com/office/drawing/2014/main" id="{4E451103-9C11-4359-8D09-B4738A3D7531}"/>
              </a:ext>
            </a:extLst>
          </p:cNvPr>
          <p:cNvSpPr>
            <a:spLocks noGrp="1"/>
          </p:cNvSpPr>
          <p:nvPr/>
        </p:nvSpPr>
        <p:spPr>
          <a:xfrm>
            <a:off x="6153912" y="3639312"/>
            <a:ext cx="33375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0">
                <a:solidFill>
                  <a:srgbClr val="5E6672"/>
                </a:solidFill>
              </a:defRPr>
            </a:pPr>
            <a:r>
              <a:rPr lang="en-US" sz="900" b="0">
                <a:solidFill>
                  <a:srgbClr val="5E6672"/>
                </a:solidFill>
              </a:rPr>
              <a:t>Microsoft Teams  +  Email</a:t>
            </a:r>
          </a:p>
        </p:txBody>
      </p:sp>
      <p:sp>
        <p:nvSpPr>
          <p:cNvPr id="427" name="lane">
            <a:extLst>
              <a:ext uri="{FF2B5EF4-FFF2-40B4-BE49-F238E27FC236}">
                <a16:creationId xmlns:a16="http://schemas.microsoft.com/office/drawing/2014/main" id="{8CBD1BA6-7C00-4411-AA13-594F634A5CC4}"/>
              </a:ext>
            </a:extLst>
          </p:cNvPr>
          <p:cNvSpPr>
            <a:spLocks noGrp="1"/>
          </p:cNvSpPr>
          <p:nvPr/>
        </p:nvSpPr>
        <p:spPr>
          <a:xfrm>
            <a:off x="612648" y="3950208"/>
            <a:ext cx="10972800" cy="749808"/>
          </a:xfrm>
          <a:prstGeom prst="rect">
            <a:avLst/>
          </a:prstGeom>
          <a:solidFill>
            <a:srgbClr val="EAF8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tripe">
            <a:extLst>
              <a:ext uri="{FF2B5EF4-FFF2-40B4-BE49-F238E27FC236}">
                <a16:creationId xmlns:a16="http://schemas.microsoft.com/office/drawing/2014/main" id="{32847404-31B5-492C-A039-09F7BF1B7A2C}"/>
              </a:ext>
            </a:extLst>
          </p:cNvPr>
          <p:cNvSpPr>
            <a:spLocks noGrp="1"/>
          </p:cNvSpPr>
          <p:nvPr/>
        </p:nvSpPr>
        <p:spPr>
          <a:xfrm>
            <a:off x="612648" y="3950208"/>
            <a:ext cx="73152" cy="749808"/>
          </a:xfrm>
          <a:prstGeom prst="rect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alert">
            <a:extLst>
              <a:ext uri="{FF2B5EF4-FFF2-40B4-BE49-F238E27FC236}">
                <a16:creationId xmlns:a16="http://schemas.microsoft.com/office/drawing/2014/main" id="{2E66D383-4836-4AC0-962A-1B1E27138FF6}"/>
              </a:ext>
            </a:extLst>
          </p:cNvPr>
          <p:cNvSpPr>
            <a:spLocks noGrp="1"/>
          </p:cNvSpPr>
          <p:nvPr/>
        </p:nvSpPr>
        <p:spPr>
          <a:xfrm>
            <a:off x="896112" y="4023360"/>
            <a:ext cx="251460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50" b="1">
                <a:solidFill>
                  <a:srgbClr val="111318"/>
                </a:solidFill>
              </a:defRPr>
            </a:pPr>
            <a:r>
              <a:rPr lang="en-US" sz="1450" b="1">
                <a:solidFill>
                  <a:srgbClr val="111318"/>
                </a:solidFill>
              </a:rPr>
              <a:t>Renewal succeeded</a:t>
            </a:r>
          </a:p>
        </p:txBody>
      </p:sp>
      <p:sp>
        <p:nvSpPr>
          <p:cNvPr id="430" name="when">
            <a:extLst>
              <a:ext uri="{FF2B5EF4-FFF2-40B4-BE49-F238E27FC236}">
                <a16:creationId xmlns:a16="http://schemas.microsoft.com/office/drawing/2014/main" id="{CFE055DE-E868-4C72-B698-B485A1D3740D}"/>
              </a:ext>
            </a:extLst>
          </p:cNvPr>
          <p:cNvSpPr>
            <a:spLocks noGrp="1"/>
          </p:cNvSpPr>
          <p:nvPr/>
        </p:nvSpPr>
        <p:spPr>
          <a:xfrm>
            <a:off x="3474720" y="4023360"/>
            <a:ext cx="251460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1">
                <a:solidFill>
                  <a:srgbClr val="2FA36B"/>
                </a:solidFill>
              </a:defRPr>
            </a:pPr>
            <a:r>
              <a:rPr lang="en-US" sz="1150" b="1">
                <a:solidFill>
                  <a:srgbClr val="2FA36B"/>
                </a:solidFill>
              </a:rPr>
              <a:t>After live verification</a:t>
            </a:r>
          </a:p>
        </p:txBody>
      </p:sp>
      <p:sp>
        <p:nvSpPr>
          <p:cNvPr id="431" name="desc">
            <a:extLst>
              <a:ext uri="{FF2B5EF4-FFF2-40B4-BE49-F238E27FC236}">
                <a16:creationId xmlns:a16="http://schemas.microsoft.com/office/drawing/2014/main" id="{0509570C-AC18-4B3F-8259-1CF71AFF3770}"/>
              </a:ext>
            </a:extLst>
          </p:cNvPr>
          <p:cNvSpPr>
            <a:spLocks noGrp="1"/>
          </p:cNvSpPr>
          <p:nvPr/>
        </p:nvSpPr>
        <p:spPr>
          <a:xfrm>
            <a:off x="6153912" y="4005072"/>
            <a:ext cx="50749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111318"/>
                </a:solidFill>
              </a:defRPr>
            </a:pPr>
            <a:r>
              <a:rPr lang="en-US" sz="1100" b="0">
                <a:solidFill>
                  <a:srgbClr val="111318"/>
                </a:solidFill>
              </a:rPr>
              <a:t>Confirmation with new fingerprint, active binding and evidence — checked at the edge and, behind a proxy, at the origin.</a:t>
            </a:r>
          </a:p>
        </p:txBody>
      </p:sp>
      <p:sp>
        <p:nvSpPr>
          <p:cNvPr id="432" name="channels">
            <a:extLst>
              <a:ext uri="{FF2B5EF4-FFF2-40B4-BE49-F238E27FC236}">
                <a16:creationId xmlns:a16="http://schemas.microsoft.com/office/drawing/2014/main" id="{38132745-72C7-4112-8E99-375A76C9E874}"/>
              </a:ext>
            </a:extLst>
          </p:cNvPr>
          <p:cNvSpPr>
            <a:spLocks noGrp="1"/>
          </p:cNvSpPr>
          <p:nvPr/>
        </p:nvSpPr>
        <p:spPr>
          <a:xfrm>
            <a:off x="6153912" y="4462272"/>
            <a:ext cx="33375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0">
                <a:solidFill>
                  <a:srgbClr val="5E6672"/>
                </a:solidFill>
              </a:defRPr>
            </a:pPr>
            <a:r>
              <a:rPr lang="en-US" sz="900" b="0">
                <a:solidFill>
                  <a:srgbClr val="5E6672"/>
                </a:solidFill>
              </a:rPr>
              <a:t>Microsoft Teams  +  Email</a:t>
            </a:r>
          </a:p>
        </p:txBody>
      </p:sp>
      <p:sp>
        <p:nvSpPr>
          <p:cNvPr id="433" name="lane">
            <a:extLst>
              <a:ext uri="{FF2B5EF4-FFF2-40B4-BE49-F238E27FC236}">
                <a16:creationId xmlns:a16="http://schemas.microsoft.com/office/drawing/2014/main" id="{CAAF757B-D295-4434-BF1A-858531060088}"/>
              </a:ext>
            </a:extLst>
          </p:cNvPr>
          <p:cNvSpPr>
            <a:spLocks noGrp="1"/>
          </p:cNvSpPr>
          <p:nvPr/>
        </p:nvSpPr>
        <p:spPr>
          <a:xfrm>
            <a:off x="612648" y="4773168"/>
            <a:ext cx="10972800" cy="749808"/>
          </a:xfrm>
          <a:prstGeom prst="rect">
            <a:avLst/>
          </a:prstGeom>
          <a:solidFill>
            <a:srgbClr val="FCED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tripe">
            <a:extLst>
              <a:ext uri="{FF2B5EF4-FFF2-40B4-BE49-F238E27FC236}">
                <a16:creationId xmlns:a16="http://schemas.microsoft.com/office/drawing/2014/main" id="{AA6E12D3-89B0-40A1-9C83-FFBCB1576BF8}"/>
              </a:ext>
            </a:extLst>
          </p:cNvPr>
          <p:cNvSpPr>
            <a:spLocks noGrp="1"/>
          </p:cNvSpPr>
          <p:nvPr/>
        </p:nvSpPr>
        <p:spPr>
          <a:xfrm>
            <a:off x="612648" y="4773168"/>
            <a:ext cx="73152" cy="749808"/>
          </a:xfrm>
          <a:prstGeom prst="rect">
            <a:avLst/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alert">
            <a:extLst>
              <a:ext uri="{FF2B5EF4-FFF2-40B4-BE49-F238E27FC236}">
                <a16:creationId xmlns:a16="http://schemas.microsoft.com/office/drawing/2014/main" id="{FE67DBE2-2867-4B24-B8F1-0E033A9B4259}"/>
              </a:ext>
            </a:extLst>
          </p:cNvPr>
          <p:cNvSpPr>
            <a:spLocks noGrp="1"/>
          </p:cNvSpPr>
          <p:nvPr/>
        </p:nvSpPr>
        <p:spPr>
          <a:xfrm>
            <a:off x="896112" y="4846320"/>
            <a:ext cx="251460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50" b="1">
                <a:solidFill>
                  <a:srgbClr val="111318"/>
                </a:solidFill>
              </a:defRPr>
            </a:pPr>
            <a:r>
              <a:rPr lang="en-US" sz="1450" b="1">
                <a:solidFill>
                  <a:srgbClr val="111318"/>
                </a:solidFill>
              </a:rPr>
              <a:t>Renewal failed</a:t>
            </a:r>
          </a:p>
        </p:txBody>
      </p:sp>
      <p:sp>
        <p:nvSpPr>
          <p:cNvPr id="436" name="when">
            <a:extLst>
              <a:ext uri="{FF2B5EF4-FFF2-40B4-BE49-F238E27FC236}">
                <a16:creationId xmlns:a16="http://schemas.microsoft.com/office/drawing/2014/main" id="{F45B8A11-EE92-4934-8CF6-BF9245704D9D}"/>
              </a:ext>
            </a:extLst>
          </p:cNvPr>
          <p:cNvSpPr>
            <a:spLocks noGrp="1"/>
          </p:cNvSpPr>
          <p:nvPr/>
        </p:nvSpPr>
        <p:spPr>
          <a:xfrm>
            <a:off x="3474720" y="4846320"/>
            <a:ext cx="2514600" cy="603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1">
                <a:solidFill>
                  <a:srgbClr val="D94A4A"/>
                </a:solidFill>
              </a:defRPr>
            </a:pPr>
            <a:r>
              <a:rPr lang="en-US" sz="1150" b="1">
                <a:solidFill>
                  <a:srgbClr val="D94A4A"/>
                </a:solidFill>
              </a:rPr>
              <a:t>Immediately; escalate on retry</a:t>
            </a:r>
          </a:p>
        </p:txBody>
      </p:sp>
      <p:sp>
        <p:nvSpPr>
          <p:cNvPr id="437" name="desc">
            <a:extLst>
              <a:ext uri="{FF2B5EF4-FFF2-40B4-BE49-F238E27FC236}">
                <a16:creationId xmlns:a16="http://schemas.microsoft.com/office/drawing/2014/main" id="{3AF51B13-229B-492A-940D-A654165D6515}"/>
              </a:ext>
            </a:extLst>
          </p:cNvPr>
          <p:cNvSpPr>
            <a:spLocks noGrp="1"/>
          </p:cNvSpPr>
          <p:nvPr/>
        </p:nvSpPr>
        <p:spPr>
          <a:xfrm>
            <a:off x="6153912" y="4828032"/>
            <a:ext cx="507492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111318"/>
                </a:solidFill>
              </a:defRPr>
            </a:pPr>
            <a:r>
              <a:rPr lang="en-US" sz="1100" b="0">
                <a:solidFill>
                  <a:srgbClr val="111318"/>
                </a:solidFill>
              </a:rPr>
              <a:t>Teams incident card and email with failure stage, safe state, retry and runbook.</a:t>
            </a:r>
          </a:p>
        </p:txBody>
      </p:sp>
      <p:sp>
        <p:nvSpPr>
          <p:cNvPr id="438" name="channels">
            <a:extLst>
              <a:ext uri="{FF2B5EF4-FFF2-40B4-BE49-F238E27FC236}">
                <a16:creationId xmlns:a16="http://schemas.microsoft.com/office/drawing/2014/main" id="{B7FFBC79-88B5-4FE4-A061-5578EC665BD2}"/>
              </a:ext>
            </a:extLst>
          </p:cNvPr>
          <p:cNvSpPr>
            <a:spLocks noGrp="1"/>
          </p:cNvSpPr>
          <p:nvPr/>
        </p:nvSpPr>
        <p:spPr>
          <a:xfrm>
            <a:off x="6153912" y="5285232"/>
            <a:ext cx="33375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0">
                <a:solidFill>
                  <a:srgbClr val="5E6672"/>
                </a:solidFill>
              </a:defRPr>
            </a:pPr>
            <a:r>
              <a:rPr lang="en-US" sz="900" b="0">
                <a:solidFill>
                  <a:srgbClr val="5E6672"/>
                </a:solidFill>
              </a:rPr>
              <a:t>Microsoft Teams  +  Email</a:t>
            </a:r>
          </a:p>
        </p:txBody>
      </p:sp>
      <p:sp>
        <p:nvSpPr>
          <p:cNvPr id="439" name="rule">
            <a:extLst>
              <a:ext uri="{FF2B5EF4-FFF2-40B4-BE49-F238E27FC236}">
                <a16:creationId xmlns:a16="http://schemas.microsoft.com/office/drawing/2014/main" id="{63FC3D4A-7D36-48E9-ACD9-B3EEE9B7B59C}"/>
              </a:ext>
            </a:extLst>
          </p:cNvPr>
          <p:cNvSpPr>
            <a:spLocks noGrp="1"/>
          </p:cNvSpPr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400" b="1">
                <a:solidFill>
                  <a:srgbClr val="111318"/>
                </a:solidFill>
              </a:defRPr>
            </a:pPr>
            <a:r>
              <a:rPr lang="en-US" sz="1400" b="1">
                <a:solidFill>
                  <a:srgbClr val="111318"/>
                </a:solidFill>
              </a:rPr>
              <a:t>Success is announced only after device readback and live TLS verification — at the edge and at the origin. Delegation and expiry alerts never wait for a scan.</a:t>
            </a:r>
          </a:p>
        </p:txBody>
      </p:sp>
      <p:sp>
        <p:nvSpPr>
          <p:cNvPr id="440" name="lvl-label">
            <a:extLst>
              <a:ext uri="{FF2B5EF4-FFF2-40B4-BE49-F238E27FC236}">
                <a16:creationId xmlns:a16="http://schemas.microsoft.com/office/drawing/2014/main" id="{9117CFD0-E2CD-490B-BF1F-833CFD118969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2F80ED"/>
                </a:solidFill>
              </a:defRPr>
            </a:pPr>
            <a:r>
              <a:rPr lang="en-US" sz="900" b="1">
                <a:solidFill>
                  <a:srgbClr val="2F80ED"/>
                </a:solidFill>
              </a:rPr>
              <a:t>Reaches Level 3 · Defined</a:t>
            </a:r>
          </a:p>
        </p:txBody>
      </p:sp>
      <p:sp>
        <p:nvSpPr>
          <p:cNvPr id="441" name="lvl-block">
            <a:extLst>
              <a:ext uri="{FF2B5EF4-FFF2-40B4-BE49-F238E27FC236}">
                <a16:creationId xmlns:a16="http://schemas.microsoft.com/office/drawing/2014/main" id="{686FE6B8-3628-4B1C-B9EC-8B3BF0618CA9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lvl-block">
            <a:extLst>
              <a:ext uri="{FF2B5EF4-FFF2-40B4-BE49-F238E27FC236}">
                <a16:creationId xmlns:a16="http://schemas.microsoft.com/office/drawing/2014/main" id="{7F7165B9-D938-4DAF-80E8-0C13DCE15B0C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lvl-block">
            <a:extLst>
              <a:ext uri="{FF2B5EF4-FFF2-40B4-BE49-F238E27FC236}">
                <a16:creationId xmlns:a16="http://schemas.microsoft.com/office/drawing/2014/main" id="{A6C97B96-5C08-49D0-9388-D9B3D180CD29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lvl-block">
            <a:extLst>
              <a:ext uri="{FF2B5EF4-FFF2-40B4-BE49-F238E27FC236}">
                <a16:creationId xmlns:a16="http://schemas.microsoft.com/office/drawing/2014/main" id="{B102B63A-136C-465F-A8F5-82E2A61C89BC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lvl-block">
            <a:extLst>
              <a:ext uri="{FF2B5EF4-FFF2-40B4-BE49-F238E27FC236}">
                <a16:creationId xmlns:a16="http://schemas.microsoft.com/office/drawing/2014/main" id="{55F32A14-0CB5-4BAE-AB3B-21DB23371550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8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">
            <a:extLst>
              <a:ext uri="{FF2B5EF4-FFF2-40B4-BE49-F238E27FC236}">
                <a16:creationId xmlns:a16="http://schemas.microsoft.com/office/drawing/2014/main" id="{4E7682AE-9CB8-4CAA-9448-BBCC3877CBA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SECURITY &amp; GOVERNANCE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5E36005-CB05-43A5-A81D-8431B21BE88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 dirty="0">
                <a:solidFill>
                  <a:srgbClr val="111318"/>
                </a:solidFill>
              </a:rPr>
              <a:t>Automation must reduce certificate risk</a:t>
            </a:r>
            <a:r>
              <a:rPr lang="en-GB" sz="2550" b="1" dirty="0">
                <a:solidFill>
                  <a:srgbClr val="111318"/>
                </a:solidFill>
              </a:rPr>
              <a:t> - </a:t>
            </a:r>
            <a:r>
              <a:rPr sz="2550" b="1" dirty="0">
                <a:solidFill>
                  <a:srgbClr val="111318"/>
                </a:solidFill>
              </a:rPr>
              <a:t>not redistribute it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5E94D5A7-DB23-45D5-8297-0D8AC80A004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97343341-6FB9-4355-BBD5-52C82DEA9C25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18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B8E63E5-5F87-4445-91B4-03DFACD4301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6" name="gov-h">
            <a:extLst>
              <a:ext uri="{FF2B5EF4-FFF2-40B4-BE49-F238E27FC236}">
                <a16:creationId xmlns:a16="http://schemas.microsoft.com/office/drawing/2014/main" id="{BEB34E95-9721-4894-94A0-7F2C31DF466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Keys</a:t>
            </a:r>
          </a:p>
        </p:txBody>
      </p:sp>
      <p:sp>
        <p:nvSpPr>
          <p:cNvPr id="7" name="gov-b">
            <a:extLst>
              <a:ext uri="{FF2B5EF4-FFF2-40B4-BE49-F238E27FC236}">
                <a16:creationId xmlns:a16="http://schemas.microsoft.com/office/drawing/2014/main" id="{7EE6232C-A332-453B-8405-CB79E83177A4}"/>
              </a:ext>
            </a:extLst>
          </p:cNvPr>
          <p:cNvSpPr>
            <a:spLocks noGrp="1"/>
          </p:cNvSpPr>
          <p:nvPr/>
        </p:nvSpPr>
        <p:spPr>
          <a:xfrm>
            <a:off x="2133600" y="1590675"/>
            <a:ext cx="352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Kubernetes Secrets; memory only; never status or logs</a:t>
            </a: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9258FE5F-3F51-4888-9CAE-408AF16BEC57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49530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gov-h">
            <a:extLst>
              <a:ext uri="{FF2B5EF4-FFF2-40B4-BE49-F238E27FC236}">
                <a16:creationId xmlns:a16="http://schemas.microsoft.com/office/drawing/2014/main" id="{0C86A423-FED8-4B26-8151-61486A78A383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Identity</a:t>
            </a:r>
          </a:p>
        </p:txBody>
      </p:sp>
      <p:sp>
        <p:nvSpPr>
          <p:cNvPr id="10" name="gov-b">
            <a:extLst>
              <a:ext uri="{FF2B5EF4-FFF2-40B4-BE49-F238E27FC236}">
                <a16:creationId xmlns:a16="http://schemas.microsoft.com/office/drawing/2014/main" id="{3222ECE5-612A-4382-A8C0-4656F92BE3B5}"/>
              </a:ext>
            </a:extLst>
          </p:cNvPr>
          <p:cNvSpPr>
            <a:spLocks noGrp="1"/>
          </p:cNvSpPr>
          <p:nvPr/>
        </p:nvSpPr>
        <p:spPr>
          <a:xfrm>
            <a:off x="2133600" y="2562225"/>
            <a:ext cx="352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Per-controller device accounts and least privilege</a:t>
            </a:r>
          </a:p>
        </p:txBody>
      </p:sp>
      <p:sp>
        <p:nvSpPr>
          <p:cNvPr id="11" name="rule">
            <a:extLst>
              <a:ext uri="{FF2B5EF4-FFF2-40B4-BE49-F238E27FC236}">
                <a16:creationId xmlns:a16="http://schemas.microsoft.com/office/drawing/2014/main" id="{53FCF026-D8C4-4982-849D-718B6C742A9A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49530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gov-h">
            <a:extLst>
              <a:ext uri="{FF2B5EF4-FFF2-40B4-BE49-F238E27FC236}">
                <a16:creationId xmlns:a16="http://schemas.microsoft.com/office/drawing/2014/main" id="{8B9579FE-47A9-4D01-BF1A-888CCF3F7D22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Trust</a:t>
            </a:r>
          </a:p>
        </p:txBody>
      </p:sp>
      <p:sp>
        <p:nvSpPr>
          <p:cNvPr id="13" name="gov-b">
            <a:extLst>
              <a:ext uri="{FF2B5EF4-FFF2-40B4-BE49-F238E27FC236}">
                <a16:creationId xmlns:a16="http://schemas.microsoft.com/office/drawing/2014/main" id="{7FBA82E3-4041-497C-8E2D-89C20CAA0803}"/>
              </a:ext>
            </a:extLst>
          </p:cNvPr>
          <p:cNvSpPr>
            <a:spLocks noGrp="1"/>
          </p:cNvSpPr>
          <p:nvPr/>
        </p:nvSpPr>
        <p:spPr>
          <a:xfrm>
            <a:off x="2133600" y="3533775"/>
            <a:ext cx="352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Pinned management CA; no production TLS bypass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A582336C-D0C8-4F5D-A2B6-5A00FE43C1F8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9530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gov-h">
            <a:extLst>
              <a:ext uri="{FF2B5EF4-FFF2-40B4-BE49-F238E27FC236}">
                <a16:creationId xmlns:a16="http://schemas.microsoft.com/office/drawing/2014/main" id="{D9671D94-82BF-4254-A63D-04797DC413A7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Idempotency</a:t>
            </a:r>
          </a:p>
        </p:txBody>
      </p:sp>
      <p:sp>
        <p:nvSpPr>
          <p:cNvPr id="16" name="gov-b">
            <a:extLst>
              <a:ext uri="{FF2B5EF4-FFF2-40B4-BE49-F238E27FC236}">
                <a16:creationId xmlns:a16="http://schemas.microsoft.com/office/drawing/2014/main" id="{60C533B4-2D2B-4A9D-ABC8-BA127E06BE22}"/>
              </a:ext>
            </a:extLst>
          </p:cNvPr>
          <p:cNvSpPr>
            <a:spLocks noGrp="1"/>
          </p:cNvSpPr>
          <p:nvPr/>
        </p:nvSpPr>
        <p:spPr>
          <a:xfrm>
            <a:off x="2133600" y="4505325"/>
            <a:ext cx="352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Immutable names derived from certificate fingerprint</a:t>
            </a:r>
          </a:p>
        </p:txBody>
      </p:sp>
      <p:sp>
        <p:nvSpPr>
          <p:cNvPr id="17" name="rule">
            <a:extLst>
              <a:ext uri="{FF2B5EF4-FFF2-40B4-BE49-F238E27FC236}">
                <a16:creationId xmlns:a16="http://schemas.microsoft.com/office/drawing/2014/main" id="{311A88F7-8465-407F-9578-18AA5316C0F9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49530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gov-h">
            <a:extLst>
              <a:ext uri="{FF2B5EF4-FFF2-40B4-BE49-F238E27FC236}">
                <a16:creationId xmlns:a16="http://schemas.microsoft.com/office/drawing/2014/main" id="{ABE612E3-64C1-453C-A872-7D3F3E317A76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Concurrency</a:t>
            </a:r>
          </a:p>
        </p:txBody>
      </p:sp>
      <p:sp>
        <p:nvSpPr>
          <p:cNvPr id="19" name="gov-b">
            <a:extLst>
              <a:ext uri="{FF2B5EF4-FFF2-40B4-BE49-F238E27FC236}">
                <a16:creationId xmlns:a16="http://schemas.microsoft.com/office/drawing/2014/main" id="{C7C97EE3-FBE7-4B58-BE33-BC48C6968BEF}"/>
              </a:ext>
            </a:extLst>
          </p:cNvPr>
          <p:cNvSpPr>
            <a:spLocks noGrp="1"/>
          </p:cNvSpPr>
          <p:nvPr/>
        </p:nvSpPr>
        <p:spPr>
          <a:xfrm>
            <a:off x="7658100" y="1590675"/>
            <a:ext cx="352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One lock per target and binding</a:t>
            </a: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4DBF0A54-9C6B-4C95-AEDE-F02EE184959A}"/>
              </a:ext>
            </a:extLst>
          </p:cNvPr>
          <p:cNvSpPr>
            <a:spLocks noGrp="1"/>
          </p:cNvSpPr>
          <p:nvPr/>
        </p:nvSpPr>
        <p:spPr>
          <a:xfrm>
            <a:off x="6134100" y="2305050"/>
            <a:ext cx="49530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gov-h">
            <a:extLst>
              <a:ext uri="{FF2B5EF4-FFF2-40B4-BE49-F238E27FC236}">
                <a16:creationId xmlns:a16="http://schemas.microsoft.com/office/drawing/2014/main" id="{C7B1F680-C8E3-4A54-A0FD-ACF9583B0D34}"/>
              </a:ext>
            </a:extLst>
          </p:cNvPr>
          <p:cNvSpPr>
            <a:spLocks noGrp="1"/>
          </p:cNvSpPr>
          <p:nvPr/>
        </p:nvSpPr>
        <p:spPr>
          <a:xfrm>
            <a:off x="6134100" y="2590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Rollback</a:t>
            </a:r>
          </a:p>
        </p:txBody>
      </p:sp>
      <p:sp>
        <p:nvSpPr>
          <p:cNvPr id="22" name="gov-b">
            <a:extLst>
              <a:ext uri="{FF2B5EF4-FFF2-40B4-BE49-F238E27FC236}">
                <a16:creationId xmlns:a16="http://schemas.microsoft.com/office/drawing/2014/main" id="{367EB641-4378-4BF7-B7A0-AD09B02FC38B}"/>
              </a:ext>
            </a:extLst>
          </p:cNvPr>
          <p:cNvSpPr>
            <a:spLocks noGrp="1"/>
          </p:cNvSpPr>
          <p:nvPr/>
        </p:nvSpPr>
        <p:spPr>
          <a:xfrm>
            <a:off x="7658100" y="2562225"/>
            <a:ext cx="352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Retain last-known-good until verification settles</a:t>
            </a:r>
          </a:p>
        </p:txBody>
      </p:sp>
      <p:sp>
        <p:nvSpPr>
          <p:cNvPr id="23" name="rule">
            <a:extLst>
              <a:ext uri="{FF2B5EF4-FFF2-40B4-BE49-F238E27FC236}">
                <a16:creationId xmlns:a16="http://schemas.microsoft.com/office/drawing/2014/main" id="{CA73475F-0F1A-408E-A73A-1FA61BC17820}"/>
              </a:ext>
            </a:extLst>
          </p:cNvPr>
          <p:cNvSpPr>
            <a:spLocks noGrp="1"/>
          </p:cNvSpPr>
          <p:nvPr/>
        </p:nvSpPr>
        <p:spPr>
          <a:xfrm>
            <a:off x="6134100" y="3276600"/>
            <a:ext cx="49530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gov-h">
            <a:extLst>
              <a:ext uri="{FF2B5EF4-FFF2-40B4-BE49-F238E27FC236}">
                <a16:creationId xmlns:a16="http://schemas.microsoft.com/office/drawing/2014/main" id="{5C9ED5D5-61D6-4CB1-84CA-EEF494C6EE01}"/>
              </a:ext>
            </a:extLst>
          </p:cNvPr>
          <p:cNvSpPr>
            <a:spLocks noGrp="1"/>
          </p:cNvSpPr>
          <p:nvPr/>
        </p:nvSpPr>
        <p:spPr>
          <a:xfrm>
            <a:off x="6134100" y="35623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Deletion</a:t>
            </a:r>
          </a:p>
        </p:txBody>
      </p:sp>
      <p:sp>
        <p:nvSpPr>
          <p:cNvPr id="25" name="gov-b">
            <a:extLst>
              <a:ext uri="{FF2B5EF4-FFF2-40B4-BE49-F238E27FC236}">
                <a16:creationId xmlns:a16="http://schemas.microsoft.com/office/drawing/2014/main" id="{D3241EF3-A536-4DAA-BDDE-2E45EBDB5B30}"/>
              </a:ext>
            </a:extLst>
          </p:cNvPr>
          <p:cNvSpPr>
            <a:spLocks noGrp="1"/>
          </p:cNvSpPr>
          <p:nvPr/>
        </p:nvSpPr>
        <p:spPr>
          <a:xfrm>
            <a:off x="7658100" y="3533775"/>
            <a:ext cx="352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Finalizer plus orphan policy; never delete live references</a:t>
            </a:r>
          </a:p>
        </p:txBody>
      </p:sp>
      <p:sp>
        <p:nvSpPr>
          <p:cNvPr id="26" name="rule">
            <a:extLst>
              <a:ext uri="{FF2B5EF4-FFF2-40B4-BE49-F238E27FC236}">
                <a16:creationId xmlns:a16="http://schemas.microsoft.com/office/drawing/2014/main" id="{780B2EE7-AC1D-4A32-A7CA-C31982BBEF92}"/>
              </a:ext>
            </a:extLst>
          </p:cNvPr>
          <p:cNvSpPr>
            <a:spLocks noGrp="1"/>
          </p:cNvSpPr>
          <p:nvPr/>
        </p:nvSpPr>
        <p:spPr>
          <a:xfrm>
            <a:off x="6134100" y="4248150"/>
            <a:ext cx="49530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gov-h">
            <a:extLst>
              <a:ext uri="{FF2B5EF4-FFF2-40B4-BE49-F238E27FC236}">
                <a16:creationId xmlns:a16="http://schemas.microsoft.com/office/drawing/2014/main" id="{598403CC-BE0E-44BF-9682-38230D476275}"/>
              </a:ext>
            </a:extLst>
          </p:cNvPr>
          <p:cNvSpPr>
            <a:spLocks noGrp="1"/>
          </p:cNvSpPr>
          <p:nvPr/>
        </p:nvSpPr>
        <p:spPr>
          <a:xfrm>
            <a:off x="6134100" y="4533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Evidence</a:t>
            </a:r>
          </a:p>
        </p:txBody>
      </p:sp>
      <p:sp>
        <p:nvSpPr>
          <p:cNvPr id="28" name="gov-b">
            <a:extLst>
              <a:ext uri="{FF2B5EF4-FFF2-40B4-BE49-F238E27FC236}">
                <a16:creationId xmlns:a16="http://schemas.microsoft.com/office/drawing/2014/main" id="{28D5038D-2504-4EF4-932C-7857646922C4}"/>
              </a:ext>
            </a:extLst>
          </p:cNvPr>
          <p:cNvSpPr>
            <a:spLocks noGrp="1"/>
          </p:cNvSpPr>
          <p:nvPr/>
        </p:nvSpPr>
        <p:spPr>
          <a:xfrm>
            <a:off x="7658100" y="4505325"/>
            <a:ext cx="352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Events, fingerprints, API receipts and external probes</a:t>
            </a:r>
          </a:p>
        </p:txBody>
      </p:sp>
      <p:sp>
        <p:nvSpPr>
          <p:cNvPr id="29" name="rule">
            <a:extLst>
              <a:ext uri="{FF2B5EF4-FFF2-40B4-BE49-F238E27FC236}">
                <a16:creationId xmlns:a16="http://schemas.microsoft.com/office/drawing/2014/main" id="{CDA7C73C-0F27-41D0-8D7B-73783E8BA0DB}"/>
              </a:ext>
            </a:extLst>
          </p:cNvPr>
          <p:cNvSpPr>
            <a:spLocks noGrp="1"/>
          </p:cNvSpPr>
          <p:nvPr/>
        </p:nvSpPr>
        <p:spPr>
          <a:xfrm>
            <a:off x="6134100" y="5219700"/>
            <a:ext cx="49530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21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icker">
            <a:extLst>
              <a:ext uri="{FF2B5EF4-FFF2-40B4-BE49-F238E27FC236}">
                <a16:creationId xmlns:a16="http://schemas.microsoft.com/office/drawing/2014/main" id="{4F6B4555-F7A7-470F-9BF2-A57D64540D2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WHY DCOPS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813687C-2F90-489A-AB3B-821E9A7458F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GitOps supplies the missing operating discipline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7852D8A4-A867-4046-A36D-6FCB082765F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5608F343-6F3E-4E5B-80E8-AA1E7A31EC3C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19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73FF2DF-D1D2-40A1-B466-10A2D8E876A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6" name="comp-h">
            <a:extLst>
              <a:ext uri="{FF2B5EF4-FFF2-40B4-BE49-F238E27FC236}">
                <a16:creationId xmlns:a16="http://schemas.microsoft.com/office/drawing/2014/main" id="{0D5DA50E-193A-4448-AE93-2957DABE4D54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318"/>
                </a:solidFill>
              </a:defRPr>
            </a:pPr>
            <a:r>
              <a:rPr sz="1875" b="1">
                <a:solidFill>
                  <a:srgbClr val="111318"/>
                </a:solidFill>
              </a:rPr>
              <a:t>Traditional device automation</a:t>
            </a:r>
          </a:p>
        </p:txBody>
      </p:sp>
      <p:sp>
        <p:nvSpPr>
          <p:cNvPr id="7" name="comp-h">
            <a:extLst>
              <a:ext uri="{FF2B5EF4-FFF2-40B4-BE49-F238E27FC236}">
                <a16:creationId xmlns:a16="http://schemas.microsoft.com/office/drawing/2014/main" id="{00EAA7E3-A0FC-4E94-8C97-BFC58186EAEE}"/>
              </a:ext>
            </a:extLst>
          </p:cNvPr>
          <p:cNvSpPr>
            <a:spLocks noGrp="1"/>
          </p:cNvSpPr>
          <p:nvPr/>
        </p:nvSpPr>
        <p:spPr>
          <a:xfrm>
            <a:off x="6286500" y="15621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F80ED"/>
                </a:solidFill>
              </a:defRPr>
            </a:pPr>
            <a:r>
              <a:rPr sz="1875" b="1">
                <a:solidFill>
                  <a:srgbClr val="2F80ED"/>
                </a:solidFill>
              </a:rPr>
              <a:t>DCops reconciliation</a:t>
            </a: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33809B36-A6B7-4635-83F6-F97BC61F58BC}"/>
              </a:ext>
            </a:extLst>
          </p:cNvPr>
          <p:cNvSpPr>
            <a:spLocks noGrp="1"/>
          </p:cNvSpPr>
          <p:nvPr/>
        </p:nvSpPr>
        <p:spPr>
          <a:xfrm>
            <a:off x="6096000" y="1504950"/>
            <a:ext cx="9525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898866B5-1BC0-4DD2-835E-E7D0641737E9}"/>
              </a:ext>
            </a:extLst>
          </p:cNvPr>
          <p:cNvSpPr>
            <a:spLocks noGrp="1"/>
          </p:cNvSpPr>
          <p:nvPr/>
        </p:nvSpPr>
        <p:spPr>
          <a:xfrm>
            <a:off x="6086475" y="1504950"/>
            <a:ext cx="19050" cy="419100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ld">
            <a:extLst>
              <a:ext uri="{FF2B5EF4-FFF2-40B4-BE49-F238E27FC236}">
                <a16:creationId xmlns:a16="http://schemas.microsoft.com/office/drawing/2014/main" id="{5C01DAAF-D756-486C-A9D4-8EB23720797C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672"/>
                </a:solidFill>
              </a:defRPr>
            </a:pPr>
            <a:r>
              <a:rPr sz="1275" b="0">
                <a:solidFill>
                  <a:srgbClr val="5E6672"/>
                </a:solidFill>
              </a:rPr>
              <a:t>Run a script when someone remembers</a:t>
            </a:r>
          </a:p>
        </p:txBody>
      </p:sp>
      <p:sp>
        <p:nvSpPr>
          <p:cNvPr id="11" name="new">
            <a:extLst>
              <a:ext uri="{FF2B5EF4-FFF2-40B4-BE49-F238E27FC236}">
                <a16:creationId xmlns:a16="http://schemas.microsoft.com/office/drawing/2014/main" id="{29B4DF94-9081-4E4A-BAF0-E081072F5219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Continuously converge desired and observed state</a:t>
            </a:r>
          </a:p>
        </p:txBody>
      </p:sp>
      <p:sp>
        <p:nvSpPr>
          <p:cNvPr id="12" name="old">
            <a:extLst>
              <a:ext uri="{FF2B5EF4-FFF2-40B4-BE49-F238E27FC236}">
                <a16:creationId xmlns:a16="http://schemas.microsoft.com/office/drawing/2014/main" id="{C5B0802A-3B3C-467E-BA39-1114532B210E}"/>
              </a:ext>
            </a:extLst>
          </p:cNvPr>
          <p:cNvSpPr>
            <a:spLocks noGrp="1"/>
          </p:cNvSpPr>
          <p:nvPr/>
        </p:nvSpPr>
        <p:spPr>
          <a:xfrm>
            <a:off x="800100" y="269557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672"/>
                </a:solidFill>
              </a:defRPr>
            </a:pPr>
            <a:r>
              <a:rPr sz="1275" b="0">
                <a:solidFill>
                  <a:srgbClr val="5E6672"/>
                </a:solidFill>
              </a:rPr>
              <a:t>Success means the command returned zero</a:t>
            </a:r>
          </a:p>
        </p:txBody>
      </p:sp>
      <p:sp>
        <p:nvSpPr>
          <p:cNvPr id="13" name="new">
            <a:extLst>
              <a:ext uri="{FF2B5EF4-FFF2-40B4-BE49-F238E27FC236}">
                <a16:creationId xmlns:a16="http://schemas.microsoft.com/office/drawing/2014/main" id="{2C61E553-75C5-4158-BCB9-375DC50D4C89}"/>
              </a:ext>
            </a:extLst>
          </p:cNvPr>
          <p:cNvSpPr>
            <a:spLocks noGrp="1"/>
          </p:cNvSpPr>
          <p:nvPr/>
        </p:nvSpPr>
        <p:spPr>
          <a:xfrm>
            <a:off x="6477000" y="269557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Success means the live service presents the intended certificate</a:t>
            </a:r>
          </a:p>
        </p:txBody>
      </p:sp>
      <p:sp>
        <p:nvSpPr>
          <p:cNvPr id="14" name="old">
            <a:extLst>
              <a:ext uri="{FF2B5EF4-FFF2-40B4-BE49-F238E27FC236}">
                <a16:creationId xmlns:a16="http://schemas.microsoft.com/office/drawing/2014/main" id="{32B0D5F3-1BE9-4EFC-B7B9-2D5D9BABD5B8}"/>
              </a:ext>
            </a:extLst>
          </p:cNvPr>
          <p:cNvSpPr>
            <a:spLocks noGrp="1"/>
          </p:cNvSpPr>
          <p:nvPr/>
        </p:nvSpPr>
        <p:spPr>
          <a:xfrm>
            <a:off x="800100" y="32575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672"/>
                </a:solidFill>
              </a:defRPr>
            </a:pPr>
            <a:r>
              <a:rPr sz="1275" b="0">
                <a:solidFill>
                  <a:srgbClr val="5E6672"/>
                </a:solidFill>
              </a:rPr>
              <a:t>Changes live in tickets and operator memory</a:t>
            </a:r>
          </a:p>
        </p:txBody>
      </p:sp>
      <p:sp>
        <p:nvSpPr>
          <p:cNvPr id="15" name="new">
            <a:extLst>
              <a:ext uri="{FF2B5EF4-FFF2-40B4-BE49-F238E27FC236}">
                <a16:creationId xmlns:a16="http://schemas.microsoft.com/office/drawing/2014/main" id="{06835D89-7D0B-440E-A1EE-1C3A0918F784}"/>
              </a:ext>
            </a:extLst>
          </p:cNvPr>
          <p:cNvSpPr>
            <a:spLocks noGrp="1"/>
          </p:cNvSpPr>
          <p:nvPr/>
        </p:nvSpPr>
        <p:spPr>
          <a:xfrm>
            <a:off x="6477000" y="32575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Intent, approvals and rollback live in Git</a:t>
            </a:r>
          </a:p>
        </p:txBody>
      </p:sp>
      <p:sp>
        <p:nvSpPr>
          <p:cNvPr id="16" name="old">
            <a:extLst>
              <a:ext uri="{FF2B5EF4-FFF2-40B4-BE49-F238E27FC236}">
                <a16:creationId xmlns:a16="http://schemas.microsoft.com/office/drawing/2014/main" id="{6F491056-5D60-4CE3-8560-F5372B657D9B}"/>
              </a:ext>
            </a:extLst>
          </p:cNvPr>
          <p:cNvSpPr>
            <a:spLocks noGrp="1"/>
          </p:cNvSpPr>
          <p:nvPr/>
        </p:nvSpPr>
        <p:spPr>
          <a:xfrm>
            <a:off x="800100" y="38195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672"/>
                </a:solidFill>
              </a:defRPr>
            </a:pPr>
            <a:r>
              <a:rPr sz="1275" b="0">
                <a:solidFill>
                  <a:srgbClr val="5E6672"/>
                </a:solidFill>
              </a:rPr>
              <a:t>Vendor workflows leak into every runbook</a:t>
            </a:r>
          </a:p>
        </p:txBody>
      </p:sp>
      <p:sp>
        <p:nvSpPr>
          <p:cNvPr id="17" name="new">
            <a:extLst>
              <a:ext uri="{FF2B5EF4-FFF2-40B4-BE49-F238E27FC236}">
                <a16:creationId xmlns:a16="http://schemas.microsoft.com/office/drawing/2014/main" id="{21316E8A-D676-4A25-B835-2D2F728F0128}"/>
              </a:ext>
            </a:extLst>
          </p:cNvPr>
          <p:cNvSpPr>
            <a:spLocks noGrp="1"/>
          </p:cNvSpPr>
          <p:nvPr/>
        </p:nvSpPr>
        <p:spPr>
          <a:xfrm>
            <a:off x="6477000" y="38195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Adapters absorb vendor-specific semantics</a:t>
            </a:r>
          </a:p>
        </p:txBody>
      </p:sp>
      <p:sp>
        <p:nvSpPr>
          <p:cNvPr id="18" name="old">
            <a:extLst>
              <a:ext uri="{FF2B5EF4-FFF2-40B4-BE49-F238E27FC236}">
                <a16:creationId xmlns:a16="http://schemas.microsoft.com/office/drawing/2014/main" id="{175EFA14-BB9B-4D55-A1F5-B9303994E02F}"/>
              </a:ext>
            </a:extLst>
          </p:cNvPr>
          <p:cNvSpPr>
            <a:spLocks noGrp="1"/>
          </p:cNvSpPr>
          <p:nvPr/>
        </p:nvSpPr>
        <p:spPr>
          <a:xfrm>
            <a:off x="800100" y="43815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672"/>
                </a:solidFill>
              </a:defRPr>
            </a:pPr>
            <a:r>
              <a:rPr sz="1275" b="0">
                <a:solidFill>
                  <a:srgbClr val="5E6672"/>
                </a:solidFill>
              </a:rPr>
              <a:t>Drift is discovered during incidents</a:t>
            </a:r>
          </a:p>
        </p:txBody>
      </p:sp>
      <p:sp>
        <p:nvSpPr>
          <p:cNvPr id="19" name="new">
            <a:extLst>
              <a:ext uri="{FF2B5EF4-FFF2-40B4-BE49-F238E27FC236}">
                <a16:creationId xmlns:a16="http://schemas.microsoft.com/office/drawing/2014/main" id="{79EBB93E-7484-4959-9428-A112924C1429}"/>
              </a:ext>
            </a:extLst>
          </p:cNvPr>
          <p:cNvSpPr>
            <a:spLocks noGrp="1"/>
          </p:cNvSpPr>
          <p:nvPr/>
        </p:nvSpPr>
        <p:spPr>
          <a:xfrm>
            <a:off x="6477000" y="43815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Drift becomes visible and actionable</a:t>
            </a:r>
          </a:p>
        </p:txBody>
      </p:sp>
      <p:sp>
        <p:nvSpPr>
          <p:cNvPr id="20" name="old">
            <a:extLst>
              <a:ext uri="{FF2B5EF4-FFF2-40B4-BE49-F238E27FC236}">
                <a16:creationId xmlns:a16="http://schemas.microsoft.com/office/drawing/2014/main" id="{310CE4CA-DB02-4831-A2DB-3CF73B8B9A48}"/>
              </a:ext>
            </a:extLst>
          </p:cNvPr>
          <p:cNvSpPr>
            <a:spLocks noGrp="1"/>
          </p:cNvSpPr>
          <p:nvPr/>
        </p:nvSpPr>
        <p:spPr>
          <a:xfrm>
            <a:off x="800100" y="494347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672"/>
                </a:solidFill>
              </a:defRPr>
            </a:pPr>
            <a:r>
              <a:rPr sz="1275" b="0">
                <a:solidFill>
                  <a:srgbClr val="5E6672"/>
                </a:solidFill>
              </a:rPr>
              <a:t>Credentials and logs vary by script</a:t>
            </a:r>
          </a:p>
        </p:txBody>
      </p:sp>
      <p:sp>
        <p:nvSpPr>
          <p:cNvPr id="21" name="new">
            <a:extLst>
              <a:ext uri="{FF2B5EF4-FFF2-40B4-BE49-F238E27FC236}">
                <a16:creationId xmlns:a16="http://schemas.microsoft.com/office/drawing/2014/main" id="{704BA2C8-88F3-4318-9EB4-165D0897525A}"/>
              </a:ext>
            </a:extLst>
          </p:cNvPr>
          <p:cNvSpPr>
            <a:spLocks noGrp="1"/>
          </p:cNvSpPr>
          <p:nvPr/>
        </p:nvSpPr>
        <p:spPr>
          <a:xfrm>
            <a:off x="6477000" y="494347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11318"/>
                </a:solidFill>
              </a:defRPr>
            </a:pPr>
            <a:r>
              <a:rPr sz="1275" b="1">
                <a:solidFill>
                  <a:srgbClr val="111318"/>
                </a:solidFill>
              </a:rPr>
              <a:t>One security, event and status model</a:t>
            </a:r>
          </a:p>
        </p:txBody>
      </p:sp>
      <p:sp>
        <p:nvSpPr>
          <p:cNvPr id="22" name="claim">
            <a:extLst>
              <a:ext uri="{FF2B5EF4-FFF2-40B4-BE49-F238E27FC236}">
                <a16:creationId xmlns:a16="http://schemas.microsoft.com/office/drawing/2014/main" id="{AC958167-E566-4C49-81ED-33F53D79392F}"/>
              </a:ext>
            </a:extLst>
          </p:cNvPr>
          <p:cNvSpPr>
            <a:spLocks noGrp="1"/>
          </p:cNvSpPr>
          <p:nvPr/>
        </p:nvSpPr>
        <p:spPr>
          <a:xfrm>
            <a:off x="6477000" y="5676900"/>
            <a:ext cx="4762500" cy="40005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claim-t">
            <a:extLst>
              <a:ext uri="{FF2B5EF4-FFF2-40B4-BE49-F238E27FC236}">
                <a16:creationId xmlns:a16="http://schemas.microsoft.com/office/drawing/2014/main" id="{EB1CC57B-E9D0-43E0-B73B-85562CFD896D}"/>
              </a:ext>
            </a:extLst>
          </p:cNvPr>
          <p:cNvSpPr>
            <a:spLocks noGrp="1"/>
          </p:cNvSpPr>
          <p:nvPr/>
        </p:nvSpPr>
        <p:spPr>
          <a:xfrm>
            <a:off x="6610350" y="5724525"/>
            <a:ext cx="449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Git declares intent. DCops makes it true.</a:t>
            </a:r>
          </a:p>
        </p:txBody>
      </p:sp>
    </p:spTree>
    <p:extLst>
      <p:ext uri="{BB962C8B-B14F-4D97-AF65-F5344CB8AC3E}">
        <p14:creationId xmlns:p14="http://schemas.microsoft.com/office/powerpoint/2010/main" val="220584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">
            <a:extLst>
              <a:ext uri="{FF2B5EF4-FFF2-40B4-BE49-F238E27FC236}">
                <a16:creationId xmlns:a16="http://schemas.microsoft.com/office/drawing/2014/main" id="{81BAFC04-1B2B-4506-ABB6-DB4D62322AC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sz="900" b="1">
                <a:solidFill>
                  <a:srgbClr val="5E6672"/>
                </a:solidFill>
              </a:rPr>
              <a:t>DELIVERY ROADMAP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1EBA5AE-7EED-4298-B8C1-0ED37EEAD655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Start with both registers, prove each level, then expand by platform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684295CC-BFC4-4107-ACEC-54E60E5F7B3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9525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76DB8A3E-1881-4907-8E3E-39CD60DDDF83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21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5C7252B-9829-4E9F-BBCC-A9DEBA23E56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6" name="connector">
            <a:extLst>
              <a:ext uri="{FF2B5EF4-FFF2-40B4-BE49-F238E27FC236}">
                <a16:creationId xmlns:a16="http://schemas.microsoft.com/office/drawing/2014/main" id="{B9C0FF62-3C60-4D2D-93DA-D12C9CE91FF7}"/>
              </a:ext>
            </a:extLst>
          </p:cNvPr>
          <p:cNvSpPr>
            <a:spLocks noGrp="1"/>
          </p:cNvSpPr>
          <p:nvPr/>
        </p:nvSpPr>
        <p:spPr>
          <a:xfrm>
            <a:off x="2381250" y="3033712"/>
            <a:ext cx="571500" cy="9525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nnector">
            <a:extLst>
              <a:ext uri="{FF2B5EF4-FFF2-40B4-BE49-F238E27FC236}">
                <a16:creationId xmlns:a16="http://schemas.microsoft.com/office/drawing/2014/main" id="{AE2370D2-D4FB-4F0D-9746-BB878E7DAAD8}"/>
              </a:ext>
            </a:extLst>
          </p:cNvPr>
          <p:cNvSpPr>
            <a:spLocks noGrp="1"/>
          </p:cNvSpPr>
          <p:nvPr/>
        </p:nvSpPr>
        <p:spPr>
          <a:xfrm>
            <a:off x="4572000" y="3033712"/>
            <a:ext cx="571500" cy="9525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nnector">
            <a:extLst>
              <a:ext uri="{FF2B5EF4-FFF2-40B4-BE49-F238E27FC236}">
                <a16:creationId xmlns:a16="http://schemas.microsoft.com/office/drawing/2014/main" id="{E576BBC2-C8D0-45E2-9BDA-0A47A859CF0B}"/>
              </a:ext>
            </a:extLst>
          </p:cNvPr>
          <p:cNvSpPr>
            <a:spLocks noGrp="1"/>
          </p:cNvSpPr>
          <p:nvPr/>
        </p:nvSpPr>
        <p:spPr>
          <a:xfrm>
            <a:off x="6762750" y="3043237"/>
            <a:ext cx="571500" cy="9525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nnector">
            <a:extLst>
              <a:ext uri="{FF2B5EF4-FFF2-40B4-BE49-F238E27FC236}">
                <a16:creationId xmlns:a16="http://schemas.microsoft.com/office/drawing/2014/main" id="{0A7AE3C6-E5B1-49D3-AB64-051961812098}"/>
              </a:ext>
            </a:extLst>
          </p:cNvPr>
          <p:cNvSpPr>
            <a:spLocks noGrp="1"/>
          </p:cNvSpPr>
          <p:nvPr/>
        </p:nvSpPr>
        <p:spPr>
          <a:xfrm>
            <a:off x="8972550" y="3057430"/>
            <a:ext cx="571500" cy="9525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hase">
            <a:extLst>
              <a:ext uri="{FF2B5EF4-FFF2-40B4-BE49-F238E27FC236}">
                <a16:creationId xmlns:a16="http://schemas.microsoft.com/office/drawing/2014/main" id="{A8ADE06B-E747-4E9B-9E68-F29C181329B0}"/>
              </a:ext>
            </a:extLst>
          </p:cNvPr>
          <p:cNvSpPr>
            <a:spLocks noGrp="1"/>
          </p:cNvSpPr>
          <p:nvPr/>
        </p:nvSpPr>
        <p:spPr>
          <a:xfrm>
            <a:off x="1200150" y="2667000"/>
            <a:ext cx="742950" cy="74295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hase-n">
            <a:extLst>
              <a:ext uri="{FF2B5EF4-FFF2-40B4-BE49-F238E27FC236}">
                <a16:creationId xmlns:a16="http://schemas.microsoft.com/office/drawing/2014/main" id="{F0E9F591-5C1F-48A7-B18D-2F6FA39678B1}"/>
              </a:ext>
            </a:extLst>
          </p:cNvPr>
          <p:cNvSpPr>
            <a:spLocks noGrp="1"/>
          </p:cNvSpPr>
          <p:nvPr/>
        </p:nvSpPr>
        <p:spPr>
          <a:xfrm>
            <a:off x="1200150" y="2819400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phase-h">
            <a:extLst>
              <a:ext uri="{FF2B5EF4-FFF2-40B4-BE49-F238E27FC236}">
                <a16:creationId xmlns:a16="http://schemas.microsoft.com/office/drawing/2014/main" id="{941D16A9-F30A-4C5A-89EA-79B88DAE6466}"/>
              </a:ext>
            </a:extLst>
          </p:cNvPr>
          <p:cNvSpPr>
            <a:spLocks noGrp="1"/>
          </p:cNvSpPr>
          <p:nvPr/>
        </p:nvSpPr>
        <p:spPr>
          <a:xfrm>
            <a:off x="590550" y="367665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Foundation</a:t>
            </a:r>
          </a:p>
        </p:txBody>
      </p:sp>
      <p:sp>
        <p:nvSpPr>
          <p:cNvPr id="13" name="phase-b">
            <a:extLst>
              <a:ext uri="{FF2B5EF4-FFF2-40B4-BE49-F238E27FC236}">
                <a16:creationId xmlns:a16="http://schemas.microsoft.com/office/drawing/2014/main" id="{45C3E828-3F61-4A4E-BD3A-D7D56ADAFAE2}"/>
              </a:ext>
            </a:extLst>
          </p:cNvPr>
          <p:cNvSpPr>
            <a:spLocks noGrp="1"/>
          </p:cNvSpPr>
          <p:nvPr/>
        </p:nvSpPr>
        <p:spPr>
          <a:xfrm>
            <a:off x="590550" y="4057650"/>
            <a:ext cx="1962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Approve scope; consolidate registrars onto one with an API; build the register and reporting foundations</a:t>
            </a:r>
          </a:p>
        </p:txBody>
      </p:sp>
      <p:sp>
        <p:nvSpPr>
          <p:cNvPr id="14" name="phase">
            <a:extLst>
              <a:ext uri="{FF2B5EF4-FFF2-40B4-BE49-F238E27FC236}">
                <a16:creationId xmlns:a16="http://schemas.microsoft.com/office/drawing/2014/main" id="{95540EF1-F16C-4BAD-9ADA-489D21043CAC}"/>
              </a:ext>
            </a:extLst>
          </p:cNvPr>
          <p:cNvSpPr>
            <a:spLocks noGrp="1"/>
          </p:cNvSpPr>
          <p:nvPr/>
        </p:nvSpPr>
        <p:spPr>
          <a:xfrm>
            <a:off x="3390900" y="2667000"/>
            <a:ext cx="742950" cy="74295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phase-n">
            <a:extLst>
              <a:ext uri="{FF2B5EF4-FFF2-40B4-BE49-F238E27FC236}">
                <a16:creationId xmlns:a16="http://schemas.microsoft.com/office/drawing/2014/main" id="{A0518E62-4ACA-4D4C-8297-0995D1E35BB8}"/>
              </a:ext>
            </a:extLst>
          </p:cNvPr>
          <p:cNvSpPr>
            <a:spLocks noGrp="1"/>
          </p:cNvSpPr>
          <p:nvPr/>
        </p:nvSpPr>
        <p:spPr>
          <a:xfrm>
            <a:off x="3390900" y="2819400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phase-h">
            <a:extLst>
              <a:ext uri="{FF2B5EF4-FFF2-40B4-BE49-F238E27FC236}">
                <a16:creationId xmlns:a16="http://schemas.microsoft.com/office/drawing/2014/main" id="{1A6F68ED-9D8E-4A81-AFA4-4D745C4EB0BE}"/>
              </a:ext>
            </a:extLst>
          </p:cNvPr>
          <p:cNvSpPr>
            <a:spLocks noGrp="1"/>
          </p:cNvSpPr>
          <p:nvPr/>
        </p:nvSpPr>
        <p:spPr>
          <a:xfrm>
            <a:off x="2781300" y="367665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Register</a:t>
            </a:r>
          </a:p>
        </p:txBody>
      </p:sp>
      <p:sp>
        <p:nvSpPr>
          <p:cNvPr id="17" name="phase-b">
            <a:extLst>
              <a:ext uri="{FF2B5EF4-FFF2-40B4-BE49-F238E27FC236}">
                <a16:creationId xmlns:a16="http://schemas.microsoft.com/office/drawing/2014/main" id="{33332FCC-69EF-47D6-9F43-6E40A385AD48}"/>
              </a:ext>
            </a:extLst>
          </p:cNvPr>
          <p:cNvSpPr>
            <a:spLocks noGrp="1"/>
          </p:cNvSpPr>
          <p:nvPr/>
        </p:nvSpPr>
        <p:spPr>
          <a:xfrm>
            <a:off x="2781300" y="4057650"/>
            <a:ext cx="1962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Load the scan and the registrar export, assign owners, alert on certificate and domain expiry — Level 2</a:t>
            </a:r>
          </a:p>
        </p:txBody>
      </p:sp>
      <p:sp>
        <p:nvSpPr>
          <p:cNvPr id="18" name="phase">
            <a:extLst>
              <a:ext uri="{FF2B5EF4-FFF2-40B4-BE49-F238E27FC236}">
                <a16:creationId xmlns:a16="http://schemas.microsoft.com/office/drawing/2014/main" id="{3BF740A6-9C5E-436E-9CF5-85E373A06E95}"/>
              </a:ext>
            </a:extLst>
          </p:cNvPr>
          <p:cNvSpPr>
            <a:spLocks noGrp="1"/>
          </p:cNvSpPr>
          <p:nvPr/>
        </p:nvSpPr>
        <p:spPr>
          <a:xfrm>
            <a:off x="5581650" y="2667000"/>
            <a:ext cx="742950" cy="74295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hase-n">
            <a:extLst>
              <a:ext uri="{FF2B5EF4-FFF2-40B4-BE49-F238E27FC236}">
                <a16:creationId xmlns:a16="http://schemas.microsoft.com/office/drawing/2014/main" id="{6E8A8810-CFBE-43F8-AF5F-835F3ABE4845}"/>
              </a:ext>
            </a:extLst>
          </p:cNvPr>
          <p:cNvSpPr>
            <a:spLocks noGrp="1"/>
          </p:cNvSpPr>
          <p:nvPr/>
        </p:nvSpPr>
        <p:spPr>
          <a:xfrm>
            <a:off x="5581650" y="2819400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phase-h">
            <a:extLst>
              <a:ext uri="{FF2B5EF4-FFF2-40B4-BE49-F238E27FC236}">
                <a16:creationId xmlns:a16="http://schemas.microsoft.com/office/drawing/2014/main" id="{F3487C70-C08D-4D14-8010-1CB0EC622EC6}"/>
              </a:ext>
            </a:extLst>
          </p:cNvPr>
          <p:cNvSpPr>
            <a:spLocks noGrp="1"/>
          </p:cNvSpPr>
          <p:nvPr/>
        </p:nvSpPr>
        <p:spPr>
          <a:xfrm>
            <a:off x="4972050" y="367665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Verification</a:t>
            </a:r>
          </a:p>
        </p:txBody>
      </p:sp>
      <p:sp>
        <p:nvSpPr>
          <p:cNvPr id="21" name="phase-b">
            <a:extLst>
              <a:ext uri="{FF2B5EF4-FFF2-40B4-BE49-F238E27FC236}">
                <a16:creationId xmlns:a16="http://schemas.microsoft.com/office/drawing/2014/main" id="{75140C4D-C76C-48B3-86B7-B4AFF6A8F147}"/>
              </a:ext>
            </a:extLst>
          </p:cNvPr>
          <p:cNvSpPr>
            <a:spLocks noGrp="1"/>
          </p:cNvSpPr>
          <p:nvPr/>
        </p:nvSpPr>
        <p:spPr>
          <a:xfrm>
            <a:off x="4972050" y="4057650"/>
            <a:ext cx="1962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Live checks including delegation and DNSSEC, Datadog dashboard and monitors, Teams and email — Levels 3–4</a:t>
            </a:r>
          </a:p>
        </p:txBody>
      </p:sp>
      <p:sp>
        <p:nvSpPr>
          <p:cNvPr id="22" name="phase">
            <a:extLst>
              <a:ext uri="{FF2B5EF4-FFF2-40B4-BE49-F238E27FC236}">
                <a16:creationId xmlns:a16="http://schemas.microsoft.com/office/drawing/2014/main" id="{8BC94C44-B6B4-4EEA-84DC-879F290CE7BB}"/>
              </a:ext>
            </a:extLst>
          </p:cNvPr>
          <p:cNvSpPr>
            <a:spLocks noGrp="1"/>
          </p:cNvSpPr>
          <p:nvPr/>
        </p:nvSpPr>
        <p:spPr>
          <a:xfrm>
            <a:off x="7772400" y="2667000"/>
            <a:ext cx="742950" cy="74295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hase-n">
            <a:extLst>
              <a:ext uri="{FF2B5EF4-FFF2-40B4-BE49-F238E27FC236}">
                <a16:creationId xmlns:a16="http://schemas.microsoft.com/office/drawing/2014/main" id="{DEE24688-A9E7-4D15-AE62-3228FBE5AD27}"/>
              </a:ext>
            </a:extLst>
          </p:cNvPr>
          <p:cNvSpPr>
            <a:spLocks noGrp="1"/>
          </p:cNvSpPr>
          <p:nvPr/>
        </p:nvSpPr>
        <p:spPr>
          <a:xfrm>
            <a:off x="7772400" y="2819400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phase-h">
            <a:extLst>
              <a:ext uri="{FF2B5EF4-FFF2-40B4-BE49-F238E27FC236}">
                <a16:creationId xmlns:a16="http://schemas.microsoft.com/office/drawing/2014/main" id="{EB09BF63-F9AE-43C3-9EED-85753CBF6A85}"/>
              </a:ext>
            </a:extLst>
          </p:cNvPr>
          <p:cNvSpPr>
            <a:spLocks noGrp="1"/>
          </p:cNvSpPr>
          <p:nvPr/>
        </p:nvSpPr>
        <p:spPr>
          <a:xfrm>
            <a:off x="7162800" y="367665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Automation</a:t>
            </a:r>
          </a:p>
        </p:txBody>
      </p:sp>
      <p:sp>
        <p:nvSpPr>
          <p:cNvPr id="25" name="phase-b">
            <a:extLst>
              <a:ext uri="{FF2B5EF4-FFF2-40B4-BE49-F238E27FC236}">
                <a16:creationId xmlns:a16="http://schemas.microsoft.com/office/drawing/2014/main" id="{2929FF51-FF31-4906-9441-19AC43850571}"/>
              </a:ext>
            </a:extLst>
          </p:cNvPr>
          <p:cNvSpPr>
            <a:spLocks noGrp="1"/>
          </p:cNvSpPr>
          <p:nvPr/>
        </p:nvSpPr>
        <p:spPr>
          <a:xfrm>
            <a:off x="7162800" y="4057650"/>
            <a:ext cx="1962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Hand cloud certificates to cert-manager; detect drift — Level 5 for cloud</a:t>
            </a:r>
          </a:p>
        </p:txBody>
      </p:sp>
      <p:sp>
        <p:nvSpPr>
          <p:cNvPr id="26" name="phase">
            <a:extLst>
              <a:ext uri="{FF2B5EF4-FFF2-40B4-BE49-F238E27FC236}">
                <a16:creationId xmlns:a16="http://schemas.microsoft.com/office/drawing/2014/main" id="{ADB42A0A-7371-4CA2-83CB-B1168C130965}"/>
              </a:ext>
            </a:extLst>
          </p:cNvPr>
          <p:cNvSpPr>
            <a:spLocks noGrp="1"/>
          </p:cNvSpPr>
          <p:nvPr/>
        </p:nvSpPr>
        <p:spPr>
          <a:xfrm>
            <a:off x="9963150" y="2667000"/>
            <a:ext cx="742950" cy="742950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phase-n">
            <a:extLst>
              <a:ext uri="{FF2B5EF4-FFF2-40B4-BE49-F238E27FC236}">
                <a16:creationId xmlns:a16="http://schemas.microsoft.com/office/drawing/2014/main" id="{B5779800-E5F3-4673-9AD1-409D752011BB}"/>
              </a:ext>
            </a:extLst>
          </p:cNvPr>
          <p:cNvSpPr>
            <a:spLocks noGrp="1"/>
          </p:cNvSpPr>
          <p:nvPr/>
        </p:nvSpPr>
        <p:spPr>
          <a:xfrm>
            <a:off x="9963150" y="2819400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phase-h">
            <a:extLst>
              <a:ext uri="{FF2B5EF4-FFF2-40B4-BE49-F238E27FC236}">
                <a16:creationId xmlns:a16="http://schemas.microsoft.com/office/drawing/2014/main" id="{64F6407C-C01C-4B04-9DD4-4D8A29EEC698}"/>
              </a:ext>
            </a:extLst>
          </p:cNvPr>
          <p:cNvSpPr>
            <a:spLocks noGrp="1"/>
          </p:cNvSpPr>
          <p:nvPr/>
        </p:nvSpPr>
        <p:spPr>
          <a:xfrm>
            <a:off x="9353550" y="367665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sz="1575" b="1">
                <a:solidFill>
                  <a:srgbClr val="111318"/>
                </a:solidFill>
              </a:rPr>
              <a:t>Delivery</a:t>
            </a:r>
          </a:p>
        </p:txBody>
      </p:sp>
      <p:sp>
        <p:nvSpPr>
          <p:cNvPr id="29" name="phase-b">
            <a:extLst>
              <a:ext uri="{FF2B5EF4-FFF2-40B4-BE49-F238E27FC236}">
                <a16:creationId xmlns:a16="http://schemas.microsoft.com/office/drawing/2014/main" id="{A684A753-8B3A-4A72-96FB-94AE11C3B487}"/>
              </a:ext>
            </a:extLst>
          </p:cNvPr>
          <p:cNvSpPr>
            <a:spLocks noGrp="1"/>
          </p:cNvSpPr>
          <p:nvPr/>
        </p:nvSpPr>
        <p:spPr>
          <a:xfrm>
            <a:off x="9353550" y="4057650"/>
            <a:ext cx="1962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sz="1200" b="0">
                <a:solidFill>
                  <a:srgbClr val="5E6672"/>
                </a:solidFill>
              </a:rPr>
              <a:t>F5 pilot with verified rollback, then Cisco — Level 5 for legacy</a:t>
            </a:r>
          </a:p>
        </p:txBody>
      </p:sp>
      <p:sp>
        <p:nvSpPr>
          <p:cNvPr id="30" name="gate">
            <a:extLst>
              <a:ext uri="{FF2B5EF4-FFF2-40B4-BE49-F238E27FC236}">
                <a16:creationId xmlns:a16="http://schemas.microsoft.com/office/drawing/2014/main" id="{C286E448-5395-43BF-871B-B7518EF5AF8B}"/>
              </a:ext>
            </a:extLst>
          </p:cNvPr>
          <p:cNvSpPr>
            <a:spLocks noGrp="1"/>
          </p:cNvSpPr>
          <p:nvPr/>
        </p:nvSpPr>
        <p:spPr>
          <a:xfrm>
            <a:off x="2933700" y="5429250"/>
            <a:ext cx="6324600" cy="533400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ate-t">
            <a:extLst>
              <a:ext uri="{FF2B5EF4-FFF2-40B4-BE49-F238E27FC236}">
                <a16:creationId xmlns:a16="http://schemas.microsoft.com/office/drawing/2014/main" id="{D2CA9C98-962A-4C57-A5A1-B8EBD5327985}"/>
              </a:ext>
            </a:extLst>
          </p:cNvPr>
          <p:cNvSpPr>
            <a:spLocks noGrp="1"/>
          </p:cNvSpPr>
          <p:nvPr/>
        </p:nvSpPr>
        <p:spPr>
          <a:xfrm>
            <a:off x="3086100" y="5505450"/>
            <a:ext cx="6019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Each phase lifts a measurable maturity level before the next begins.</a:t>
            </a:r>
          </a:p>
        </p:txBody>
      </p:sp>
    </p:spTree>
    <p:extLst>
      <p:ext uri="{BB962C8B-B14F-4D97-AF65-F5344CB8AC3E}">
        <p14:creationId xmlns:p14="http://schemas.microsoft.com/office/powerpoint/2010/main" val="1610984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ent">
            <a:extLst>
              <a:ext uri="{FF2B5EF4-FFF2-40B4-BE49-F238E27FC236}">
                <a16:creationId xmlns:a16="http://schemas.microsoft.com/office/drawing/2014/main" id="{31C63F6A-2B72-4E5D-AB8B-196645B440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01C5CFA4-80FF-41A7-9C77-52CC64A63991}"/>
              </a:ext>
            </a:extLst>
          </p:cNvPr>
          <p:cNvSpPr>
            <a:spLocks noGrp="1"/>
          </p:cNvSpPr>
          <p:nvPr/>
        </p:nvSpPr>
        <p:spPr>
          <a:xfrm>
            <a:off x="666750" y="6096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THE DECISION</a:t>
            </a:r>
          </a:p>
        </p:txBody>
      </p:sp>
      <p:sp>
        <p:nvSpPr>
          <p:cNvPr id="3" name="close-title">
            <a:extLst>
              <a:ext uri="{FF2B5EF4-FFF2-40B4-BE49-F238E27FC236}">
                <a16:creationId xmlns:a16="http://schemas.microsoft.com/office/drawing/2014/main" id="{90E6DAA7-FB44-43BA-B611-6A4B06E8E8DB}"/>
              </a:ext>
            </a:extLst>
          </p:cNvPr>
          <p:cNvSpPr>
            <a:spLocks noGrp="1"/>
          </p:cNvSpPr>
          <p:nvPr/>
        </p:nvSpPr>
        <p:spPr>
          <a:xfrm>
            <a:off x="666750" y="1371600"/>
            <a:ext cx="857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11318"/>
                </a:solidFill>
              </a:defRPr>
            </a:pPr>
            <a:r>
              <a:rPr sz="3600" b="1">
                <a:solidFill>
                  <a:srgbClr val="111318"/>
                </a:solidFill>
              </a:rPr>
              <a:t>Make certificate and domain state</a:t>
            </a:r>
          </a:p>
          <a:p>
            <a:pPr algn="l">
              <a:defRPr sz="3600" b="1">
                <a:solidFill>
                  <a:srgbClr val="111318"/>
                </a:solidFill>
              </a:defRPr>
            </a:pPr>
            <a:r>
              <a:rPr sz="3600" b="1">
                <a:solidFill>
                  <a:srgbClr val="111318"/>
                </a:solidFill>
              </a:rPr>
              <a:t>a continuously reconciled fact</a:t>
            </a:r>
          </a:p>
        </p:txBody>
      </p:sp>
      <p:sp>
        <p:nvSpPr>
          <p:cNvPr id="4" name="close-body">
            <a:extLst>
              <a:ext uri="{FF2B5EF4-FFF2-40B4-BE49-F238E27FC236}">
                <a16:creationId xmlns:a16="http://schemas.microsoft.com/office/drawing/2014/main" id="{C8548317-9E60-4987-A2B5-F8AE1368FB69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8286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5E6672"/>
                </a:solidFill>
              </a:defRPr>
            </a:pPr>
            <a:r>
              <a:rPr sz="1725" b="0">
                <a:solidFill>
                  <a:srgbClr val="5E6672"/>
                </a:solidFill>
              </a:rPr>
              <a:t>Approve the certificate and domain registers, the Datadog integration and the F5 pilot. Measured against the CMMI scale, this takes a 5,368-row spreadsheet and 4,000 domains from Level 1 to an owned, measured estate — and opens a safe path from Kubernetes-issued certificates to the infrastructure that actually serves traffic.</a:t>
            </a:r>
          </a:p>
        </p:txBody>
      </p:sp>
      <p:sp>
        <p:nvSpPr>
          <p:cNvPr id="5" name="next">
            <a:extLst>
              <a:ext uri="{FF2B5EF4-FFF2-40B4-BE49-F238E27FC236}">
                <a16:creationId xmlns:a16="http://schemas.microsoft.com/office/drawing/2014/main" id="{5696D94F-7042-4C72-8048-AA37AF36CE3D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0382250" cy="819150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ext-t">
            <a:extLst>
              <a:ext uri="{FF2B5EF4-FFF2-40B4-BE49-F238E27FC236}">
                <a16:creationId xmlns:a16="http://schemas.microsoft.com/office/drawing/2014/main" id="{72D74837-D44C-40E8-A041-9A381D0CC0FB}"/>
              </a:ext>
            </a:extLst>
          </p:cNvPr>
          <p:cNvSpPr>
            <a:spLocks noGrp="1"/>
          </p:cNvSpPr>
          <p:nvPr/>
        </p:nvSpPr>
        <p:spPr>
          <a:xfrm>
            <a:off x="876300" y="50101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8C9F0"/>
                </a:solidFill>
              </a:defRPr>
            </a:pPr>
            <a:r>
              <a:rPr sz="1200" b="1">
                <a:solidFill>
                  <a:srgbClr val="68C9F0"/>
                </a:solidFill>
              </a:rPr>
              <a:t>Next milestone</a:t>
            </a:r>
          </a:p>
        </p:txBody>
      </p:sp>
      <p:sp>
        <p:nvSpPr>
          <p:cNvPr id="7" name="next-b">
            <a:extLst>
              <a:ext uri="{FF2B5EF4-FFF2-40B4-BE49-F238E27FC236}">
                <a16:creationId xmlns:a16="http://schemas.microsoft.com/office/drawing/2014/main" id="{CF873E9A-1D33-4B73-B281-81B4FA2E0564}"/>
              </a:ext>
            </a:extLst>
          </p:cNvPr>
          <p:cNvSpPr>
            <a:spLocks noGrp="1"/>
          </p:cNvSpPr>
          <p:nvPr/>
        </p:nvSpPr>
        <p:spPr>
          <a:xfrm>
            <a:off x="2952750" y="4953000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Scan and registrar export loaded, every critical certificate and domain owned, and the Operations dashboard live in Datadog.</a:t>
            </a:r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8AC330A8-2630-4799-8864-D3972F1C54C4}"/>
              </a:ext>
            </a:extLst>
          </p:cNvPr>
          <p:cNvSpPr>
            <a:spLocks noGrp="1"/>
          </p:cNvSpPr>
          <p:nvPr/>
        </p:nvSpPr>
        <p:spPr>
          <a:xfrm>
            <a:off x="666750" y="623887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E6672"/>
                </a:solidFill>
              </a:defRPr>
            </a:pPr>
            <a:r>
              <a:rPr sz="900" b="0">
                <a:solidFill>
                  <a:srgbClr val="5E6672"/>
                </a:solidFill>
              </a:rPr>
              <a:t>Microscaler • DCops</a:t>
            </a:r>
          </a:p>
        </p:txBody>
      </p:sp>
    </p:spTree>
    <p:extLst>
      <p:ext uri="{BB962C8B-B14F-4D97-AF65-F5344CB8AC3E}">
        <p14:creationId xmlns:p14="http://schemas.microsoft.com/office/powerpoint/2010/main" val="1331446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kicker">
            <a:extLst>
              <a:ext uri="{FF2B5EF4-FFF2-40B4-BE49-F238E27FC236}">
                <a16:creationId xmlns:a16="http://schemas.microsoft.com/office/drawing/2014/main" id="{8A5C3899-68BB-48B7-9B21-BD135F38D237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WHERE WE ARE TODAY</a:t>
            </a:r>
          </a:p>
        </p:txBody>
      </p:sp>
      <p:sp>
        <p:nvSpPr>
          <p:cNvPr id="102" name="title">
            <a:extLst>
              <a:ext uri="{FF2B5EF4-FFF2-40B4-BE49-F238E27FC236}">
                <a16:creationId xmlns:a16="http://schemas.microsoft.com/office/drawing/2014/main" id="{7A093827-08A8-4822-B7B0-7A5DF42D5EB5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Level 1 today: visible, unowned, and sitting on 4,000 domains</a:t>
            </a:r>
          </a:p>
        </p:txBody>
      </p:sp>
      <p:sp>
        <p:nvSpPr>
          <p:cNvPr id="103" name="rule">
            <a:extLst>
              <a:ext uri="{FF2B5EF4-FFF2-40B4-BE49-F238E27FC236}">
                <a16:creationId xmlns:a16="http://schemas.microsoft.com/office/drawing/2014/main" id="{E8DEB28F-366E-4FCF-BEB9-458321801522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page">
            <a:extLst>
              <a:ext uri="{FF2B5EF4-FFF2-40B4-BE49-F238E27FC236}">
                <a16:creationId xmlns:a16="http://schemas.microsoft.com/office/drawing/2014/main" id="{F5B3337C-D6E6-4053-8C1A-3A1C8D3EE126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03</a:t>
            </a:r>
          </a:p>
        </p:txBody>
      </p:sp>
      <p:sp>
        <p:nvSpPr>
          <p:cNvPr id="105" name="footer">
            <a:extLst>
              <a:ext uri="{FF2B5EF4-FFF2-40B4-BE49-F238E27FC236}">
                <a16:creationId xmlns:a16="http://schemas.microsoft.com/office/drawing/2014/main" id="{5C0AD482-EDB4-480F-B01F-673A13A67026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106" name="row-h">
            <a:extLst>
              <a:ext uri="{FF2B5EF4-FFF2-40B4-BE49-F238E27FC236}">
                <a16:creationId xmlns:a16="http://schemas.microsoft.com/office/drawing/2014/main" id="{6B9DE862-3B41-4BC1-8248-D0BDE674842F}"/>
              </a:ext>
            </a:extLst>
          </p:cNvPr>
          <p:cNvSpPr>
            <a:spLocks noGrp="1"/>
          </p:cNvSpPr>
          <p:nvPr/>
        </p:nvSpPr>
        <p:spPr>
          <a:xfrm>
            <a:off x="612648" y="1371600"/>
            <a:ext cx="54864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l">
              <a:defRPr sz="850" b="1">
                <a:solidFill>
                  <a:srgbClr val="5E6672"/>
                </a:solidFill>
              </a:defRPr>
            </a:pPr>
            <a:r>
              <a:rPr lang="en-US" sz="850" b="1">
                <a:solidFill>
                  <a:srgbClr val="5E6672"/>
                </a:solidFill>
              </a:rPr>
              <a:t>CERTIFICATES — from the discovery scan</a:t>
            </a:r>
          </a:p>
        </p:txBody>
      </p:sp>
      <p:sp>
        <p:nvSpPr>
          <p:cNvPr id="107" name="metric">
            <a:extLst>
              <a:ext uri="{FF2B5EF4-FFF2-40B4-BE49-F238E27FC236}">
                <a16:creationId xmlns:a16="http://schemas.microsoft.com/office/drawing/2014/main" id="{93A6FB17-7B6B-4A1A-BF80-386A88FEC93B}"/>
              </a:ext>
            </a:extLst>
          </p:cNvPr>
          <p:cNvSpPr>
            <a:spLocks noGrp="1"/>
          </p:cNvSpPr>
          <p:nvPr/>
        </p:nvSpPr>
        <p:spPr>
          <a:xfrm>
            <a:off x="612648" y="1591056"/>
            <a:ext cx="2606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mv">
            <a:extLst>
              <a:ext uri="{FF2B5EF4-FFF2-40B4-BE49-F238E27FC236}">
                <a16:creationId xmlns:a16="http://schemas.microsoft.com/office/drawing/2014/main" id="{50604128-4789-41EB-A0F8-CEA89AF99EE9}"/>
              </a:ext>
            </a:extLst>
          </p:cNvPr>
          <p:cNvSpPr>
            <a:spLocks noGrp="1"/>
          </p:cNvSpPr>
          <p:nvPr/>
        </p:nvSpPr>
        <p:spPr>
          <a:xfrm>
            <a:off x="795528" y="1645920"/>
            <a:ext cx="2286000" cy="530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000" b="1">
                <a:solidFill>
                  <a:srgbClr val="111318"/>
                </a:solidFill>
              </a:defRPr>
            </a:pPr>
            <a:r>
              <a:rPr lang="en-US" sz="3000" b="1">
                <a:solidFill>
                  <a:srgbClr val="111318"/>
                </a:solidFill>
              </a:rPr>
              <a:t>5,368</a:t>
            </a:r>
          </a:p>
        </p:txBody>
      </p:sp>
      <p:sp>
        <p:nvSpPr>
          <p:cNvPr id="109" name="ml">
            <a:extLst>
              <a:ext uri="{FF2B5EF4-FFF2-40B4-BE49-F238E27FC236}">
                <a16:creationId xmlns:a16="http://schemas.microsoft.com/office/drawing/2014/main" id="{CEE6C016-CA1B-4E67-ADAF-20E236AEE7D0}"/>
              </a:ext>
            </a:extLst>
          </p:cNvPr>
          <p:cNvSpPr>
            <a:spLocks noGrp="1"/>
          </p:cNvSpPr>
          <p:nvPr/>
        </p:nvSpPr>
        <p:spPr>
          <a:xfrm>
            <a:off x="795528" y="2176272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lang="en-US" sz="1200" b="1">
                <a:solidFill>
                  <a:srgbClr val="111318"/>
                </a:solidFill>
              </a:rPr>
              <a:t>certificates found</a:t>
            </a:r>
          </a:p>
        </p:txBody>
      </p:sp>
      <p:sp>
        <p:nvSpPr>
          <p:cNvPr id="110" name="ms">
            <a:extLst>
              <a:ext uri="{FF2B5EF4-FFF2-40B4-BE49-F238E27FC236}">
                <a16:creationId xmlns:a16="http://schemas.microsoft.com/office/drawing/2014/main" id="{F2A6B280-3908-4084-A445-2716C1EED956}"/>
              </a:ext>
            </a:extLst>
          </p:cNvPr>
          <p:cNvSpPr>
            <a:spLocks noGrp="1"/>
          </p:cNvSpPr>
          <p:nvPr/>
        </p:nvSpPr>
        <p:spPr>
          <a:xfrm>
            <a:off x="795528" y="2414016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across the public estate</a:t>
            </a:r>
          </a:p>
        </p:txBody>
      </p:sp>
      <p:sp>
        <p:nvSpPr>
          <p:cNvPr id="111" name="metric">
            <a:extLst>
              <a:ext uri="{FF2B5EF4-FFF2-40B4-BE49-F238E27FC236}">
                <a16:creationId xmlns:a16="http://schemas.microsoft.com/office/drawing/2014/main" id="{3A58E965-A9E7-4444-A4E3-568CFBB01BA4}"/>
              </a:ext>
            </a:extLst>
          </p:cNvPr>
          <p:cNvSpPr>
            <a:spLocks noGrp="1"/>
          </p:cNvSpPr>
          <p:nvPr/>
        </p:nvSpPr>
        <p:spPr>
          <a:xfrm>
            <a:off x="3401568" y="1591056"/>
            <a:ext cx="2606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mv">
            <a:extLst>
              <a:ext uri="{FF2B5EF4-FFF2-40B4-BE49-F238E27FC236}">
                <a16:creationId xmlns:a16="http://schemas.microsoft.com/office/drawing/2014/main" id="{E8BDB858-1B02-411B-ABA4-646CB0AEE9F1}"/>
              </a:ext>
            </a:extLst>
          </p:cNvPr>
          <p:cNvSpPr>
            <a:spLocks noGrp="1"/>
          </p:cNvSpPr>
          <p:nvPr/>
        </p:nvSpPr>
        <p:spPr>
          <a:xfrm>
            <a:off x="3584448" y="1645920"/>
            <a:ext cx="2286000" cy="530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000" b="1">
                <a:solidFill>
                  <a:srgbClr val="D94A4A"/>
                </a:solidFill>
              </a:defRPr>
            </a:pPr>
            <a:r>
              <a:rPr lang="en-US" sz="3000" b="1">
                <a:solidFill>
                  <a:srgbClr val="D94A4A"/>
                </a:solidFill>
              </a:rPr>
              <a:t>2,829</a:t>
            </a:r>
          </a:p>
        </p:txBody>
      </p:sp>
      <p:sp>
        <p:nvSpPr>
          <p:cNvPr id="113" name="ml">
            <a:extLst>
              <a:ext uri="{FF2B5EF4-FFF2-40B4-BE49-F238E27FC236}">
                <a16:creationId xmlns:a16="http://schemas.microsoft.com/office/drawing/2014/main" id="{DFEECC58-428F-448A-B5B9-10181D858567}"/>
              </a:ext>
            </a:extLst>
          </p:cNvPr>
          <p:cNvSpPr>
            <a:spLocks noGrp="1"/>
          </p:cNvSpPr>
          <p:nvPr/>
        </p:nvSpPr>
        <p:spPr>
          <a:xfrm>
            <a:off x="3584448" y="2176272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lang="en-US" sz="1200" b="1">
                <a:solidFill>
                  <a:srgbClr val="111318"/>
                </a:solidFill>
              </a:rPr>
              <a:t>have no accountable owner</a:t>
            </a:r>
          </a:p>
        </p:txBody>
      </p:sp>
      <p:sp>
        <p:nvSpPr>
          <p:cNvPr id="114" name="ms">
            <a:extLst>
              <a:ext uri="{FF2B5EF4-FFF2-40B4-BE49-F238E27FC236}">
                <a16:creationId xmlns:a16="http://schemas.microsoft.com/office/drawing/2014/main" id="{0E71C089-9DB8-4C7E-8F72-60B818460E85}"/>
              </a:ext>
            </a:extLst>
          </p:cNvPr>
          <p:cNvSpPr>
            <a:spLocks noGrp="1"/>
          </p:cNvSpPr>
          <p:nvPr/>
        </p:nvSpPr>
        <p:spPr>
          <a:xfrm>
            <a:off x="3584448" y="2414016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53% of everything found</a:t>
            </a:r>
          </a:p>
        </p:txBody>
      </p:sp>
      <p:sp>
        <p:nvSpPr>
          <p:cNvPr id="115" name="metric">
            <a:extLst>
              <a:ext uri="{FF2B5EF4-FFF2-40B4-BE49-F238E27FC236}">
                <a16:creationId xmlns:a16="http://schemas.microsoft.com/office/drawing/2014/main" id="{6979FA34-EFF5-443A-B0CC-E3C295FD441D}"/>
              </a:ext>
            </a:extLst>
          </p:cNvPr>
          <p:cNvSpPr>
            <a:spLocks noGrp="1"/>
          </p:cNvSpPr>
          <p:nvPr/>
        </p:nvSpPr>
        <p:spPr>
          <a:xfrm>
            <a:off x="6190488" y="1591056"/>
            <a:ext cx="2606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mv">
            <a:extLst>
              <a:ext uri="{FF2B5EF4-FFF2-40B4-BE49-F238E27FC236}">
                <a16:creationId xmlns:a16="http://schemas.microsoft.com/office/drawing/2014/main" id="{4E5B9300-6728-4149-9478-B401197E9687}"/>
              </a:ext>
            </a:extLst>
          </p:cNvPr>
          <p:cNvSpPr>
            <a:spLocks noGrp="1"/>
          </p:cNvSpPr>
          <p:nvPr/>
        </p:nvSpPr>
        <p:spPr>
          <a:xfrm>
            <a:off x="6373368" y="1645920"/>
            <a:ext cx="2286000" cy="530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000" b="1">
                <a:solidFill>
                  <a:srgbClr val="E6A23C"/>
                </a:solidFill>
              </a:defRPr>
            </a:pPr>
            <a:r>
              <a:rPr lang="en-US" sz="3000" b="1">
                <a:solidFill>
                  <a:srgbClr val="E6A23C"/>
                </a:solidFill>
              </a:rPr>
              <a:t>1,172</a:t>
            </a:r>
          </a:p>
        </p:txBody>
      </p:sp>
      <p:sp>
        <p:nvSpPr>
          <p:cNvPr id="117" name="ml">
            <a:extLst>
              <a:ext uri="{FF2B5EF4-FFF2-40B4-BE49-F238E27FC236}">
                <a16:creationId xmlns:a16="http://schemas.microsoft.com/office/drawing/2014/main" id="{D98512EA-1893-44D9-8C0B-0C581A49E182}"/>
              </a:ext>
            </a:extLst>
          </p:cNvPr>
          <p:cNvSpPr>
            <a:spLocks noGrp="1"/>
          </p:cNvSpPr>
          <p:nvPr/>
        </p:nvSpPr>
        <p:spPr>
          <a:xfrm>
            <a:off x="6373368" y="2176272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lang="en-US" sz="1200" b="1">
                <a:solidFill>
                  <a:srgbClr val="111318"/>
                </a:solidFill>
              </a:rPr>
              <a:t>issued by hand</a:t>
            </a:r>
          </a:p>
        </p:txBody>
      </p:sp>
      <p:sp>
        <p:nvSpPr>
          <p:cNvPr id="118" name="ms">
            <a:extLst>
              <a:ext uri="{FF2B5EF4-FFF2-40B4-BE49-F238E27FC236}">
                <a16:creationId xmlns:a16="http://schemas.microsoft.com/office/drawing/2014/main" id="{DEF0B778-D41E-4EC7-AF82-B2E6263B116F}"/>
              </a:ext>
            </a:extLst>
          </p:cNvPr>
          <p:cNvSpPr>
            <a:spLocks noGrp="1"/>
          </p:cNvSpPr>
          <p:nvPr/>
        </p:nvSpPr>
        <p:spPr>
          <a:xfrm>
            <a:off x="6373368" y="2414016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need central management</a:t>
            </a:r>
          </a:p>
        </p:txBody>
      </p:sp>
      <p:sp>
        <p:nvSpPr>
          <p:cNvPr id="119" name="metric">
            <a:extLst>
              <a:ext uri="{FF2B5EF4-FFF2-40B4-BE49-F238E27FC236}">
                <a16:creationId xmlns:a16="http://schemas.microsoft.com/office/drawing/2014/main" id="{05CCAD50-38D0-49AB-A3AC-66E16BE29783}"/>
              </a:ext>
            </a:extLst>
          </p:cNvPr>
          <p:cNvSpPr>
            <a:spLocks noGrp="1"/>
          </p:cNvSpPr>
          <p:nvPr/>
        </p:nvSpPr>
        <p:spPr>
          <a:xfrm>
            <a:off x="8979408" y="1591056"/>
            <a:ext cx="2606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mv">
            <a:extLst>
              <a:ext uri="{FF2B5EF4-FFF2-40B4-BE49-F238E27FC236}">
                <a16:creationId xmlns:a16="http://schemas.microsoft.com/office/drawing/2014/main" id="{E62773F5-550C-4382-A3A6-57552651EF1E}"/>
              </a:ext>
            </a:extLst>
          </p:cNvPr>
          <p:cNvSpPr>
            <a:spLocks noGrp="1"/>
          </p:cNvSpPr>
          <p:nvPr/>
        </p:nvSpPr>
        <p:spPr>
          <a:xfrm>
            <a:off x="9162288" y="1645920"/>
            <a:ext cx="2286000" cy="530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000" b="1">
                <a:solidFill>
                  <a:srgbClr val="D94A4A"/>
                </a:solidFill>
              </a:defRPr>
            </a:pPr>
            <a:r>
              <a:rPr lang="en-US" sz="3000" b="1">
                <a:solidFill>
                  <a:srgbClr val="D94A4A"/>
                </a:solidFill>
              </a:rPr>
              <a:t>664</a:t>
            </a:r>
          </a:p>
        </p:txBody>
      </p:sp>
      <p:sp>
        <p:nvSpPr>
          <p:cNvPr id="121" name="ml">
            <a:extLst>
              <a:ext uri="{FF2B5EF4-FFF2-40B4-BE49-F238E27FC236}">
                <a16:creationId xmlns:a16="http://schemas.microsoft.com/office/drawing/2014/main" id="{EB01D0C1-7D9E-44D8-9B4B-137C731F7DAB}"/>
              </a:ext>
            </a:extLst>
          </p:cNvPr>
          <p:cNvSpPr>
            <a:spLocks noGrp="1"/>
          </p:cNvSpPr>
          <p:nvPr/>
        </p:nvSpPr>
        <p:spPr>
          <a:xfrm>
            <a:off x="9162288" y="2176272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lang="en-US" sz="1200" b="1">
                <a:solidFill>
                  <a:srgbClr val="111318"/>
                </a:solidFill>
              </a:rPr>
              <a:t>expiring within 30 days</a:t>
            </a:r>
          </a:p>
        </p:txBody>
      </p:sp>
      <p:sp>
        <p:nvSpPr>
          <p:cNvPr id="122" name="ms">
            <a:extLst>
              <a:ext uri="{FF2B5EF4-FFF2-40B4-BE49-F238E27FC236}">
                <a16:creationId xmlns:a16="http://schemas.microsoft.com/office/drawing/2014/main" id="{AD2A8788-49F1-40B4-8313-11F67DA0A4E7}"/>
              </a:ext>
            </a:extLst>
          </p:cNvPr>
          <p:cNvSpPr>
            <a:spLocks noGrp="1"/>
          </p:cNvSpPr>
          <p:nvPr/>
        </p:nvSpPr>
        <p:spPr>
          <a:xfrm>
            <a:off x="9162288" y="2414016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of the scan date</a:t>
            </a:r>
          </a:p>
        </p:txBody>
      </p:sp>
      <p:sp>
        <p:nvSpPr>
          <p:cNvPr id="123" name="row-h2">
            <a:extLst>
              <a:ext uri="{FF2B5EF4-FFF2-40B4-BE49-F238E27FC236}">
                <a16:creationId xmlns:a16="http://schemas.microsoft.com/office/drawing/2014/main" id="{4E5EC382-7A3F-4DD4-807A-76FE7C7E5E48}"/>
              </a:ext>
            </a:extLst>
          </p:cNvPr>
          <p:cNvSpPr>
            <a:spLocks noGrp="1"/>
          </p:cNvSpPr>
          <p:nvPr/>
        </p:nvSpPr>
        <p:spPr>
          <a:xfrm>
            <a:off x="612648" y="2816352"/>
            <a:ext cx="822960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l">
              <a:defRPr sz="850" b="1">
                <a:solidFill>
                  <a:srgbClr val="5E6672"/>
                </a:solidFill>
              </a:defRPr>
            </a:pPr>
            <a:r>
              <a:rPr lang="en-US" sz="850" b="1">
                <a:solidFill>
                  <a:srgbClr val="5E6672"/>
                </a:solidFill>
              </a:rPr>
              <a:t>DOMAINS — illustrative until the registrar export is loaded</a:t>
            </a:r>
          </a:p>
        </p:txBody>
      </p:sp>
      <p:sp>
        <p:nvSpPr>
          <p:cNvPr id="124" name="metric">
            <a:extLst>
              <a:ext uri="{FF2B5EF4-FFF2-40B4-BE49-F238E27FC236}">
                <a16:creationId xmlns:a16="http://schemas.microsoft.com/office/drawing/2014/main" id="{9EB771A7-B9B1-4170-9BDE-E20155BAC9DA}"/>
              </a:ext>
            </a:extLst>
          </p:cNvPr>
          <p:cNvSpPr>
            <a:spLocks noGrp="1"/>
          </p:cNvSpPr>
          <p:nvPr/>
        </p:nvSpPr>
        <p:spPr>
          <a:xfrm>
            <a:off x="612648" y="3035808"/>
            <a:ext cx="2606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mv">
            <a:extLst>
              <a:ext uri="{FF2B5EF4-FFF2-40B4-BE49-F238E27FC236}">
                <a16:creationId xmlns:a16="http://schemas.microsoft.com/office/drawing/2014/main" id="{00A2C5B6-2869-47BB-B830-E6C453156EB6}"/>
              </a:ext>
            </a:extLst>
          </p:cNvPr>
          <p:cNvSpPr>
            <a:spLocks noGrp="1"/>
          </p:cNvSpPr>
          <p:nvPr/>
        </p:nvSpPr>
        <p:spPr>
          <a:xfrm>
            <a:off x="795528" y="3090672"/>
            <a:ext cx="2286000" cy="530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000" b="1">
                <a:solidFill>
                  <a:srgbClr val="111318"/>
                </a:solidFill>
              </a:defRPr>
            </a:pPr>
            <a:r>
              <a:rPr lang="en-US" sz="3000" b="1">
                <a:solidFill>
                  <a:srgbClr val="111318"/>
                </a:solidFill>
              </a:rPr>
              <a:t>~4,000</a:t>
            </a:r>
          </a:p>
        </p:txBody>
      </p:sp>
      <p:sp>
        <p:nvSpPr>
          <p:cNvPr id="126" name="ml">
            <a:extLst>
              <a:ext uri="{FF2B5EF4-FFF2-40B4-BE49-F238E27FC236}">
                <a16:creationId xmlns:a16="http://schemas.microsoft.com/office/drawing/2014/main" id="{003E7FA0-C0E1-4E9C-8CCF-A98630E9D79D}"/>
              </a:ext>
            </a:extLst>
          </p:cNvPr>
          <p:cNvSpPr>
            <a:spLocks noGrp="1"/>
          </p:cNvSpPr>
          <p:nvPr/>
        </p:nvSpPr>
        <p:spPr>
          <a:xfrm>
            <a:off x="795528" y="3621024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lang="en-US" sz="1200" b="1">
                <a:solidFill>
                  <a:srgbClr val="111318"/>
                </a:solidFill>
              </a:rPr>
              <a:t>domains in the estate</a:t>
            </a:r>
          </a:p>
        </p:txBody>
      </p:sp>
      <p:sp>
        <p:nvSpPr>
          <p:cNvPr id="127" name="ms">
            <a:extLst>
              <a:ext uri="{FF2B5EF4-FFF2-40B4-BE49-F238E27FC236}">
                <a16:creationId xmlns:a16="http://schemas.microsoft.com/office/drawing/2014/main" id="{EF157481-7B75-466F-BC30-6F1AF8971090}"/>
              </a:ext>
            </a:extLst>
          </p:cNvPr>
          <p:cNvSpPr>
            <a:spLocks noGrp="1"/>
          </p:cNvSpPr>
          <p:nvPr/>
        </p:nvSpPr>
        <p:spPr>
          <a:xfrm>
            <a:off x="795528" y="3858768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across two registrars</a:t>
            </a:r>
          </a:p>
        </p:txBody>
      </p:sp>
      <p:sp>
        <p:nvSpPr>
          <p:cNvPr id="128" name="metric">
            <a:extLst>
              <a:ext uri="{FF2B5EF4-FFF2-40B4-BE49-F238E27FC236}">
                <a16:creationId xmlns:a16="http://schemas.microsoft.com/office/drawing/2014/main" id="{3305DB5D-6C47-4AAC-A2F6-EACA046571AA}"/>
              </a:ext>
            </a:extLst>
          </p:cNvPr>
          <p:cNvSpPr>
            <a:spLocks noGrp="1"/>
          </p:cNvSpPr>
          <p:nvPr/>
        </p:nvSpPr>
        <p:spPr>
          <a:xfrm>
            <a:off x="3401568" y="3035808"/>
            <a:ext cx="2606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mv">
            <a:extLst>
              <a:ext uri="{FF2B5EF4-FFF2-40B4-BE49-F238E27FC236}">
                <a16:creationId xmlns:a16="http://schemas.microsoft.com/office/drawing/2014/main" id="{E0A165CA-93FA-4EA5-A828-786620E8F754}"/>
              </a:ext>
            </a:extLst>
          </p:cNvPr>
          <p:cNvSpPr>
            <a:spLocks noGrp="1"/>
          </p:cNvSpPr>
          <p:nvPr/>
        </p:nvSpPr>
        <p:spPr>
          <a:xfrm>
            <a:off x="3584448" y="3090672"/>
            <a:ext cx="2286000" cy="530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000" b="1">
                <a:solidFill>
                  <a:srgbClr val="D94A4A"/>
                </a:solidFill>
              </a:defRPr>
            </a:pPr>
            <a:r>
              <a:rPr lang="en-US" sz="300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30" name="ml">
            <a:extLst>
              <a:ext uri="{FF2B5EF4-FFF2-40B4-BE49-F238E27FC236}">
                <a16:creationId xmlns:a16="http://schemas.microsoft.com/office/drawing/2014/main" id="{46CE0306-8A7F-441F-8F21-53B9CA18CFB3}"/>
              </a:ext>
            </a:extLst>
          </p:cNvPr>
          <p:cNvSpPr>
            <a:spLocks noGrp="1"/>
          </p:cNvSpPr>
          <p:nvPr/>
        </p:nvSpPr>
        <p:spPr>
          <a:xfrm>
            <a:off x="3584448" y="3621024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lang="en-US" sz="1200" b="1">
                <a:solidFill>
                  <a:srgbClr val="111318"/>
                </a:solidFill>
              </a:rPr>
              <a:t>have no accountable owner</a:t>
            </a:r>
          </a:p>
        </p:txBody>
      </p:sp>
      <p:sp>
        <p:nvSpPr>
          <p:cNvPr id="131" name="ms">
            <a:extLst>
              <a:ext uri="{FF2B5EF4-FFF2-40B4-BE49-F238E27FC236}">
                <a16:creationId xmlns:a16="http://schemas.microsoft.com/office/drawing/2014/main" id="{310A37A5-28F7-4CC7-B789-6799ADEF2E44}"/>
              </a:ext>
            </a:extLst>
          </p:cNvPr>
          <p:cNvSpPr>
            <a:spLocks noGrp="1"/>
          </p:cNvSpPr>
          <p:nvPr/>
        </p:nvSpPr>
        <p:spPr>
          <a:xfrm>
            <a:off x="3584448" y="3858768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known once the export is loaded</a:t>
            </a:r>
          </a:p>
        </p:txBody>
      </p:sp>
      <p:sp>
        <p:nvSpPr>
          <p:cNvPr id="132" name="metric">
            <a:extLst>
              <a:ext uri="{FF2B5EF4-FFF2-40B4-BE49-F238E27FC236}">
                <a16:creationId xmlns:a16="http://schemas.microsoft.com/office/drawing/2014/main" id="{0B24D6B7-0B4C-49D1-AE3A-536371418776}"/>
              </a:ext>
            </a:extLst>
          </p:cNvPr>
          <p:cNvSpPr>
            <a:spLocks noGrp="1"/>
          </p:cNvSpPr>
          <p:nvPr/>
        </p:nvSpPr>
        <p:spPr>
          <a:xfrm>
            <a:off x="6190488" y="3035808"/>
            <a:ext cx="2606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mv">
            <a:extLst>
              <a:ext uri="{FF2B5EF4-FFF2-40B4-BE49-F238E27FC236}">
                <a16:creationId xmlns:a16="http://schemas.microsoft.com/office/drawing/2014/main" id="{BBEC1A18-6CBC-4AD0-9A63-8194F2025B0E}"/>
              </a:ext>
            </a:extLst>
          </p:cNvPr>
          <p:cNvSpPr>
            <a:spLocks noGrp="1"/>
          </p:cNvSpPr>
          <p:nvPr/>
        </p:nvSpPr>
        <p:spPr>
          <a:xfrm>
            <a:off x="6373368" y="3090672"/>
            <a:ext cx="2286000" cy="530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000" b="1">
                <a:solidFill>
                  <a:srgbClr val="E6A23C"/>
                </a:solidFill>
              </a:defRPr>
            </a:pPr>
            <a:r>
              <a:rPr lang="en-US" sz="3000" b="1">
                <a:solidFill>
                  <a:srgbClr val="E6A23C"/>
                </a:solidFill>
              </a:rPr>
              <a:t>—</a:t>
            </a:r>
          </a:p>
        </p:txBody>
      </p:sp>
      <p:sp>
        <p:nvSpPr>
          <p:cNvPr id="134" name="ml">
            <a:extLst>
              <a:ext uri="{FF2B5EF4-FFF2-40B4-BE49-F238E27FC236}">
                <a16:creationId xmlns:a16="http://schemas.microsoft.com/office/drawing/2014/main" id="{44497B49-B04E-4CDC-A6D5-26292C1AEA37}"/>
              </a:ext>
            </a:extLst>
          </p:cNvPr>
          <p:cNvSpPr>
            <a:spLocks noGrp="1"/>
          </p:cNvSpPr>
          <p:nvPr/>
        </p:nvSpPr>
        <p:spPr>
          <a:xfrm>
            <a:off x="6373368" y="3621024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lang="en-US" sz="1200" b="1">
                <a:solidFill>
                  <a:srgbClr val="111318"/>
                </a:solidFill>
              </a:rPr>
              <a:t>registrations expiring ≤ 90 days</a:t>
            </a:r>
          </a:p>
        </p:txBody>
      </p:sp>
      <p:sp>
        <p:nvSpPr>
          <p:cNvPr id="135" name="ms">
            <a:extLst>
              <a:ext uri="{FF2B5EF4-FFF2-40B4-BE49-F238E27FC236}">
                <a16:creationId xmlns:a16="http://schemas.microsoft.com/office/drawing/2014/main" id="{EFEB405C-4FE8-4930-88FE-2A3427B31009}"/>
              </a:ext>
            </a:extLst>
          </p:cNvPr>
          <p:cNvSpPr>
            <a:spLocks noGrp="1"/>
          </p:cNvSpPr>
          <p:nvPr/>
        </p:nvSpPr>
        <p:spPr>
          <a:xfrm>
            <a:off x="6373368" y="3858768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known once the export is loaded</a:t>
            </a:r>
          </a:p>
        </p:txBody>
      </p:sp>
      <p:sp>
        <p:nvSpPr>
          <p:cNvPr id="136" name="metric">
            <a:extLst>
              <a:ext uri="{FF2B5EF4-FFF2-40B4-BE49-F238E27FC236}">
                <a16:creationId xmlns:a16="http://schemas.microsoft.com/office/drawing/2014/main" id="{4A799B78-CD38-408B-AC28-DA92C589D0DF}"/>
              </a:ext>
            </a:extLst>
          </p:cNvPr>
          <p:cNvSpPr>
            <a:spLocks noGrp="1"/>
          </p:cNvSpPr>
          <p:nvPr/>
        </p:nvSpPr>
        <p:spPr>
          <a:xfrm>
            <a:off x="8979408" y="3035808"/>
            <a:ext cx="2606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mv">
            <a:extLst>
              <a:ext uri="{FF2B5EF4-FFF2-40B4-BE49-F238E27FC236}">
                <a16:creationId xmlns:a16="http://schemas.microsoft.com/office/drawing/2014/main" id="{7D81EBE7-74B6-4C20-B82C-A90C8B00D2C5}"/>
              </a:ext>
            </a:extLst>
          </p:cNvPr>
          <p:cNvSpPr>
            <a:spLocks noGrp="1"/>
          </p:cNvSpPr>
          <p:nvPr/>
        </p:nvSpPr>
        <p:spPr>
          <a:xfrm>
            <a:off x="9162288" y="3090672"/>
            <a:ext cx="2286000" cy="530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000" b="1">
                <a:solidFill>
                  <a:srgbClr val="D94A4A"/>
                </a:solidFill>
              </a:defRPr>
            </a:pPr>
            <a:r>
              <a:rPr lang="en-US" sz="3000" b="1">
                <a:solidFill>
                  <a:srgbClr val="D94A4A"/>
                </a:solidFill>
              </a:rPr>
              <a:t>Manual</a:t>
            </a:r>
          </a:p>
        </p:txBody>
      </p:sp>
      <p:sp>
        <p:nvSpPr>
          <p:cNvPr id="138" name="ml">
            <a:extLst>
              <a:ext uri="{FF2B5EF4-FFF2-40B4-BE49-F238E27FC236}">
                <a16:creationId xmlns:a16="http://schemas.microsoft.com/office/drawing/2014/main" id="{2096BDA3-1DF4-49A5-8929-1BEB7341473A}"/>
              </a:ext>
            </a:extLst>
          </p:cNvPr>
          <p:cNvSpPr>
            <a:spLocks noGrp="1"/>
          </p:cNvSpPr>
          <p:nvPr/>
        </p:nvSpPr>
        <p:spPr>
          <a:xfrm>
            <a:off x="9162288" y="3621024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00" b="1">
                <a:solidFill>
                  <a:srgbClr val="111318"/>
                </a:solidFill>
              </a:defRPr>
            </a:pPr>
            <a:r>
              <a:rPr lang="en-US" sz="1200" b="1">
                <a:solidFill>
                  <a:srgbClr val="111318"/>
                </a:solidFill>
              </a:rPr>
              <a:t>Squarespace-held domains</a:t>
            </a:r>
          </a:p>
        </p:txBody>
      </p:sp>
      <p:sp>
        <p:nvSpPr>
          <p:cNvPr id="139" name="ms">
            <a:extLst>
              <a:ext uri="{FF2B5EF4-FFF2-40B4-BE49-F238E27FC236}">
                <a16:creationId xmlns:a16="http://schemas.microsoft.com/office/drawing/2014/main" id="{280C7CFC-85F5-4615-B15A-3D64769AD615}"/>
              </a:ext>
            </a:extLst>
          </p:cNvPr>
          <p:cNvSpPr>
            <a:spLocks noGrp="1"/>
          </p:cNvSpPr>
          <p:nvPr/>
        </p:nvSpPr>
        <p:spPr>
          <a:xfrm>
            <a:off x="9162288" y="3858768"/>
            <a:ext cx="228600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no API — consolidate to Openprovider</a:t>
            </a:r>
          </a:p>
        </p:txBody>
      </p:sp>
      <p:sp>
        <p:nvSpPr>
          <p:cNvPr id="140" name="bar-h">
            <a:extLst>
              <a:ext uri="{FF2B5EF4-FFF2-40B4-BE49-F238E27FC236}">
                <a16:creationId xmlns:a16="http://schemas.microsoft.com/office/drawing/2014/main" id="{87505251-6E5C-4D41-8D7C-15D648316CFC}"/>
              </a:ext>
            </a:extLst>
          </p:cNvPr>
          <p:cNvSpPr>
            <a:spLocks noGrp="1"/>
          </p:cNvSpPr>
          <p:nvPr/>
        </p:nvSpPr>
        <p:spPr>
          <a:xfrm>
            <a:off x="612648" y="4315968"/>
            <a:ext cx="676656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00" b="1">
                <a:solidFill>
                  <a:srgbClr val="111318"/>
                </a:solidFill>
              </a:defRPr>
            </a:pPr>
            <a:r>
              <a:rPr lang="en-US" sz="1300" b="1">
                <a:solidFill>
                  <a:srgbClr val="111318"/>
                </a:solidFill>
              </a:rPr>
              <a:t>How certificates are renewed today</a:t>
            </a:r>
          </a:p>
        </p:txBody>
      </p:sp>
      <p:sp>
        <p:nvSpPr>
          <p:cNvPr id="141" name="seg">
            <a:extLst>
              <a:ext uri="{FF2B5EF4-FFF2-40B4-BE49-F238E27FC236}">
                <a16:creationId xmlns:a16="http://schemas.microsoft.com/office/drawing/2014/main" id="{26B12CF1-1E5A-4914-8C5B-53B163941F28}"/>
              </a:ext>
            </a:extLst>
          </p:cNvPr>
          <p:cNvSpPr>
            <a:spLocks noGrp="1"/>
          </p:cNvSpPr>
          <p:nvPr/>
        </p:nvSpPr>
        <p:spPr>
          <a:xfrm>
            <a:off x="612648" y="4608576"/>
            <a:ext cx="5242571" cy="292608"/>
          </a:xfrm>
          <a:prstGeom prst="rect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eg">
            <a:extLst>
              <a:ext uri="{FF2B5EF4-FFF2-40B4-BE49-F238E27FC236}">
                <a16:creationId xmlns:a16="http://schemas.microsoft.com/office/drawing/2014/main" id="{591DD349-435A-44CA-9860-F0C858E01AD9}"/>
              </a:ext>
            </a:extLst>
          </p:cNvPr>
          <p:cNvSpPr>
            <a:spLocks noGrp="1"/>
          </p:cNvSpPr>
          <p:nvPr/>
        </p:nvSpPr>
        <p:spPr>
          <a:xfrm>
            <a:off x="5855219" y="4608576"/>
            <a:ext cx="1477349" cy="292608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eg">
            <a:extLst>
              <a:ext uri="{FF2B5EF4-FFF2-40B4-BE49-F238E27FC236}">
                <a16:creationId xmlns:a16="http://schemas.microsoft.com/office/drawing/2014/main" id="{32CB100D-E478-47CE-9FE2-A5FB5DA3C0A9}"/>
              </a:ext>
            </a:extLst>
          </p:cNvPr>
          <p:cNvSpPr>
            <a:spLocks noGrp="1"/>
          </p:cNvSpPr>
          <p:nvPr/>
        </p:nvSpPr>
        <p:spPr>
          <a:xfrm>
            <a:off x="7332568" y="4608576"/>
            <a:ext cx="46640" cy="292608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key">
            <a:extLst>
              <a:ext uri="{FF2B5EF4-FFF2-40B4-BE49-F238E27FC236}">
                <a16:creationId xmlns:a16="http://schemas.microsoft.com/office/drawing/2014/main" id="{803CE40D-1FE1-43A7-88C7-671D8F4572DA}"/>
              </a:ext>
            </a:extLst>
          </p:cNvPr>
          <p:cNvSpPr>
            <a:spLocks noGrp="1"/>
          </p:cNvSpPr>
          <p:nvPr/>
        </p:nvSpPr>
        <p:spPr>
          <a:xfrm>
            <a:off x="612648" y="5029200"/>
            <a:ext cx="128016" cy="128016"/>
          </a:xfrm>
          <a:prstGeom prst="rect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key-t">
            <a:extLst>
              <a:ext uri="{FF2B5EF4-FFF2-40B4-BE49-F238E27FC236}">
                <a16:creationId xmlns:a16="http://schemas.microsoft.com/office/drawing/2014/main" id="{E5DD1D6B-A371-4238-9262-CF55032EC5C3}"/>
              </a:ext>
            </a:extLst>
          </p:cNvPr>
          <p:cNvSpPr>
            <a:spLocks noGrp="1"/>
          </p:cNvSpPr>
          <p:nvPr/>
        </p:nvSpPr>
        <p:spPr>
          <a:xfrm>
            <a:off x="795528" y="4956048"/>
            <a:ext cx="24688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Likely automated · 4,159</a:t>
            </a:r>
          </a:p>
        </p:txBody>
      </p:sp>
      <p:sp>
        <p:nvSpPr>
          <p:cNvPr id="146" name="key">
            <a:extLst>
              <a:ext uri="{FF2B5EF4-FFF2-40B4-BE49-F238E27FC236}">
                <a16:creationId xmlns:a16="http://schemas.microsoft.com/office/drawing/2014/main" id="{E21C4F32-1611-4446-BF8F-B46382DBEB0D}"/>
              </a:ext>
            </a:extLst>
          </p:cNvPr>
          <p:cNvSpPr>
            <a:spLocks noGrp="1"/>
          </p:cNvSpPr>
          <p:nvPr/>
        </p:nvSpPr>
        <p:spPr>
          <a:xfrm>
            <a:off x="3127248" y="5029200"/>
            <a:ext cx="128016" cy="128016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key-t">
            <a:extLst>
              <a:ext uri="{FF2B5EF4-FFF2-40B4-BE49-F238E27FC236}">
                <a16:creationId xmlns:a16="http://schemas.microsoft.com/office/drawing/2014/main" id="{2356581F-877A-4104-A48F-DEA4D4BC66AE}"/>
              </a:ext>
            </a:extLst>
          </p:cNvPr>
          <p:cNvSpPr>
            <a:spLocks noGrp="1"/>
          </p:cNvSpPr>
          <p:nvPr/>
        </p:nvSpPr>
        <p:spPr>
          <a:xfrm>
            <a:off x="3310128" y="4956048"/>
            <a:ext cx="24688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Manual, central management · 1,172</a:t>
            </a:r>
          </a:p>
        </p:txBody>
      </p:sp>
      <p:sp>
        <p:nvSpPr>
          <p:cNvPr id="148" name="key">
            <a:extLst>
              <a:ext uri="{FF2B5EF4-FFF2-40B4-BE49-F238E27FC236}">
                <a16:creationId xmlns:a16="http://schemas.microsoft.com/office/drawing/2014/main" id="{50EDFCEB-27BB-44CB-98AA-F6CEB2AB8A34}"/>
              </a:ext>
            </a:extLst>
          </p:cNvPr>
          <p:cNvSpPr>
            <a:spLocks noGrp="1"/>
          </p:cNvSpPr>
          <p:nvPr/>
        </p:nvSpPr>
        <p:spPr>
          <a:xfrm>
            <a:off x="5641848" y="5029200"/>
            <a:ext cx="128016" cy="128016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key-t">
            <a:extLst>
              <a:ext uri="{FF2B5EF4-FFF2-40B4-BE49-F238E27FC236}">
                <a16:creationId xmlns:a16="http://schemas.microsoft.com/office/drawing/2014/main" id="{CC346EB6-DACD-4E62-B683-9FAC15C6EF97}"/>
              </a:ext>
            </a:extLst>
          </p:cNvPr>
          <p:cNvSpPr>
            <a:spLocks noGrp="1"/>
          </p:cNvSpPr>
          <p:nvPr/>
        </p:nvSpPr>
        <p:spPr>
          <a:xfrm>
            <a:off x="5824728" y="4956048"/>
            <a:ext cx="24688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Verify · 37</a:t>
            </a:r>
          </a:p>
        </p:txBody>
      </p:sp>
      <p:sp>
        <p:nvSpPr>
          <p:cNvPr id="150" name="bar-note">
            <a:extLst>
              <a:ext uri="{FF2B5EF4-FFF2-40B4-BE49-F238E27FC236}">
                <a16:creationId xmlns:a16="http://schemas.microsoft.com/office/drawing/2014/main" id="{FA11A2AA-3D21-42BD-85D0-63FA6E3301B7}"/>
              </a:ext>
            </a:extLst>
          </p:cNvPr>
          <p:cNvSpPr>
            <a:spLocks noGrp="1"/>
          </p:cNvSpPr>
          <p:nvPr/>
        </p:nvSpPr>
        <p:spPr>
          <a:xfrm>
            <a:off x="612648" y="5285232"/>
            <a:ext cx="676656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Three in four certificates already renew themselves — but nobody checks that they do, one in five depends on a person remembering, and none of it matters if the domain underneath lapses.</a:t>
            </a:r>
          </a:p>
        </p:txBody>
      </p:sp>
      <p:sp>
        <p:nvSpPr>
          <p:cNvPr id="151" name="side">
            <a:extLst>
              <a:ext uri="{FF2B5EF4-FFF2-40B4-BE49-F238E27FC236}">
                <a16:creationId xmlns:a16="http://schemas.microsoft.com/office/drawing/2014/main" id="{EA86BAC8-49D5-4E87-92A3-EE5E282249DC}"/>
              </a:ext>
            </a:extLst>
          </p:cNvPr>
          <p:cNvSpPr>
            <a:spLocks noGrp="1"/>
          </p:cNvSpPr>
          <p:nvPr/>
        </p:nvSpPr>
        <p:spPr>
          <a:xfrm>
            <a:off x="7882128" y="4315968"/>
            <a:ext cx="3703320" cy="1536192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ide-h">
            <a:extLst>
              <a:ext uri="{FF2B5EF4-FFF2-40B4-BE49-F238E27FC236}">
                <a16:creationId xmlns:a16="http://schemas.microsoft.com/office/drawing/2014/main" id="{5CD380ED-49A3-4AD9-B50C-81FAA8F0DDDA}"/>
              </a:ext>
            </a:extLst>
          </p:cNvPr>
          <p:cNvSpPr>
            <a:spLocks noGrp="1"/>
          </p:cNvSpPr>
          <p:nvPr/>
        </p:nvSpPr>
        <p:spPr>
          <a:xfrm>
            <a:off x="8110728" y="4425696"/>
            <a:ext cx="329184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00" b="1">
                <a:solidFill>
                  <a:srgbClr val="68C9F0"/>
                </a:solidFill>
              </a:defRPr>
            </a:pPr>
            <a:r>
              <a:rPr lang="en-US" sz="1100" b="1">
                <a:solidFill>
                  <a:srgbClr val="68C9F0"/>
                </a:solidFill>
              </a:rPr>
              <a:t>What this means</a:t>
            </a:r>
          </a:p>
        </p:txBody>
      </p:sp>
      <p:sp>
        <p:nvSpPr>
          <p:cNvPr id="153" name="side-b">
            <a:extLst>
              <a:ext uri="{FF2B5EF4-FFF2-40B4-BE49-F238E27FC236}">
                <a16:creationId xmlns:a16="http://schemas.microsoft.com/office/drawing/2014/main" id="{09DC18DC-A190-4129-A8FA-8013EB7D31CC}"/>
              </a:ext>
            </a:extLst>
          </p:cNvPr>
          <p:cNvSpPr>
            <a:spLocks noGrp="1"/>
          </p:cNvSpPr>
          <p:nvPr/>
        </p:nvSpPr>
        <p:spPr>
          <a:xfrm>
            <a:off x="8110728" y="4681728"/>
            <a:ext cx="329184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lang="en-US" sz="1200" b="0">
                <a:solidFill>
                  <a:srgbClr val="FFFFFF"/>
                </a:solidFill>
              </a:rPr>
              <a:t>Two inventories, both spreadsheets, neither owned. On the maturity scale this is Level 1 — the level at which outages are a matter of time.</a:t>
            </a:r>
          </a:p>
        </p:txBody>
      </p:sp>
      <p:sp>
        <p:nvSpPr>
          <p:cNvPr id="154" name="lvl-label">
            <a:extLst>
              <a:ext uri="{FF2B5EF4-FFF2-40B4-BE49-F238E27FC236}">
                <a16:creationId xmlns:a16="http://schemas.microsoft.com/office/drawing/2014/main" id="{2D707444-6757-4B4D-A1F3-AA74ACF66C25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D94A4A"/>
                </a:solidFill>
              </a:defRPr>
            </a:pPr>
            <a:r>
              <a:rPr lang="en-US" sz="900" b="1">
                <a:solidFill>
                  <a:srgbClr val="D94A4A"/>
                </a:solidFill>
              </a:rPr>
              <a:t>Today: Level 1 · Initial</a:t>
            </a:r>
          </a:p>
        </p:txBody>
      </p:sp>
      <p:sp>
        <p:nvSpPr>
          <p:cNvPr id="155" name="lvl-block">
            <a:extLst>
              <a:ext uri="{FF2B5EF4-FFF2-40B4-BE49-F238E27FC236}">
                <a16:creationId xmlns:a16="http://schemas.microsoft.com/office/drawing/2014/main" id="{B4E5A0D0-DC75-457F-955D-BE453AD3A2B4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lvl-block">
            <a:extLst>
              <a:ext uri="{FF2B5EF4-FFF2-40B4-BE49-F238E27FC236}">
                <a16:creationId xmlns:a16="http://schemas.microsoft.com/office/drawing/2014/main" id="{27A994AC-89C1-435E-B26C-F4C3438E2658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lvl-block">
            <a:extLst>
              <a:ext uri="{FF2B5EF4-FFF2-40B4-BE49-F238E27FC236}">
                <a16:creationId xmlns:a16="http://schemas.microsoft.com/office/drawing/2014/main" id="{5C31D7B5-6358-497B-A156-E954ECD9F831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lvl-block">
            <a:extLst>
              <a:ext uri="{FF2B5EF4-FFF2-40B4-BE49-F238E27FC236}">
                <a16:creationId xmlns:a16="http://schemas.microsoft.com/office/drawing/2014/main" id="{24390BCA-FD9A-4476-9F7A-34F150DF11F5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lvl-block">
            <a:extLst>
              <a:ext uri="{FF2B5EF4-FFF2-40B4-BE49-F238E27FC236}">
                <a16:creationId xmlns:a16="http://schemas.microsoft.com/office/drawing/2014/main" id="{15E4A9E4-8FFB-4895-990D-809956691CF6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rc">
            <a:extLst>
              <a:ext uri="{FF2B5EF4-FFF2-40B4-BE49-F238E27FC236}">
                <a16:creationId xmlns:a16="http://schemas.microsoft.com/office/drawing/2014/main" id="{485C41BC-4385-4ED0-BD55-928CC624CD8B}"/>
              </a:ext>
            </a:extLst>
          </p:cNvPr>
          <p:cNvSpPr>
            <a:spLocks noGrp="1"/>
          </p:cNvSpPr>
          <p:nvPr/>
        </p:nvSpPr>
        <p:spPr>
          <a:xfrm>
            <a:off x="612648" y="5943600"/>
            <a:ext cx="109728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900" b="0">
                <a:solidFill>
                  <a:srgbClr val="5E6672"/>
                </a:solidFill>
              </a:defRPr>
            </a:pPr>
            <a:r>
              <a:rPr lang="en-US" sz="900" b="0">
                <a:solidFill>
                  <a:srgbClr val="5E6672"/>
                </a:solidFill>
              </a:rPr>
              <a:t>Source: external certificate discovery scan, 5,368 rows; domain figures are placeholders until the registrar export is loaded. Expiry counts move with the date; ownership and issuance figures are structural.</a:t>
            </a:r>
          </a:p>
        </p:txBody>
      </p:sp>
    </p:spTree>
    <p:extLst>
      <p:ext uri="{BB962C8B-B14F-4D97-AF65-F5344CB8AC3E}">
        <p14:creationId xmlns:p14="http://schemas.microsoft.com/office/powerpoint/2010/main" val="79725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kicker">
            <a:extLst>
              <a:ext uri="{FF2B5EF4-FFF2-40B4-BE49-F238E27FC236}">
                <a16:creationId xmlns:a16="http://schemas.microsoft.com/office/drawing/2014/main" id="{327DB701-83F1-4596-BA3D-7486DB1E0F45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THE CMMI MATURITY LADDER</a:t>
            </a:r>
          </a:p>
        </p:txBody>
      </p:sp>
      <p:sp>
        <p:nvSpPr>
          <p:cNvPr id="162" name="title">
            <a:extLst>
              <a:ext uri="{FF2B5EF4-FFF2-40B4-BE49-F238E27FC236}">
                <a16:creationId xmlns:a16="http://schemas.microsoft.com/office/drawing/2014/main" id="{71D9921B-850C-4C0B-808A-C7D1EEA8950F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Five maturity levels — for certificates and the domains under them</a:t>
            </a:r>
          </a:p>
        </p:txBody>
      </p:sp>
      <p:sp>
        <p:nvSpPr>
          <p:cNvPr id="163" name="rule">
            <a:extLst>
              <a:ext uri="{FF2B5EF4-FFF2-40B4-BE49-F238E27FC236}">
                <a16:creationId xmlns:a16="http://schemas.microsoft.com/office/drawing/2014/main" id="{D4072E2D-6253-4870-AA51-8113961B04D9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page">
            <a:extLst>
              <a:ext uri="{FF2B5EF4-FFF2-40B4-BE49-F238E27FC236}">
                <a16:creationId xmlns:a16="http://schemas.microsoft.com/office/drawing/2014/main" id="{03A34A71-8B9F-436C-8FC6-5E0AA3265AFD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04</a:t>
            </a:r>
          </a:p>
        </p:txBody>
      </p:sp>
      <p:sp>
        <p:nvSpPr>
          <p:cNvPr id="165" name="footer">
            <a:extLst>
              <a:ext uri="{FF2B5EF4-FFF2-40B4-BE49-F238E27FC236}">
                <a16:creationId xmlns:a16="http://schemas.microsoft.com/office/drawing/2014/main" id="{66A371FA-3454-4893-BDBE-E07774C352D0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166" name="card">
            <a:extLst>
              <a:ext uri="{FF2B5EF4-FFF2-40B4-BE49-F238E27FC236}">
                <a16:creationId xmlns:a16="http://schemas.microsoft.com/office/drawing/2014/main" id="{5D7B7E8B-48A3-4894-A9B7-AB78BC77D9F6}"/>
              </a:ext>
            </a:extLst>
          </p:cNvPr>
          <p:cNvSpPr>
            <a:spLocks noGrp="1"/>
          </p:cNvSpPr>
          <p:nvPr/>
        </p:nvSpPr>
        <p:spPr>
          <a:xfrm>
            <a:off x="612648" y="1481328"/>
            <a:ext cx="2084832" cy="3931920"/>
          </a:xfrm>
          <a:prstGeom prst="rect">
            <a:avLst/>
          </a:prstGeom>
          <a:solidFill>
            <a:srgbClr val="FCED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tep">
            <a:extLst>
              <a:ext uri="{FF2B5EF4-FFF2-40B4-BE49-F238E27FC236}">
                <a16:creationId xmlns:a16="http://schemas.microsoft.com/office/drawing/2014/main" id="{50B7CB92-596E-4BD2-A453-F8FB5F223F1B}"/>
              </a:ext>
            </a:extLst>
          </p:cNvPr>
          <p:cNvSpPr>
            <a:spLocks noGrp="1"/>
          </p:cNvSpPr>
          <p:nvPr/>
        </p:nvSpPr>
        <p:spPr>
          <a:xfrm>
            <a:off x="795528" y="1645920"/>
            <a:ext cx="457200" cy="457200"/>
          </a:xfrm>
          <a:prstGeom prst="ellipse">
            <a:avLst/>
          </a:prstGeom>
          <a:solidFill>
            <a:srgbClr val="5E667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n">
            <a:extLst>
              <a:ext uri="{FF2B5EF4-FFF2-40B4-BE49-F238E27FC236}">
                <a16:creationId xmlns:a16="http://schemas.microsoft.com/office/drawing/2014/main" id="{D21944B7-FECE-42E7-B167-4667492752C7}"/>
              </a:ext>
            </a:extLst>
          </p:cNvPr>
          <p:cNvSpPr>
            <a:spLocks noGrp="1"/>
          </p:cNvSpPr>
          <p:nvPr/>
        </p:nvSpPr>
        <p:spPr>
          <a:xfrm>
            <a:off x="795528" y="164592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9" name="lv-name">
            <a:extLst>
              <a:ext uri="{FF2B5EF4-FFF2-40B4-BE49-F238E27FC236}">
                <a16:creationId xmlns:a16="http://schemas.microsoft.com/office/drawing/2014/main" id="{ED2A914C-98E0-47E1-AF8F-0A6AFD4ACE15}"/>
              </a:ext>
            </a:extLst>
          </p:cNvPr>
          <p:cNvSpPr>
            <a:spLocks noGrp="1"/>
          </p:cNvSpPr>
          <p:nvPr/>
        </p:nvSpPr>
        <p:spPr>
          <a:xfrm>
            <a:off x="1344168" y="1645920"/>
            <a:ext cx="121615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00" b="1">
                <a:solidFill>
                  <a:srgbClr val="111318"/>
                </a:solidFill>
              </a:defRPr>
            </a:pPr>
            <a:r>
              <a:rPr lang="en-US" sz="1500" b="1">
                <a:solidFill>
                  <a:srgbClr val="111318"/>
                </a:solidFill>
              </a:rPr>
              <a:t>Initial</a:t>
            </a:r>
          </a:p>
        </p:txBody>
      </p:sp>
      <p:sp>
        <p:nvSpPr>
          <p:cNvPr id="170" name="lv-desc">
            <a:extLst>
              <a:ext uri="{FF2B5EF4-FFF2-40B4-BE49-F238E27FC236}">
                <a16:creationId xmlns:a16="http://schemas.microsoft.com/office/drawing/2014/main" id="{89D7162C-A62D-44EA-9683-13FC9DC0EE06}"/>
              </a:ext>
            </a:extLst>
          </p:cNvPr>
          <p:cNvSpPr>
            <a:spLocks noGrp="1"/>
          </p:cNvSpPr>
          <p:nvPr/>
        </p:nvSpPr>
        <p:spPr>
          <a:xfrm>
            <a:off x="795528" y="2212848"/>
            <a:ext cx="1719072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111318"/>
                </a:solidFill>
              </a:defRPr>
            </a:pPr>
            <a:r>
              <a:rPr lang="en-US" sz="1100" b="0">
                <a:solidFill>
                  <a:srgbClr val="111318"/>
                </a:solidFill>
              </a:rPr>
              <a:t>Spreadsheets and heroics. Renewals stall when one person is away.</a:t>
            </a:r>
          </a:p>
        </p:txBody>
      </p:sp>
      <p:sp>
        <p:nvSpPr>
          <p:cNvPr id="171" name="lv-rule">
            <a:extLst>
              <a:ext uri="{FF2B5EF4-FFF2-40B4-BE49-F238E27FC236}">
                <a16:creationId xmlns:a16="http://schemas.microsoft.com/office/drawing/2014/main" id="{B95FFC36-E9BB-429B-B0C8-B366059AF8CE}"/>
              </a:ext>
            </a:extLst>
          </p:cNvPr>
          <p:cNvSpPr>
            <a:spLocks noGrp="1"/>
          </p:cNvSpPr>
          <p:nvPr/>
        </p:nvSpPr>
        <p:spPr>
          <a:xfrm>
            <a:off x="795528" y="3218688"/>
            <a:ext cx="1719072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lv-dc-h">
            <a:extLst>
              <a:ext uri="{FF2B5EF4-FFF2-40B4-BE49-F238E27FC236}">
                <a16:creationId xmlns:a16="http://schemas.microsoft.com/office/drawing/2014/main" id="{D236281E-83C1-4F53-B046-9C532B1D3E44}"/>
              </a:ext>
            </a:extLst>
          </p:cNvPr>
          <p:cNvSpPr>
            <a:spLocks noGrp="1"/>
          </p:cNvSpPr>
          <p:nvPr/>
        </p:nvSpPr>
        <p:spPr>
          <a:xfrm>
            <a:off x="795528" y="3282696"/>
            <a:ext cx="17190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00" b="1">
                <a:solidFill>
                  <a:srgbClr val="5E6672"/>
                </a:solidFill>
              </a:defRPr>
            </a:pPr>
            <a:r>
              <a:rPr lang="en-US" sz="800" b="1">
                <a:solidFill>
                  <a:srgbClr val="5E6672"/>
                </a:solidFill>
              </a:rPr>
              <a:t>DCOPS ADDS · CERTIFICATES</a:t>
            </a:r>
          </a:p>
        </p:txBody>
      </p:sp>
      <p:sp>
        <p:nvSpPr>
          <p:cNvPr id="173" name="lv-dc">
            <a:extLst>
              <a:ext uri="{FF2B5EF4-FFF2-40B4-BE49-F238E27FC236}">
                <a16:creationId xmlns:a16="http://schemas.microsoft.com/office/drawing/2014/main" id="{16EE3C09-0EA7-4632-9C27-32671DE97F86}"/>
              </a:ext>
            </a:extLst>
          </p:cNvPr>
          <p:cNvSpPr>
            <a:spLocks noGrp="1"/>
          </p:cNvSpPr>
          <p:nvPr/>
        </p:nvSpPr>
        <p:spPr>
          <a:xfrm>
            <a:off x="795528" y="3493008"/>
            <a:ext cx="1719072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1">
                <a:solidFill>
                  <a:srgbClr val="111318"/>
                </a:solidFill>
              </a:defRPr>
            </a:pPr>
            <a:r>
              <a:rPr lang="en-US" sz="1050" b="1">
                <a:solidFill>
                  <a:srgbClr val="111318"/>
                </a:solidFill>
              </a:rPr>
              <a:t>Load the scan into a single register</a:t>
            </a:r>
          </a:p>
        </p:txBody>
      </p:sp>
      <p:sp>
        <p:nvSpPr>
          <p:cNvPr id="174" name="lv-dm-h">
            <a:extLst>
              <a:ext uri="{FF2B5EF4-FFF2-40B4-BE49-F238E27FC236}">
                <a16:creationId xmlns:a16="http://schemas.microsoft.com/office/drawing/2014/main" id="{4853C92D-930A-46EA-B78A-A4E2EB0C13D2}"/>
              </a:ext>
            </a:extLst>
          </p:cNvPr>
          <p:cNvSpPr>
            <a:spLocks noGrp="1"/>
          </p:cNvSpPr>
          <p:nvPr/>
        </p:nvSpPr>
        <p:spPr>
          <a:xfrm>
            <a:off x="795528" y="4224528"/>
            <a:ext cx="17190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00" b="1">
                <a:solidFill>
                  <a:srgbClr val="5E6672"/>
                </a:solidFill>
              </a:defRPr>
            </a:pPr>
            <a:r>
              <a:rPr lang="en-US" sz="800" b="1">
                <a:solidFill>
                  <a:srgbClr val="5E6672"/>
                </a:solidFill>
              </a:rPr>
              <a:t>DCOPS ADDS · DOMAINS</a:t>
            </a:r>
          </a:p>
        </p:txBody>
      </p:sp>
      <p:sp>
        <p:nvSpPr>
          <p:cNvPr id="175" name="lv-dm">
            <a:extLst>
              <a:ext uri="{FF2B5EF4-FFF2-40B4-BE49-F238E27FC236}">
                <a16:creationId xmlns:a16="http://schemas.microsoft.com/office/drawing/2014/main" id="{F943A695-FA28-429A-807F-DD2A7433447D}"/>
              </a:ext>
            </a:extLst>
          </p:cNvPr>
          <p:cNvSpPr>
            <a:spLocks noGrp="1"/>
          </p:cNvSpPr>
          <p:nvPr/>
        </p:nvSpPr>
        <p:spPr>
          <a:xfrm>
            <a:off x="795528" y="4434840"/>
            <a:ext cx="171907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1">
                <a:solidFill>
                  <a:srgbClr val="111318"/>
                </a:solidFill>
              </a:defRPr>
            </a:pPr>
            <a:r>
              <a:rPr lang="en-US" sz="1050" b="1">
                <a:solidFill>
                  <a:srgbClr val="111318"/>
                </a:solidFill>
              </a:rPr>
              <a:t>Domains in a registrar login nobody shares</a:t>
            </a:r>
          </a:p>
        </p:txBody>
      </p:sp>
      <p:sp>
        <p:nvSpPr>
          <p:cNvPr id="176" name="lv-when">
            <a:extLst>
              <a:ext uri="{FF2B5EF4-FFF2-40B4-BE49-F238E27FC236}">
                <a16:creationId xmlns:a16="http://schemas.microsoft.com/office/drawing/2014/main" id="{89ACDD62-04AD-4429-AFC9-DCC9E6894E2F}"/>
              </a:ext>
            </a:extLst>
          </p:cNvPr>
          <p:cNvSpPr>
            <a:spLocks noGrp="1"/>
          </p:cNvSpPr>
          <p:nvPr/>
        </p:nvSpPr>
        <p:spPr>
          <a:xfrm>
            <a:off x="795528" y="5111496"/>
            <a:ext cx="1719072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1">
                <a:solidFill>
                  <a:srgbClr val="5E6672"/>
                </a:solidFill>
              </a:defRPr>
            </a:pPr>
            <a:r>
              <a:rPr lang="en-US" sz="1000" b="1">
                <a:solidFill>
                  <a:srgbClr val="5E6672"/>
                </a:solidFill>
              </a:rPr>
              <a:t>Today</a:t>
            </a:r>
          </a:p>
        </p:txBody>
      </p:sp>
      <p:sp>
        <p:nvSpPr>
          <p:cNvPr id="177" name="card">
            <a:extLst>
              <a:ext uri="{FF2B5EF4-FFF2-40B4-BE49-F238E27FC236}">
                <a16:creationId xmlns:a16="http://schemas.microsoft.com/office/drawing/2014/main" id="{AEFF0E7A-739E-4141-9168-A659141FA50C}"/>
              </a:ext>
            </a:extLst>
          </p:cNvPr>
          <p:cNvSpPr>
            <a:spLocks noGrp="1"/>
          </p:cNvSpPr>
          <p:nvPr/>
        </p:nvSpPr>
        <p:spPr>
          <a:xfrm>
            <a:off x="2834640" y="1481328"/>
            <a:ext cx="2084832" cy="393192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tep">
            <a:extLst>
              <a:ext uri="{FF2B5EF4-FFF2-40B4-BE49-F238E27FC236}">
                <a16:creationId xmlns:a16="http://schemas.microsoft.com/office/drawing/2014/main" id="{80CC1E5A-D129-4A6A-8672-932021714E9B}"/>
              </a:ext>
            </a:extLst>
          </p:cNvPr>
          <p:cNvSpPr>
            <a:spLocks noGrp="1"/>
          </p:cNvSpPr>
          <p:nvPr/>
        </p:nvSpPr>
        <p:spPr>
          <a:xfrm>
            <a:off x="3017520" y="1645920"/>
            <a:ext cx="457200" cy="4572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n">
            <a:extLst>
              <a:ext uri="{FF2B5EF4-FFF2-40B4-BE49-F238E27FC236}">
                <a16:creationId xmlns:a16="http://schemas.microsoft.com/office/drawing/2014/main" id="{E2FBACBF-698F-4A9F-BDC2-0B115944E643}"/>
              </a:ext>
            </a:extLst>
          </p:cNvPr>
          <p:cNvSpPr>
            <a:spLocks noGrp="1"/>
          </p:cNvSpPr>
          <p:nvPr/>
        </p:nvSpPr>
        <p:spPr>
          <a:xfrm>
            <a:off x="3017520" y="164592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0" name="lv-name">
            <a:extLst>
              <a:ext uri="{FF2B5EF4-FFF2-40B4-BE49-F238E27FC236}">
                <a16:creationId xmlns:a16="http://schemas.microsoft.com/office/drawing/2014/main" id="{AEFDAE30-76F1-4B43-B575-5E5EE0AA1325}"/>
              </a:ext>
            </a:extLst>
          </p:cNvPr>
          <p:cNvSpPr>
            <a:spLocks noGrp="1"/>
          </p:cNvSpPr>
          <p:nvPr/>
        </p:nvSpPr>
        <p:spPr>
          <a:xfrm>
            <a:off x="3566160" y="1645920"/>
            <a:ext cx="121615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00" b="1">
                <a:solidFill>
                  <a:srgbClr val="111318"/>
                </a:solidFill>
              </a:defRPr>
            </a:pPr>
            <a:r>
              <a:rPr lang="en-US" sz="1500" b="1">
                <a:solidFill>
                  <a:srgbClr val="111318"/>
                </a:solidFill>
              </a:rPr>
              <a:t>Managed</a:t>
            </a:r>
          </a:p>
        </p:txBody>
      </p:sp>
      <p:sp>
        <p:nvSpPr>
          <p:cNvPr id="181" name="lv-desc">
            <a:extLst>
              <a:ext uri="{FF2B5EF4-FFF2-40B4-BE49-F238E27FC236}">
                <a16:creationId xmlns:a16="http://schemas.microsoft.com/office/drawing/2014/main" id="{2175A60E-6373-4F00-B118-68CFF05EFC91}"/>
              </a:ext>
            </a:extLst>
          </p:cNvPr>
          <p:cNvSpPr>
            <a:spLocks noGrp="1"/>
          </p:cNvSpPr>
          <p:nvPr/>
        </p:nvSpPr>
        <p:spPr>
          <a:xfrm>
            <a:off x="3017520" y="2212848"/>
            <a:ext cx="1719072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111318"/>
                </a:solidFill>
              </a:defRPr>
            </a:pPr>
            <a:r>
              <a:rPr lang="en-US" sz="1100" b="0">
                <a:solidFill>
                  <a:srgbClr val="111318"/>
                </a:solidFill>
              </a:rPr>
              <a:t>Central inventory, named owners, expiry reminders.</a:t>
            </a:r>
          </a:p>
        </p:txBody>
      </p:sp>
      <p:sp>
        <p:nvSpPr>
          <p:cNvPr id="182" name="lv-rule">
            <a:extLst>
              <a:ext uri="{FF2B5EF4-FFF2-40B4-BE49-F238E27FC236}">
                <a16:creationId xmlns:a16="http://schemas.microsoft.com/office/drawing/2014/main" id="{C5D72299-712A-442B-935F-F082A3F62ED0}"/>
              </a:ext>
            </a:extLst>
          </p:cNvPr>
          <p:cNvSpPr>
            <a:spLocks noGrp="1"/>
          </p:cNvSpPr>
          <p:nvPr/>
        </p:nvSpPr>
        <p:spPr>
          <a:xfrm>
            <a:off x="3017520" y="3218688"/>
            <a:ext cx="1719072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lv-dc-h">
            <a:extLst>
              <a:ext uri="{FF2B5EF4-FFF2-40B4-BE49-F238E27FC236}">
                <a16:creationId xmlns:a16="http://schemas.microsoft.com/office/drawing/2014/main" id="{E2F7F8F0-418B-4365-9BF1-F53EDAD55BB5}"/>
              </a:ext>
            </a:extLst>
          </p:cNvPr>
          <p:cNvSpPr>
            <a:spLocks noGrp="1"/>
          </p:cNvSpPr>
          <p:nvPr/>
        </p:nvSpPr>
        <p:spPr>
          <a:xfrm>
            <a:off x="3017520" y="3282696"/>
            <a:ext cx="17190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00" b="1">
                <a:solidFill>
                  <a:srgbClr val="5E6672"/>
                </a:solidFill>
              </a:defRPr>
            </a:pPr>
            <a:r>
              <a:rPr lang="en-US" sz="800" b="1">
                <a:solidFill>
                  <a:srgbClr val="5E6672"/>
                </a:solidFill>
              </a:rPr>
              <a:t>DCOPS ADDS · CERTIFICATES</a:t>
            </a:r>
          </a:p>
        </p:txBody>
      </p:sp>
      <p:sp>
        <p:nvSpPr>
          <p:cNvPr id="184" name="lv-dc">
            <a:extLst>
              <a:ext uri="{FF2B5EF4-FFF2-40B4-BE49-F238E27FC236}">
                <a16:creationId xmlns:a16="http://schemas.microsoft.com/office/drawing/2014/main" id="{B259093F-D9A0-4B38-ACB4-AC06EAD8C998}"/>
              </a:ext>
            </a:extLst>
          </p:cNvPr>
          <p:cNvSpPr>
            <a:spLocks noGrp="1"/>
          </p:cNvSpPr>
          <p:nvPr/>
        </p:nvSpPr>
        <p:spPr>
          <a:xfrm>
            <a:off x="3017520" y="3493008"/>
            <a:ext cx="1719072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1">
                <a:solidFill>
                  <a:srgbClr val="2F80ED"/>
                </a:solidFill>
              </a:defRPr>
            </a:pPr>
            <a:r>
              <a:rPr lang="en-US" sz="1050" b="1">
                <a:solidFill>
                  <a:srgbClr val="2F80ED"/>
                </a:solidFill>
              </a:rPr>
              <a:t>Owner assignment and 90/60/30/14/7-day alerts</a:t>
            </a:r>
          </a:p>
        </p:txBody>
      </p:sp>
      <p:sp>
        <p:nvSpPr>
          <p:cNvPr id="185" name="lv-dm-h">
            <a:extLst>
              <a:ext uri="{FF2B5EF4-FFF2-40B4-BE49-F238E27FC236}">
                <a16:creationId xmlns:a16="http://schemas.microsoft.com/office/drawing/2014/main" id="{3311668C-2EFA-461D-B02E-CE83F01F3B77}"/>
              </a:ext>
            </a:extLst>
          </p:cNvPr>
          <p:cNvSpPr>
            <a:spLocks noGrp="1"/>
          </p:cNvSpPr>
          <p:nvPr/>
        </p:nvSpPr>
        <p:spPr>
          <a:xfrm>
            <a:off x="3017520" y="4224528"/>
            <a:ext cx="17190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00" b="1">
                <a:solidFill>
                  <a:srgbClr val="5E6672"/>
                </a:solidFill>
              </a:defRPr>
            </a:pPr>
            <a:r>
              <a:rPr lang="en-US" sz="800" b="1">
                <a:solidFill>
                  <a:srgbClr val="5E6672"/>
                </a:solidFill>
              </a:rPr>
              <a:t>DCOPS ADDS · DOMAINS</a:t>
            </a:r>
          </a:p>
        </p:txBody>
      </p:sp>
      <p:sp>
        <p:nvSpPr>
          <p:cNvPr id="186" name="lv-dm">
            <a:extLst>
              <a:ext uri="{FF2B5EF4-FFF2-40B4-BE49-F238E27FC236}">
                <a16:creationId xmlns:a16="http://schemas.microsoft.com/office/drawing/2014/main" id="{9192DD78-430B-49FC-B4E4-E3E9C7AC1A65}"/>
              </a:ext>
            </a:extLst>
          </p:cNvPr>
          <p:cNvSpPr>
            <a:spLocks noGrp="1"/>
          </p:cNvSpPr>
          <p:nvPr/>
        </p:nvSpPr>
        <p:spPr>
          <a:xfrm>
            <a:off x="3017520" y="4434840"/>
            <a:ext cx="171907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1">
                <a:solidFill>
                  <a:srgbClr val="2F80ED"/>
                </a:solidFill>
              </a:defRPr>
            </a:pPr>
            <a:r>
              <a:rPr lang="en-US" sz="1050" b="1">
                <a:solidFill>
                  <a:srgbClr val="2F80ED"/>
                </a:solidFill>
              </a:rPr>
              <a:t>Every domain owned; registration expiry alerts</a:t>
            </a:r>
          </a:p>
        </p:txBody>
      </p:sp>
      <p:sp>
        <p:nvSpPr>
          <p:cNvPr id="187" name="lv-when">
            <a:extLst>
              <a:ext uri="{FF2B5EF4-FFF2-40B4-BE49-F238E27FC236}">
                <a16:creationId xmlns:a16="http://schemas.microsoft.com/office/drawing/2014/main" id="{9B998FE2-4DE7-407C-8ECB-3C38E9EA1098}"/>
              </a:ext>
            </a:extLst>
          </p:cNvPr>
          <p:cNvSpPr>
            <a:spLocks noGrp="1"/>
          </p:cNvSpPr>
          <p:nvPr/>
        </p:nvSpPr>
        <p:spPr>
          <a:xfrm>
            <a:off x="3017520" y="5111496"/>
            <a:ext cx="1719072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1">
                <a:solidFill>
                  <a:srgbClr val="5E6672"/>
                </a:solidFill>
              </a:defRPr>
            </a:pPr>
            <a:r>
              <a:rPr lang="en-US" sz="1000" b="1">
                <a:solidFill>
                  <a:srgbClr val="5E6672"/>
                </a:solidFill>
              </a:rPr>
              <a:t>Phase 1</a:t>
            </a:r>
          </a:p>
        </p:txBody>
      </p:sp>
      <p:sp>
        <p:nvSpPr>
          <p:cNvPr id="188" name="card">
            <a:extLst>
              <a:ext uri="{FF2B5EF4-FFF2-40B4-BE49-F238E27FC236}">
                <a16:creationId xmlns:a16="http://schemas.microsoft.com/office/drawing/2014/main" id="{ED40C3BA-C8B2-4B6E-A858-DA32E3D0B595}"/>
              </a:ext>
            </a:extLst>
          </p:cNvPr>
          <p:cNvSpPr>
            <a:spLocks noGrp="1"/>
          </p:cNvSpPr>
          <p:nvPr/>
        </p:nvSpPr>
        <p:spPr>
          <a:xfrm>
            <a:off x="5056632" y="1481328"/>
            <a:ext cx="2084832" cy="393192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tep">
            <a:extLst>
              <a:ext uri="{FF2B5EF4-FFF2-40B4-BE49-F238E27FC236}">
                <a16:creationId xmlns:a16="http://schemas.microsoft.com/office/drawing/2014/main" id="{1694C289-F2DB-4B24-BA05-746A8313FC54}"/>
              </a:ext>
            </a:extLst>
          </p:cNvPr>
          <p:cNvSpPr>
            <a:spLocks noGrp="1"/>
          </p:cNvSpPr>
          <p:nvPr/>
        </p:nvSpPr>
        <p:spPr>
          <a:xfrm>
            <a:off x="5239512" y="1645920"/>
            <a:ext cx="457200" cy="4572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n">
            <a:extLst>
              <a:ext uri="{FF2B5EF4-FFF2-40B4-BE49-F238E27FC236}">
                <a16:creationId xmlns:a16="http://schemas.microsoft.com/office/drawing/2014/main" id="{213F552D-9C1D-4ABD-BA9E-67A67446C7E9}"/>
              </a:ext>
            </a:extLst>
          </p:cNvPr>
          <p:cNvSpPr>
            <a:spLocks noGrp="1"/>
          </p:cNvSpPr>
          <p:nvPr/>
        </p:nvSpPr>
        <p:spPr>
          <a:xfrm>
            <a:off x="5239512" y="164592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1" name="lv-name">
            <a:extLst>
              <a:ext uri="{FF2B5EF4-FFF2-40B4-BE49-F238E27FC236}">
                <a16:creationId xmlns:a16="http://schemas.microsoft.com/office/drawing/2014/main" id="{346320A9-E89E-4F3C-988B-AEFB6B853117}"/>
              </a:ext>
            </a:extLst>
          </p:cNvPr>
          <p:cNvSpPr>
            <a:spLocks noGrp="1"/>
          </p:cNvSpPr>
          <p:nvPr/>
        </p:nvSpPr>
        <p:spPr>
          <a:xfrm>
            <a:off x="5788152" y="1645920"/>
            <a:ext cx="121615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00" b="1">
                <a:solidFill>
                  <a:srgbClr val="111318"/>
                </a:solidFill>
              </a:defRPr>
            </a:pPr>
            <a:r>
              <a:rPr lang="en-US" sz="1500" b="1">
                <a:solidFill>
                  <a:srgbClr val="111318"/>
                </a:solidFill>
              </a:rPr>
              <a:t>Defined</a:t>
            </a:r>
          </a:p>
        </p:txBody>
      </p:sp>
      <p:sp>
        <p:nvSpPr>
          <p:cNvPr id="192" name="lv-desc">
            <a:extLst>
              <a:ext uri="{FF2B5EF4-FFF2-40B4-BE49-F238E27FC236}">
                <a16:creationId xmlns:a16="http://schemas.microsoft.com/office/drawing/2014/main" id="{F5547E83-002B-4A5F-85E4-4F4EC7AEAEB6}"/>
              </a:ext>
            </a:extLst>
          </p:cNvPr>
          <p:cNvSpPr>
            <a:spLocks noGrp="1"/>
          </p:cNvSpPr>
          <p:nvPr/>
        </p:nvSpPr>
        <p:spPr>
          <a:xfrm>
            <a:off x="5239512" y="2212848"/>
            <a:ext cx="1719072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111318"/>
                </a:solidFill>
              </a:defRPr>
            </a:pPr>
            <a:r>
              <a:rPr lang="en-US" sz="1100" b="0">
                <a:solidFill>
                  <a:srgbClr val="111318"/>
                </a:solidFill>
              </a:rPr>
              <a:t>Anyone on the team can renew safely. Escalation is automatic.</a:t>
            </a:r>
          </a:p>
        </p:txBody>
      </p:sp>
      <p:sp>
        <p:nvSpPr>
          <p:cNvPr id="193" name="lv-rule">
            <a:extLst>
              <a:ext uri="{FF2B5EF4-FFF2-40B4-BE49-F238E27FC236}">
                <a16:creationId xmlns:a16="http://schemas.microsoft.com/office/drawing/2014/main" id="{813175AB-DBA4-4B6E-9794-94BEAA5ECC5D}"/>
              </a:ext>
            </a:extLst>
          </p:cNvPr>
          <p:cNvSpPr>
            <a:spLocks noGrp="1"/>
          </p:cNvSpPr>
          <p:nvPr/>
        </p:nvSpPr>
        <p:spPr>
          <a:xfrm>
            <a:off x="5239512" y="3218688"/>
            <a:ext cx="1719072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lv-dc-h">
            <a:extLst>
              <a:ext uri="{FF2B5EF4-FFF2-40B4-BE49-F238E27FC236}">
                <a16:creationId xmlns:a16="http://schemas.microsoft.com/office/drawing/2014/main" id="{11449DBD-4B7D-4980-A10B-59F6D8FEB774}"/>
              </a:ext>
            </a:extLst>
          </p:cNvPr>
          <p:cNvSpPr>
            <a:spLocks noGrp="1"/>
          </p:cNvSpPr>
          <p:nvPr/>
        </p:nvSpPr>
        <p:spPr>
          <a:xfrm>
            <a:off x="5239512" y="3282696"/>
            <a:ext cx="17190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00" b="1">
                <a:solidFill>
                  <a:srgbClr val="5E6672"/>
                </a:solidFill>
              </a:defRPr>
            </a:pPr>
            <a:r>
              <a:rPr lang="en-US" sz="800" b="1">
                <a:solidFill>
                  <a:srgbClr val="5E6672"/>
                </a:solidFill>
              </a:rPr>
              <a:t>DCOPS ADDS · CERTIFICATES</a:t>
            </a:r>
          </a:p>
        </p:txBody>
      </p:sp>
      <p:sp>
        <p:nvSpPr>
          <p:cNvPr id="195" name="lv-dc">
            <a:extLst>
              <a:ext uri="{FF2B5EF4-FFF2-40B4-BE49-F238E27FC236}">
                <a16:creationId xmlns:a16="http://schemas.microsoft.com/office/drawing/2014/main" id="{0E198D72-D5D5-4B7D-969A-35DB60C0BD62}"/>
              </a:ext>
            </a:extLst>
          </p:cNvPr>
          <p:cNvSpPr>
            <a:spLocks noGrp="1"/>
          </p:cNvSpPr>
          <p:nvPr/>
        </p:nvSpPr>
        <p:spPr>
          <a:xfrm>
            <a:off x="5239512" y="3493008"/>
            <a:ext cx="1719072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1">
                <a:solidFill>
                  <a:srgbClr val="2F80ED"/>
                </a:solidFill>
              </a:defRPr>
            </a:pPr>
            <a:r>
              <a:rPr lang="en-US" sz="1050" b="1">
                <a:solidFill>
                  <a:srgbClr val="2F80ED"/>
                </a:solidFill>
              </a:rPr>
              <a:t>Escalation chain, staging-first rotation, SOP links</a:t>
            </a:r>
          </a:p>
        </p:txBody>
      </p:sp>
      <p:sp>
        <p:nvSpPr>
          <p:cNvPr id="196" name="lv-dm-h">
            <a:extLst>
              <a:ext uri="{FF2B5EF4-FFF2-40B4-BE49-F238E27FC236}">
                <a16:creationId xmlns:a16="http://schemas.microsoft.com/office/drawing/2014/main" id="{20E97D90-0F4A-4C17-AD2A-1033E6684863}"/>
              </a:ext>
            </a:extLst>
          </p:cNvPr>
          <p:cNvSpPr>
            <a:spLocks noGrp="1"/>
          </p:cNvSpPr>
          <p:nvPr/>
        </p:nvSpPr>
        <p:spPr>
          <a:xfrm>
            <a:off x="5239512" y="4224528"/>
            <a:ext cx="17190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00" b="1">
                <a:solidFill>
                  <a:srgbClr val="5E6672"/>
                </a:solidFill>
              </a:defRPr>
            </a:pPr>
            <a:r>
              <a:rPr lang="en-US" sz="800" b="1">
                <a:solidFill>
                  <a:srgbClr val="5E6672"/>
                </a:solidFill>
              </a:rPr>
              <a:t>DCOPS ADDS · DOMAINS</a:t>
            </a:r>
          </a:p>
        </p:txBody>
      </p:sp>
      <p:sp>
        <p:nvSpPr>
          <p:cNvPr id="197" name="lv-dm">
            <a:extLst>
              <a:ext uri="{FF2B5EF4-FFF2-40B4-BE49-F238E27FC236}">
                <a16:creationId xmlns:a16="http://schemas.microsoft.com/office/drawing/2014/main" id="{66677645-D22F-44CB-9D53-8D57DECF2B6D}"/>
              </a:ext>
            </a:extLst>
          </p:cNvPr>
          <p:cNvSpPr>
            <a:spLocks noGrp="1"/>
          </p:cNvSpPr>
          <p:nvPr/>
        </p:nvSpPr>
        <p:spPr>
          <a:xfrm>
            <a:off x="5239512" y="4434840"/>
            <a:ext cx="171907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1">
                <a:solidFill>
                  <a:srgbClr val="2F80ED"/>
                </a:solidFill>
              </a:defRPr>
            </a:pPr>
            <a:r>
              <a:rPr lang="en-US" sz="1050" b="1">
                <a:solidFill>
                  <a:srgbClr val="2F80ED"/>
                </a:solidFill>
              </a:rPr>
              <a:t>Delegation and DNSSEC checked; broken chains escalate</a:t>
            </a:r>
          </a:p>
        </p:txBody>
      </p:sp>
      <p:sp>
        <p:nvSpPr>
          <p:cNvPr id="198" name="lv-when">
            <a:extLst>
              <a:ext uri="{FF2B5EF4-FFF2-40B4-BE49-F238E27FC236}">
                <a16:creationId xmlns:a16="http://schemas.microsoft.com/office/drawing/2014/main" id="{43C12DDC-84D4-4066-BA69-8EE76C7A1D46}"/>
              </a:ext>
            </a:extLst>
          </p:cNvPr>
          <p:cNvSpPr>
            <a:spLocks noGrp="1"/>
          </p:cNvSpPr>
          <p:nvPr/>
        </p:nvSpPr>
        <p:spPr>
          <a:xfrm>
            <a:off x="5239512" y="5111496"/>
            <a:ext cx="1719072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1">
                <a:solidFill>
                  <a:srgbClr val="5E6672"/>
                </a:solidFill>
              </a:defRPr>
            </a:pPr>
            <a:r>
              <a:rPr lang="en-US" sz="1000" b="1">
                <a:solidFill>
                  <a:srgbClr val="5E6672"/>
                </a:solidFill>
              </a:rPr>
              <a:t>Phase 2</a:t>
            </a:r>
          </a:p>
        </p:txBody>
      </p:sp>
      <p:sp>
        <p:nvSpPr>
          <p:cNvPr id="199" name="card">
            <a:extLst>
              <a:ext uri="{FF2B5EF4-FFF2-40B4-BE49-F238E27FC236}">
                <a16:creationId xmlns:a16="http://schemas.microsoft.com/office/drawing/2014/main" id="{1E360F2A-5D7B-42A1-9957-774D6783B176}"/>
              </a:ext>
            </a:extLst>
          </p:cNvPr>
          <p:cNvSpPr>
            <a:spLocks noGrp="1"/>
          </p:cNvSpPr>
          <p:nvPr/>
        </p:nvSpPr>
        <p:spPr>
          <a:xfrm>
            <a:off x="7278624" y="1481328"/>
            <a:ext cx="2084832" cy="393192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tep">
            <a:extLst>
              <a:ext uri="{FF2B5EF4-FFF2-40B4-BE49-F238E27FC236}">
                <a16:creationId xmlns:a16="http://schemas.microsoft.com/office/drawing/2014/main" id="{00E19356-45DD-4522-A4C9-5569EFFFA5BB}"/>
              </a:ext>
            </a:extLst>
          </p:cNvPr>
          <p:cNvSpPr>
            <a:spLocks noGrp="1"/>
          </p:cNvSpPr>
          <p:nvPr/>
        </p:nvSpPr>
        <p:spPr>
          <a:xfrm>
            <a:off x="7461504" y="1645920"/>
            <a:ext cx="457200" cy="4572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n">
            <a:extLst>
              <a:ext uri="{FF2B5EF4-FFF2-40B4-BE49-F238E27FC236}">
                <a16:creationId xmlns:a16="http://schemas.microsoft.com/office/drawing/2014/main" id="{13978EB6-2F30-43C9-98BD-C1A84D075191}"/>
              </a:ext>
            </a:extLst>
          </p:cNvPr>
          <p:cNvSpPr>
            <a:spLocks noGrp="1"/>
          </p:cNvSpPr>
          <p:nvPr/>
        </p:nvSpPr>
        <p:spPr>
          <a:xfrm>
            <a:off x="7461504" y="164592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2" name="lv-name">
            <a:extLst>
              <a:ext uri="{FF2B5EF4-FFF2-40B4-BE49-F238E27FC236}">
                <a16:creationId xmlns:a16="http://schemas.microsoft.com/office/drawing/2014/main" id="{B3823291-EFC3-41A6-97AE-35258811C962}"/>
              </a:ext>
            </a:extLst>
          </p:cNvPr>
          <p:cNvSpPr>
            <a:spLocks noGrp="1"/>
          </p:cNvSpPr>
          <p:nvPr/>
        </p:nvSpPr>
        <p:spPr>
          <a:xfrm>
            <a:off x="8010144" y="1645920"/>
            <a:ext cx="121615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00" b="1">
                <a:solidFill>
                  <a:srgbClr val="111318"/>
                </a:solidFill>
              </a:defRPr>
            </a:pPr>
            <a:r>
              <a:rPr lang="en-US" sz="1500" b="1">
                <a:solidFill>
                  <a:srgbClr val="111318"/>
                </a:solidFill>
              </a:rPr>
              <a:t>Measured</a:t>
            </a:r>
          </a:p>
        </p:txBody>
      </p:sp>
      <p:sp>
        <p:nvSpPr>
          <p:cNvPr id="203" name="lv-desc">
            <a:extLst>
              <a:ext uri="{FF2B5EF4-FFF2-40B4-BE49-F238E27FC236}">
                <a16:creationId xmlns:a16="http://schemas.microsoft.com/office/drawing/2014/main" id="{731236C0-5532-4318-907B-60274C546CA3}"/>
              </a:ext>
            </a:extLst>
          </p:cNvPr>
          <p:cNvSpPr>
            <a:spLocks noGrp="1"/>
          </p:cNvSpPr>
          <p:nvPr/>
        </p:nvSpPr>
        <p:spPr>
          <a:xfrm>
            <a:off x="7461504" y="2212848"/>
            <a:ext cx="1719072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111318"/>
                </a:solidFill>
              </a:defRPr>
            </a:pPr>
            <a:r>
              <a:rPr lang="en-US" sz="1100" b="0">
                <a:solidFill>
                  <a:srgbClr val="111318"/>
                </a:solidFill>
              </a:rPr>
              <a:t>Targets are set and tracked: no production certificate under 30 days.</a:t>
            </a:r>
          </a:p>
        </p:txBody>
      </p:sp>
      <p:sp>
        <p:nvSpPr>
          <p:cNvPr id="204" name="lv-rule">
            <a:extLst>
              <a:ext uri="{FF2B5EF4-FFF2-40B4-BE49-F238E27FC236}">
                <a16:creationId xmlns:a16="http://schemas.microsoft.com/office/drawing/2014/main" id="{013A74E3-BB1C-4868-8CA3-57BDF422573E}"/>
              </a:ext>
            </a:extLst>
          </p:cNvPr>
          <p:cNvSpPr>
            <a:spLocks noGrp="1"/>
          </p:cNvSpPr>
          <p:nvPr/>
        </p:nvSpPr>
        <p:spPr>
          <a:xfrm>
            <a:off x="7461504" y="3218688"/>
            <a:ext cx="1719072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lv-dc-h">
            <a:extLst>
              <a:ext uri="{FF2B5EF4-FFF2-40B4-BE49-F238E27FC236}">
                <a16:creationId xmlns:a16="http://schemas.microsoft.com/office/drawing/2014/main" id="{BA25C8BD-B504-4E25-A1A6-3A322B2F4014}"/>
              </a:ext>
            </a:extLst>
          </p:cNvPr>
          <p:cNvSpPr>
            <a:spLocks noGrp="1"/>
          </p:cNvSpPr>
          <p:nvPr/>
        </p:nvSpPr>
        <p:spPr>
          <a:xfrm>
            <a:off x="7461504" y="3282696"/>
            <a:ext cx="17190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00" b="1">
                <a:solidFill>
                  <a:srgbClr val="5E6672"/>
                </a:solidFill>
              </a:defRPr>
            </a:pPr>
            <a:r>
              <a:rPr lang="en-US" sz="800" b="1">
                <a:solidFill>
                  <a:srgbClr val="5E6672"/>
                </a:solidFill>
              </a:rPr>
              <a:t>DCOPS ADDS · CERTIFICATES</a:t>
            </a:r>
          </a:p>
        </p:txBody>
      </p:sp>
      <p:sp>
        <p:nvSpPr>
          <p:cNvPr id="206" name="lv-dc">
            <a:extLst>
              <a:ext uri="{FF2B5EF4-FFF2-40B4-BE49-F238E27FC236}">
                <a16:creationId xmlns:a16="http://schemas.microsoft.com/office/drawing/2014/main" id="{CAAB1303-02F6-4EA4-949F-C4D6470EEED7}"/>
              </a:ext>
            </a:extLst>
          </p:cNvPr>
          <p:cNvSpPr>
            <a:spLocks noGrp="1"/>
          </p:cNvSpPr>
          <p:nvPr/>
        </p:nvSpPr>
        <p:spPr>
          <a:xfrm>
            <a:off x="7461504" y="3493008"/>
            <a:ext cx="1719072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1">
                <a:solidFill>
                  <a:srgbClr val="2F80ED"/>
                </a:solidFill>
              </a:defRPr>
            </a:pPr>
            <a:r>
              <a:rPr lang="en-US" sz="1050" b="1">
                <a:solidFill>
                  <a:srgbClr val="2F80ED"/>
                </a:solidFill>
              </a:rPr>
              <a:t>Live checks, Datadog dashboard and SLO monitors</a:t>
            </a:r>
          </a:p>
        </p:txBody>
      </p:sp>
      <p:sp>
        <p:nvSpPr>
          <p:cNvPr id="207" name="lv-dm-h">
            <a:extLst>
              <a:ext uri="{FF2B5EF4-FFF2-40B4-BE49-F238E27FC236}">
                <a16:creationId xmlns:a16="http://schemas.microsoft.com/office/drawing/2014/main" id="{11DAE6F8-9EDA-48CF-A163-8524C23BF236}"/>
              </a:ext>
            </a:extLst>
          </p:cNvPr>
          <p:cNvSpPr>
            <a:spLocks noGrp="1"/>
          </p:cNvSpPr>
          <p:nvPr/>
        </p:nvSpPr>
        <p:spPr>
          <a:xfrm>
            <a:off x="7461504" y="4224528"/>
            <a:ext cx="17190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00" b="1">
                <a:solidFill>
                  <a:srgbClr val="5E6672"/>
                </a:solidFill>
              </a:defRPr>
            </a:pPr>
            <a:r>
              <a:rPr lang="en-US" sz="800" b="1">
                <a:solidFill>
                  <a:srgbClr val="5E6672"/>
                </a:solidFill>
              </a:rPr>
              <a:t>DCOPS ADDS · DOMAINS</a:t>
            </a:r>
          </a:p>
        </p:txBody>
      </p:sp>
      <p:sp>
        <p:nvSpPr>
          <p:cNvPr id="208" name="lv-dm">
            <a:extLst>
              <a:ext uri="{FF2B5EF4-FFF2-40B4-BE49-F238E27FC236}">
                <a16:creationId xmlns:a16="http://schemas.microsoft.com/office/drawing/2014/main" id="{C0984845-CCD4-4E8D-AAD8-F9F2A12582E9}"/>
              </a:ext>
            </a:extLst>
          </p:cNvPr>
          <p:cNvSpPr>
            <a:spLocks noGrp="1"/>
          </p:cNvSpPr>
          <p:nvPr/>
        </p:nvSpPr>
        <p:spPr>
          <a:xfrm>
            <a:off x="7461504" y="4434840"/>
            <a:ext cx="171907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1">
                <a:solidFill>
                  <a:srgbClr val="2F80ED"/>
                </a:solidFill>
              </a:defRPr>
            </a:pPr>
            <a:r>
              <a:rPr lang="en-US" sz="1050" b="1">
                <a:solidFill>
                  <a:srgbClr val="2F80ED"/>
                </a:solidFill>
              </a:rPr>
              <a:t>No critical domain under 90 days; delegation SLO</a:t>
            </a:r>
          </a:p>
        </p:txBody>
      </p:sp>
      <p:sp>
        <p:nvSpPr>
          <p:cNvPr id="209" name="lv-when">
            <a:extLst>
              <a:ext uri="{FF2B5EF4-FFF2-40B4-BE49-F238E27FC236}">
                <a16:creationId xmlns:a16="http://schemas.microsoft.com/office/drawing/2014/main" id="{407CBA55-57DC-4F2A-9EF0-B03A225AD233}"/>
              </a:ext>
            </a:extLst>
          </p:cNvPr>
          <p:cNvSpPr>
            <a:spLocks noGrp="1"/>
          </p:cNvSpPr>
          <p:nvPr/>
        </p:nvSpPr>
        <p:spPr>
          <a:xfrm>
            <a:off x="7461504" y="5111496"/>
            <a:ext cx="1719072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1">
                <a:solidFill>
                  <a:srgbClr val="5E6672"/>
                </a:solidFill>
              </a:defRPr>
            </a:pPr>
            <a:r>
              <a:rPr lang="en-US" sz="1000" b="1">
                <a:solidFill>
                  <a:srgbClr val="5E6672"/>
                </a:solidFill>
              </a:rPr>
              <a:t>Phase 2</a:t>
            </a:r>
          </a:p>
        </p:txBody>
      </p:sp>
      <p:sp>
        <p:nvSpPr>
          <p:cNvPr id="210" name="card">
            <a:extLst>
              <a:ext uri="{FF2B5EF4-FFF2-40B4-BE49-F238E27FC236}">
                <a16:creationId xmlns:a16="http://schemas.microsoft.com/office/drawing/2014/main" id="{B5F14B02-360F-4FC4-A256-33C6EEEDB89A}"/>
              </a:ext>
            </a:extLst>
          </p:cNvPr>
          <p:cNvSpPr>
            <a:spLocks noGrp="1"/>
          </p:cNvSpPr>
          <p:nvPr/>
        </p:nvSpPr>
        <p:spPr>
          <a:xfrm>
            <a:off x="9500616" y="1481328"/>
            <a:ext cx="2084832" cy="3931920"/>
          </a:xfrm>
          <a:prstGeom prst="rect">
            <a:avLst/>
          </a:prstGeom>
          <a:solidFill>
            <a:srgbClr val="EAF8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tep">
            <a:extLst>
              <a:ext uri="{FF2B5EF4-FFF2-40B4-BE49-F238E27FC236}">
                <a16:creationId xmlns:a16="http://schemas.microsoft.com/office/drawing/2014/main" id="{8BE246BA-DBC7-46A2-997B-56F68909CFC3}"/>
              </a:ext>
            </a:extLst>
          </p:cNvPr>
          <p:cNvSpPr>
            <a:spLocks noGrp="1"/>
          </p:cNvSpPr>
          <p:nvPr/>
        </p:nvSpPr>
        <p:spPr>
          <a:xfrm>
            <a:off x="9683496" y="1645920"/>
            <a:ext cx="457200" cy="457200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n">
            <a:extLst>
              <a:ext uri="{FF2B5EF4-FFF2-40B4-BE49-F238E27FC236}">
                <a16:creationId xmlns:a16="http://schemas.microsoft.com/office/drawing/2014/main" id="{59C266ED-143A-489C-A7FD-F2B80DCF22C6}"/>
              </a:ext>
            </a:extLst>
          </p:cNvPr>
          <p:cNvSpPr>
            <a:spLocks noGrp="1"/>
          </p:cNvSpPr>
          <p:nvPr/>
        </p:nvSpPr>
        <p:spPr>
          <a:xfrm>
            <a:off x="9683496" y="164592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3" name="lv-name">
            <a:extLst>
              <a:ext uri="{FF2B5EF4-FFF2-40B4-BE49-F238E27FC236}">
                <a16:creationId xmlns:a16="http://schemas.microsoft.com/office/drawing/2014/main" id="{C215238D-6AFB-48B8-90B7-1423C8D02EB5}"/>
              </a:ext>
            </a:extLst>
          </p:cNvPr>
          <p:cNvSpPr>
            <a:spLocks noGrp="1"/>
          </p:cNvSpPr>
          <p:nvPr/>
        </p:nvSpPr>
        <p:spPr>
          <a:xfrm>
            <a:off x="10232136" y="1645920"/>
            <a:ext cx="121615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500" b="1">
                <a:solidFill>
                  <a:srgbClr val="111318"/>
                </a:solidFill>
              </a:defRPr>
            </a:pPr>
            <a:r>
              <a:rPr lang="en-US" sz="1500" b="1">
                <a:solidFill>
                  <a:srgbClr val="111318"/>
                </a:solidFill>
              </a:rPr>
              <a:t>Optimising</a:t>
            </a:r>
          </a:p>
        </p:txBody>
      </p:sp>
      <p:sp>
        <p:nvSpPr>
          <p:cNvPr id="214" name="lv-desc">
            <a:extLst>
              <a:ext uri="{FF2B5EF4-FFF2-40B4-BE49-F238E27FC236}">
                <a16:creationId xmlns:a16="http://schemas.microsoft.com/office/drawing/2014/main" id="{ABFE895E-60A6-4BB5-8706-E0AE3BF4EE09}"/>
              </a:ext>
            </a:extLst>
          </p:cNvPr>
          <p:cNvSpPr>
            <a:spLocks noGrp="1"/>
          </p:cNvSpPr>
          <p:nvPr/>
        </p:nvSpPr>
        <p:spPr>
          <a:xfrm>
            <a:off x="9683496" y="2212848"/>
            <a:ext cx="1719072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111318"/>
                </a:solidFill>
              </a:defRPr>
            </a:pPr>
            <a:r>
              <a:rPr lang="en-US" sz="1100" b="0">
                <a:solidFill>
                  <a:srgbClr val="111318"/>
                </a:solidFill>
              </a:rPr>
              <a:t>Certificates renew and repair themselves. Humans only handle exceptions.</a:t>
            </a:r>
          </a:p>
        </p:txBody>
      </p:sp>
      <p:sp>
        <p:nvSpPr>
          <p:cNvPr id="215" name="lv-rule">
            <a:extLst>
              <a:ext uri="{FF2B5EF4-FFF2-40B4-BE49-F238E27FC236}">
                <a16:creationId xmlns:a16="http://schemas.microsoft.com/office/drawing/2014/main" id="{6DC45BC5-AC03-49A9-ACA5-2B747426C338}"/>
              </a:ext>
            </a:extLst>
          </p:cNvPr>
          <p:cNvSpPr>
            <a:spLocks noGrp="1"/>
          </p:cNvSpPr>
          <p:nvPr/>
        </p:nvSpPr>
        <p:spPr>
          <a:xfrm>
            <a:off x="9683496" y="3218688"/>
            <a:ext cx="1719072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lv-dc-h">
            <a:extLst>
              <a:ext uri="{FF2B5EF4-FFF2-40B4-BE49-F238E27FC236}">
                <a16:creationId xmlns:a16="http://schemas.microsoft.com/office/drawing/2014/main" id="{33B136A7-5588-4D44-81D1-CF93D7E5DACB}"/>
              </a:ext>
            </a:extLst>
          </p:cNvPr>
          <p:cNvSpPr>
            <a:spLocks noGrp="1"/>
          </p:cNvSpPr>
          <p:nvPr/>
        </p:nvSpPr>
        <p:spPr>
          <a:xfrm>
            <a:off x="9683496" y="3282696"/>
            <a:ext cx="17190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00" b="1">
                <a:solidFill>
                  <a:srgbClr val="5E6672"/>
                </a:solidFill>
              </a:defRPr>
            </a:pPr>
            <a:r>
              <a:rPr lang="en-US" sz="800" b="1">
                <a:solidFill>
                  <a:srgbClr val="5E6672"/>
                </a:solidFill>
              </a:rPr>
              <a:t>DCOPS ADDS · CERTIFICATES</a:t>
            </a:r>
          </a:p>
        </p:txBody>
      </p:sp>
      <p:sp>
        <p:nvSpPr>
          <p:cNvPr id="217" name="lv-dc">
            <a:extLst>
              <a:ext uri="{FF2B5EF4-FFF2-40B4-BE49-F238E27FC236}">
                <a16:creationId xmlns:a16="http://schemas.microsoft.com/office/drawing/2014/main" id="{A0D207BD-B003-4329-BB77-21DB260FABED}"/>
              </a:ext>
            </a:extLst>
          </p:cNvPr>
          <p:cNvSpPr>
            <a:spLocks noGrp="1"/>
          </p:cNvSpPr>
          <p:nvPr/>
        </p:nvSpPr>
        <p:spPr>
          <a:xfrm>
            <a:off x="9683496" y="3493008"/>
            <a:ext cx="1719072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1">
                <a:solidFill>
                  <a:srgbClr val="2FA36B"/>
                </a:solidFill>
              </a:defRPr>
            </a:pPr>
            <a:r>
              <a:rPr lang="en-US" sz="1050" b="1">
                <a:solidFill>
                  <a:srgbClr val="2FA36B"/>
                </a:solidFill>
              </a:rPr>
              <a:t>cert-manager hand-off, drift detection, device delivery</a:t>
            </a:r>
          </a:p>
        </p:txBody>
      </p:sp>
      <p:sp>
        <p:nvSpPr>
          <p:cNvPr id="218" name="lv-dm-h">
            <a:extLst>
              <a:ext uri="{FF2B5EF4-FFF2-40B4-BE49-F238E27FC236}">
                <a16:creationId xmlns:a16="http://schemas.microsoft.com/office/drawing/2014/main" id="{852F9A91-3679-4FFC-94C0-E40699E4BB22}"/>
              </a:ext>
            </a:extLst>
          </p:cNvPr>
          <p:cNvSpPr>
            <a:spLocks noGrp="1"/>
          </p:cNvSpPr>
          <p:nvPr/>
        </p:nvSpPr>
        <p:spPr>
          <a:xfrm>
            <a:off x="9683496" y="4224528"/>
            <a:ext cx="17190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00" b="1">
                <a:solidFill>
                  <a:srgbClr val="5E6672"/>
                </a:solidFill>
              </a:defRPr>
            </a:pPr>
            <a:r>
              <a:rPr lang="en-US" sz="800" b="1">
                <a:solidFill>
                  <a:srgbClr val="5E6672"/>
                </a:solidFill>
              </a:rPr>
              <a:t>DCOPS ADDS · DOMAINS</a:t>
            </a:r>
          </a:p>
        </p:txBody>
      </p:sp>
      <p:sp>
        <p:nvSpPr>
          <p:cNvPr id="219" name="lv-dm">
            <a:extLst>
              <a:ext uri="{FF2B5EF4-FFF2-40B4-BE49-F238E27FC236}">
                <a16:creationId xmlns:a16="http://schemas.microsoft.com/office/drawing/2014/main" id="{D4616B5B-5B4E-4C89-A049-73331A681F21}"/>
              </a:ext>
            </a:extLst>
          </p:cNvPr>
          <p:cNvSpPr>
            <a:spLocks noGrp="1"/>
          </p:cNvSpPr>
          <p:nvPr/>
        </p:nvSpPr>
        <p:spPr>
          <a:xfrm>
            <a:off x="9683496" y="4434840"/>
            <a:ext cx="171907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1">
                <a:solidFill>
                  <a:srgbClr val="2FA36B"/>
                </a:solidFill>
              </a:defRPr>
            </a:pPr>
            <a:r>
              <a:rPr lang="en-US" sz="1050" b="1">
                <a:solidFill>
                  <a:srgbClr val="2FA36B"/>
                </a:solidFill>
              </a:rPr>
              <a:t>Registrar → Cloud DNS fully automated; DCops proves it</a:t>
            </a:r>
          </a:p>
        </p:txBody>
      </p:sp>
      <p:sp>
        <p:nvSpPr>
          <p:cNvPr id="220" name="lv-when">
            <a:extLst>
              <a:ext uri="{FF2B5EF4-FFF2-40B4-BE49-F238E27FC236}">
                <a16:creationId xmlns:a16="http://schemas.microsoft.com/office/drawing/2014/main" id="{28C71DD9-859A-4BC1-B40B-B540BE4123D1}"/>
              </a:ext>
            </a:extLst>
          </p:cNvPr>
          <p:cNvSpPr>
            <a:spLocks noGrp="1"/>
          </p:cNvSpPr>
          <p:nvPr/>
        </p:nvSpPr>
        <p:spPr>
          <a:xfrm>
            <a:off x="9683496" y="5111496"/>
            <a:ext cx="1719072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1">
                <a:solidFill>
                  <a:srgbClr val="5E6672"/>
                </a:solidFill>
              </a:defRPr>
            </a:pPr>
            <a:r>
              <a:rPr lang="en-US" sz="1000" b="1">
                <a:solidFill>
                  <a:srgbClr val="5E6672"/>
                </a:solidFill>
              </a:rPr>
              <a:t>Phases 3–4</a:t>
            </a:r>
          </a:p>
        </p:txBody>
      </p:sp>
      <p:sp>
        <p:nvSpPr>
          <p:cNvPr id="221" name="callout">
            <a:extLst>
              <a:ext uri="{FF2B5EF4-FFF2-40B4-BE49-F238E27FC236}">
                <a16:creationId xmlns:a16="http://schemas.microsoft.com/office/drawing/2014/main" id="{33E9D4D6-E81A-4CB7-AB4A-9BDDFAC5B858}"/>
              </a:ext>
            </a:extLst>
          </p:cNvPr>
          <p:cNvSpPr>
            <a:spLocks noGrp="1"/>
          </p:cNvSpPr>
          <p:nvPr/>
        </p:nvSpPr>
        <p:spPr>
          <a:xfrm>
            <a:off x="612648" y="5532120"/>
            <a:ext cx="10972800" cy="530352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callout-text">
            <a:extLst>
              <a:ext uri="{FF2B5EF4-FFF2-40B4-BE49-F238E27FC236}">
                <a16:creationId xmlns:a16="http://schemas.microsoft.com/office/drawing/2014/main" id="{A5F0E37B-C242-4D27-96C9-5BDAE62B8779}"/>
              </a:ext>
            </a:extLst>
          </p:cNvPr>
          <p:cNvSpPr>
            <a:spLocks noGrp="1"/>
          </p:cNvSpPr>
          <p:nvPr/>
        </p:nvSpPr>
        <p:spPr>
          <a:xfrm>
            <a:off x="795528" y="5605272"/>
            <a:ext cx="1060704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rPr lang="en-US" sz="1250" b="1">
                <a:solidFill>
                  <a:srgbClr val="FFFFFF"/>
                </a:solidFill>
              </a:rPr>
              <a:t>An endpoint’s level is the lower of its certificate level and its domain level — a self-renewing certificate on a lapsing domain is still Level 1.</a:t>
            </a:r>
          </a:p>
        </p:txBody>
      </p:sp>
      <p:sp>
        <p:nvSpPr>
          <p:cNvPr id="223" name="src">
            <a:extLst>
              <a:ext uri="{FF2B5EF4-FFF2-40B4-BE49-F238E27FC236}">
                <a16:creationId xmlns:a16="http://schemas.microsoft.com/office/drawing/2014/main" id="{DF424ECC-BC8C-4FA8-A389-A8AE9F4FEA62}"/>
              </a:ext>
            </a:extLst>
          </p:cNvPr>
          <p:cNvSpPr>
            <a:spLocks noGrp="1"/>
          </p:cNvSpPr>
          <p:nvPr/>
        </p:nvSpPr>
        <p:spPr>
          <a:xfrm>
            <a:off x="612648" y="6181344"/>
            <a:ext cx="749808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l">
              <a:defRPr sz="850" b="0">
                <a:solidFill>
                  <a:srgbClr val="5E6672"/>
                </a:solidFill>
              </a:defRPr>
            </a:pPr>
            <a:r>
              <a:rPr lang="en-US" sz="850" b="0">
                <a:solidFill>
                  <a:srgbClr val="5E6672"/>
                </a:solidFill>
              </a:rPr>
              <a:t>Based on the CMMI Certificate Management Maturity Scale. Slides that deliver a capability carry a marker top-right showing the level it reaches:</a:t>
            </a:r>
          </a:p>
        </p:txBody>
      </p:sp>
      <p:sp>
        <p:nvSpPr>
          <p:cNvPr id="224" name="lvl-block">
            <a:extLst>
              <a:ext uri="{FF2B5EF4-FFF2-40B4-BE49-F238E27FC236}">
                <a16:creationId xmlns:a16="http://schemas.microsoft.com/office/drawing/2014/main" id="{92A16188-CA64-4A0E-A162-1AFB100579C2}"/>
              </a:ext>
            </a:extLst>
          </p:cNvPr>
          <p:cNvSpPr>
            <a:spLocks noGrp="1"/>
          </p:cNvSpPr>
          <p:nvPr/>
        </p:nvSpPr>
        <p:spPr>
          <a:xfrm>
            <a:off x="8183880" y="6199632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lvl-block">
            <a:extLst>
              <a:ext uri="{FF2B5EF4-FFF2-40B4-BE49-F238E27FC236}">
                <a16:creationId xmlns:a16="http://schemas.microsoft.com/office/drawing/2014/main" id="{C8809640-CBE6-4FC1-98FB-7CC9FF169BDF}"/>
              </a:ext>
            </a:extLst>
          </p:cNvPr>
          <p:cNvSpPr>
            <a:spLocks noGrp="1"/>
          </p:cNvSpPr>
          <p:nvPr/>
        </p:nvSpPr>
        <p:spPr>
          <a:xfrm>
            <a:off x="8380476" y="6199632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lvl-block">
            <a:extLst>
              <a:ext uri="{FF2B5EF4-FFF2-40B4-BE49-F238E27FC236}">
                <a16:creationId xmlns:a16="http://schemas.microsoft.com/office/drawing/2014/main" id="{3D3DD855-59DD-46C7-9416-370032517C71}"/>
              </a:ext>
            </a:extLst>
          </p:cNvPr>
          <p:cNvSpPr>
            <a:spLocks noGrp="1"/>
          </p:cNvSpPr>
          <p:nvPr/>
        </p:nvSpPr>
        <p:spPr>
          <a:xfrm>
            <a:off x="8577072" y="6199632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lvl-block">
            <a:extLst>
              <a:ext uri="{FF2B5EF4-FFF2-40B4-BE49-F238E27FC236}">
                <a16:creationId xmlns:a16="http://schemas.microsoft.com/office/drawing/2014/main" id="{90F93FAC-872E-4154-9571-19C9FA2BEED3}"/>
              </a:ext>
            </a:extLst>
          </p:cNvPr>
          <p:cNvSpPr>
            <a:spLocks noGrp="1"/>
          </p:cNvSpPr>
          <p:nvPr/>
        </p:nvSpPr>
        <p:spPr>
          <a:xfrm>
            <a:off x="8773668" y="6199632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lvl-block">
            <a:extLst>
              <a:ext uri="{FF2B5EF4-FFF2-40B4-BE49-F238E27FC236}">
                <a16:creationId xmlns:a16="http://schemas.microsoft.com/office/drawing/2014/main" id="{6154B880-28BD-479F-BE5A-D86F920EBD62}"/>
              </a:ext>
            </a:extLst>
          </p:cNvPr>
          <p:cNvSpPr>
            <a:spLocks noGrp="1"/>
          </p:cNvSpPr>
          <p:nvPr/>
        </p:nvSpPr>
        <p:spPr>
          <a:xfrm>
            <a:off x="8970264" y="6199632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rc2">
            <a:extLst>
              <a:ext uri="{FF2B5EF4-FFF2-40B4-BE49-F238E27FC236}">
                <a16:creationId xmlns:a16="http://schemas.microsoft.com/office/drawing/2014/main" id="{64AA350E-9FC7-492D-8451-1EE3C60C6263}"/>
              </a:ext>
            </a:extLst>
          </p:cNvPr>
          <p:cNvSpPr>
            <a:spLocks noGrp="1"/>
          </p:cNvSpPr>
          <p:nvPr/>
        </p:nvSpPr>
        <p:spPr>
          <a:xfrm>
            <a:off x="9235440" y="6181344"/>
            <a:ext cx="2350008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l">
              <a:defRPr sz="850" b="1">
                <a:solidFill>
                  <a:srgbClr val="2F80ED"/>
                </a:solidFill>
              </a:defRPr>
            </a:pPr>
            <a:r>
              <a:rPr lang="en-US" sz="850" b="1">
                <a:solidFill>
                  <a:srgbClr val="2F80ED"/>
                </a:solidFill>
              </a:rPr>
              <a:t>Reaches Level 3 · Defined</a:t>
            </a:r>
          </a:p>
        </p:txBody>
      </p:sp>
    </p:spTree>
    <p:extLst>
      <p:ext uri="{BB962C8B-B14F-4D97-AF65-F5344CB8AC3E}">
        <p14:creationId xmlns:p14="http://schemas.microsoft.com/office/powerpoint/2010/main" val="79725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kicker">
            <a:extLst>
              <a:ext uri="{FF2B5EF4-FFF2-40B4-BE49-F238E27FC236}">
                <a16:creationId xmlns:a16="http://schemas.microsoft.com/office/drawing/2014/main" id="{0C10E62D-5A85-4425-9314-248DFD04E703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ONE REGISTER, NO DUPLICATION</a:t>
            </a:r>
          </a:p>
        </p:txBody>
      </p:sp>
      <p:sp>
        <p:nvSpPr>
          <p:cNvPr id="231" name="title">
            <a:extLst>
              <a:ext uri="{FF2B5EF4-FFF2-40B4-BE49-F238E27FC236}">
                <a16:creationId xmlns:a16="http://schemas.microsoft.com/office/drawing/2014/main" id="{521B4DE2-871D-4BCE-A9B2-B71F21A9D4AF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cert-manager issues certificates. DCops keeps the register.</a:t>
            </a:r>
          </a:p>
        </p:txBody>
      </p:sp>
      <p:sp>
        <p:nvSpPr>
          <p:cNvPr id="232" name="rule">
            <a:extLst>
              <a:ext uri="{FF2B5EF4-FFF2-40B4-BE49-F238E27FC236}">
                <a16:creationId xmlns:a16="http://schemas.microsoft.com/office/drawing/2014/main" id="{9F3BB549-CCB9-4F38-9656-1DB86B30D534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page">
            <a:extLst>
              <a:ext uri="{FF2B5EF4-FFF2-40B4-BE49-F238E27FC236}">
                <a16:creationId xmlns:a16="http://schemas.microsoft.com/office/drawing/2014/main" id="{D430D278-9B0C-46AD-B2F6-61028E3E152E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06</a:t>
            </a:r>
          </a:p>
        </p:txBody>
      </p:sp>
      <p:sp>
        <p:nvSpPr>
          <p:cNvPr id="234" name="footer">
            <a:extLst>
              <a:ext uri="{FF2B5EF4-FFF2-40B4-BE49-F238E27FC236}">
                <a16:creationId xmlns:a16="http://schemas.microsoft.com/office/drawing/2014/main" id="{754ADBFD-5DAE-49E9-A3B0-C013ADB613B5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235" name="col">
            <a:extLst>
              <a:ext uri="{FF2B5EF4-FFF2-40B4-BE49-F238E27FC236}">
                <a16:creationId xmlns:a16="http://schemas.microsoft.com/office/drawing/2014/main" id="{3491DA6F-F033-4BD9-A06A-17EE2723C88A}"/>
              </a:ext>
            </a:extLst>
          </p:cNvPr>
          <p:cNvSpPr>
            <a:spLocks noGrp="1"/>
          </p:cNvSpPr>
          <p:nvPr/>
        </p:nvSpPr>
        <p:spPr>
          <a:xfrm>
            <a:off x="612648" y="1554480"/>
            <a:ext cx="5257800" cy="3703320"/>
          </a:xfrm>
          <a:prstGeom prst="rect">
            <a:avLst/>
          </a:prstGeom>
          <a:solidFill>
            <a:srgbClr val="EAF8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col-h">
            <a:extLst>
              <a:ext uri="{FF2B5EF4-FFF2-40B4-BE49-F238E27FC236}">
                <a16:creationId xmlns:a16="http://schemas.microsoft.com/office/drawing/2014/main" id="{3C7652BE-ABCC-4B85-8FE2-9FFE9CEDA2C9}"/>
              </a:ext>
            </a:extLst>
          </p:cNvPr>
          <p:cNvSpPr>
            <a:spLocks noGrp="1"/>
          </p:cNvSpPr>
          <p:nvPr/>
        </p:nvSpPr>
        <p:spPr>
          <a:xfrm>
            <a:off x="886968" y="1691640"/>
            <a:ext cx="475488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800" b="1">
                <a:solidFill>
                  <a:srgbClr val="2FA36B"/>
                </a:solidFill>
              </a:defRPr>
            </a:pPr>
            <a:r>
              <a:rPr lang="en-US" sz="1800" b="1">
                <a:solidFill>
                  <a:srgbClr val="2FA36B"/>
                </a:solidFill>
              </a:rPr>
              <a:t>cert-manager — already in place</a:t>
            </a:r>
          </a:p>
        </p:txBody>
      </p:sp>
      <p:sp>
        <p:nvSpPr>
          <p:cNvPr id="237" name="dot">
            <a:extLst>
              <a:ext uri="{FF2B5EF4-FFF2-40B4-BE49-F238E27FC236}">
                <a16:creationId xmlns:a16="http://schemas.microsoft.com/office/drawing/2014/main" id="{0B7E9026-71CF-4596-A16D-011102FBE62A}"/>
              </a:ext>
            </a:extLst>
          </p:cNvPr>
          <p:cNvSpPr>
            <a:spLocks noGrp="1"/>
          </p:cNvSpPr>
          <p:nvPr/>
        </p:nvSpPr>
        <p:spPr>
          <a:xfrm>
            <a:off x="886968" y="2368296"/>
            <a:ext cx="82296" cy="82296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it-t">
            <a:extLst>
              <a:ext uri="{FF2B5EF4-FFF2-40B4-BE49-F238E27FC236}">
                <a16:creationId xmlns:a16="http://schemas.microsoft.com/office/drawing/2014/main" id="{527F29AA-391E-4E13-9AB6-A2E62BD49B09}"/>
              </a:ext>
            </a:extLst>
          </p:cNvPr>
          <p:cNvSpPr>
            <a:spLocks noGrp="1"/>
          </p:cNvSpPr>
          <p:nvPr/>
        </p:nvSpPr>
        <p:spPr>
          <a:xfrm>
            <a:off x="1115568" y="2240280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50" b="1">
                <a:solidFill>
                  <a:srgbClr val="111318"/>
                </a:solidFill>
              </a:defRPr>
            </a:pPr>
            <a:r>
              <a:rPr lang="en-US" sz="1350" b="1">
                <a:solidFill>
                  <a:srgbClr val="111318"/>
                </a:solidFill>
              </a:rPr>
              <a:t>Issues and renews certificates</a:t>
            </a:r>
          </a:p>
        </p:txBody>
      </p:sp>
      <p:sp>
        <p:nvSpPr>
          <p:cNvPr id="239" name="it-d">
            <a:extLst>
              <a:ext uri="{FF2B5EF4-FFF2-40B4-BE49-F238E27FC236}">
                <a16:creationId xmlns:a16="http://schemas.microsoft.com/office/drawing/2014/main" id="{4F0955A7-0A5B-4474-A11E-0A547522E344}"/>
              </a:ext>
            </a:extLst>
          </p:cNvPr>
          <p:cNvSpPr>
            <a:spLocks noGrp="1"/>
          </p:cNvSpPr>
          <p:nvPr/>
        </p:nvSpPr>
        <p:spPr>
          <a:xfrm>
            <a:off x="1115568" y="2514600"/>
            <a:ext cx="448056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Public and internal, on a schedule, with no human in the loop</a:t>
            </a:r>
          </a:p>
        </p:txBody>
      </p:sp>
      <p:sp>
        <p:nvSpPr>
          <p:cNvPr id="240" name="dot">
            <a:extLst>
              <a:ext uri="{FF2B5EF4-FFF2-40B4-BE49-F238E27FC236}">
                <a16:creationId xmlns:a16="http://schemas.microsoft.com/office/drawing/2014/main" id="{E107CB90-D02B-4B78-8E40-7C9A151D7771}"/>
              </a:ext>
            </a:extLst>
          </p:cNvPr>
          <p:cNvSpPr>
            <a:spLocks noGrp="1"/>
          </p:cNvSpPr>
          <p:nvPr/>
        </p:nvSpPr>
        <p:spPr>
          <a:xfrm>
            <a:off x="886968" y="3118104"/>
            <a:ext cx="82296" cy="82296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it-t">
            <a:extLst>
              <a:ext uri="{FF2B5EF4-FFF2-40B4-BE49-F238E27FC236}">
                <a16:creationId xmlns:a16="http://schemas.microsoft.com/office/drawing/2014/main" id="{4BA67B84-6CFD-44B4-9607-2962B38CB75D}"/>
              </a:ext>
            </a:extLst>
          </p:cNvPr>
          <p:cNvSpPr>
            <a:spLocks noGrp="1"/>
          </p:cNvSpPr>
          <p:nvPr/>
        </p:nvSpPr>
        <p:spPr>
          <a:xfrm>
            <a:off x="1115568" y="2990088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50" b="1">
                <a:solidFill>
                  <a:srgbClr val="111318"/>
                </a:solidFill>
              </a:defRPr>
            </a:pPr>
            <a:r>
              <a:rPr lang="en-US" sz="1350" b="1">
                <a:solidFill>
                  <a:srgbClr val="111318"/>
                </a:solidFill>
              </a:rPr>
              <a:t>Holds the private keys</a:t>
            </a:r>
          </a:p>
        </p:txBody>
      </p:sp>
      <p:sp>
        <p:nvSpPr>
          <p:cNvPr id="242" name="it-d">
            <a:extLst>
              <a:ext uri="{FF2B5EF4-FFF2-40B4-BE49-F238E27FC236}">
                <a16:creationId xmlns:a16="http://schemas.microsoft.com/office/drawing/2014/main" id="{17FB075B-B431-4201-B039-897482849E9F}"/>
              </a:ext>
            </a:extLst>
          </p:cNvPr>
          <p:cNvSpPr>
            <a:spLocks noGrp="1"/>
          </p:cNvSpPr>
          <p:nvPr/>
        </p:nvSpPr>
        <p:spPr>
          <a:xfrm>
            <a:off x="1115568" y="3264408"/>
            <a:ext cx="448056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Securely, inside Kubernetes</a:t>
            </a:r>
          </a:p>
        </p:txBody>
      </p:sp>
      <p:sp>
        <p:nvSpPr>
          <p:cNvPr id="243" name="dot">
            <a:extLst>
              <a:ext uri="{FF2B5EF4-FFF2-40B4-BE49-F238E27FC236}">
                <a16:creationId xmlns:a16="http://schemas.microsoft.com/office/drawing/2014/main" id="{13D3255E-86A6-4788-AE60-64E50198F830}"/>
              </a:ext>
            </a:extLst>
          </p:cNvPr>
          <p:cNvSpPr>
            <a:spLocks noGrp="1"/>
          </p:cNvSpPr>
          <p:nvPr/>
        </p:nvSpPr>
        <p:spPr>
          <a:xfrm>
            <a:off x="886968" y="3867912"/>
            <a:ext cx="82296" cy="82296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it-t">
            <a:extLst>
              <a:ext uri="{FF2B5EF4-FFF2-40B4-BE49-F238E27FC236}">
                <a16:creationId xmlns:a16="http://schemas.microsoft.com/office/drawing/2014/main" id="{2107CA9E-3CF6-4423-B55C-F2A1E69702D8}"/>
              </a:ext>
            </a:extLst>
          </p:cNvPr>
          <p:cNvSpPr>
            <a:spLocks noGrp="1"/>
          </p:cNvSpPr>
          <p:nvPr/>
        </p:nvSpPr>
        <p:spPr>
          <a:xfrm>
            <a:off x="1115568" y="3739896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50" b="1">
                <a:solidFill>
                  <a:srgbClr val="111318"/>
                </a:solidFill>
              </a:defRPr>
            </a:pPr>
            <a:r>
              <a:rPr lang="en-US" sz="1350" b="1">
                <a:solidFill>
                  <a:srgbClr val="111318"/>
                </a:solidFill>
              </a:rPr>
              <a:t>Reports its own status</a:t>
            </a:r>
          </a:p>
        </p:txBody>
      </p:sp>
      <p:sp>
        <p:nvSpPr>
          <p:cNvPr id="245" name="it-d">
            <a:extLst>
              <a:ext uri="{FF2B5EF4-FFF2-40B4-BE49-F238E27FC236}">
                <a16:creationId xmlns:a16="http://schemas.microsoft.com/office/drawing/2014/main" id="{FF13A158-6A53-4169-ACC9-AD2473434924}"/>
              </a:ext>
            </a:extLst>
          </p:cNvPr>
          <p:cNvSpPr>
            <a:spLocks noGrp="1"/>
          </p:cNvSpPr>
          <p:nvPr/>
        </p:nvSpPr>
        <p:spPr>
          <a:xfrm>
            <a:off x="1115568" y="4014216"/>
            <a:ext cx="448056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Ready or not, when the next renewal is due</a:t>
            </a:r>
          </a:p>
        </p:txBody>
      </p:sp>
      <p:sp>
        <p:nvSpPr>
          <p:cNvPr id="246" name="dot">
            <a:extLst>
              <a:ext uri="{FF2B5EF4-FFF2-40B4-BE49-F238E27FC236}">
                <a16:creationId xmlns:a16="http://schemas.microsoft.com/office/drawing/2014/main" id="{3B25C012-34AD-495A-9FF7-CD835F617D73}"/>
              </a:ext>
            </a:extLst>
          </p:cNvPr>
          <p:cNvSpPr>
            <a:spLocks noGrp="1"/>
          </p:cNvSpPr>
          <p:nvPr/>
        </p:nvSpPr>
        <p:spPr>
          <a:xfrm>
            <a:off x="886968" y="4617720"/>
            <a:ext cx="82296" cy="82296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it-t">
            <a:extLst>
              <a:ext uri="{FF2B5EF4-FFF2-40B4-BE49-F238E27FC236}">
                <a16:creationId xmlns:a16="http://schemas.microsoft.com/office/drawing/2014/main" id="{E57962A6-70F2-496A-A3DC-541D3FA8407D}"/>
              </a:ext>
            </a:extLst>
          </p:cNvPr>
          <p:cNvSpPr>
            <a:spLocks noGrp="1"/>
          </p:cNvSpPr>
          <p:nvPr/>
        </p:nvSpPr>
        <p:spPr>
          <a:xfrm>
            <a:off x="1115568" y="4489704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50" b="1">
                <a:solidFill>
                  <a:srgbClr val="111318"/>
                </a:solidFill>
              </a:defRPr>
            </a:pPr>
            <a:r>
              <a:rPr lang="en-US" sz="1350" b="1">
                <a:solidFill>
                  <a:srgbClr val="111318"/>
                </a:solidFill>
              </a:rPr>
              <a:t>Stays the only issuer</a:t>
            </a:r>
          </a:p>
        </p:txBody>
      </p:sp>
      <p:sp>
        <p:nvSpPr>
          <p:cNvPr id="248" name="it-d">
            <a:extLst>
              <a:ext uri="{FF2B5EF4-FFF2-40B4-BE49-F238E27FC236}">
                <a16:creationId xmlns:a16="http://schemas.microsoft.com/office/drawing/2014/main" id="{900924AD-3230-4CD7-9408-F22D6A93CB7A}"/>
              </a:ext>
            </a:extLst>
          </p:cNvPr>
          <p:cNvSpPr>
            <a:spLocks noGrp="1"/>
          </p:cNvSpPr>
          <p:nvPr/>
        </p:nvSpPr>
        <p:spPr>
          <a:xfrm>
            <a:off x="1115568" y="4764024"/>
            <a:ext cx="448056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DCops never becomes a certificate authority</a:t>
            </a:r>
          </a:p>
        </p:txBody>
      </p:sp>
      <p:sp>
        <p:nvSpPr>
          <p:cNvPr id="249" name="col">
            <a:extLst>
              <a:ext uri="{FF2B5EF4-FFF2-40B4-BE49-F238E27FC236}">
                <a16:creationId xmlns:a16="http://schemas.microsoft.com/office/drawing/2014/main" id="{A8FB2944-23E9-4C30-BB96-1E79271F445C}"/>
              </a:ext>
            </a:extLst>
          </p:cNvPr>
          <p:cNvSpPr>
            <a:spLocks noGrp="1"/>
          </p:cNvSpPr>
          <p:nvPr/>
        </p:nvSpPr>
        <p:spPr>
          <a:xfrm>
            <a:off x="6327648" y="1554480"/>
            <a:ext cx="5257800" cy="370332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col-h">
            <a:extLst>
              <a:ext uri="{FF2B5EF4-FFF2-40B4-BE49-F238E27FC236}">
                <a16:creationId xmlns:a16="http://schemas.microsoft.com/office/drawing/2014/main" id="{E569214A-BB24-4897-A10A-69BD7813F787}"/>
              </a:ext>
            </a:extLst>
          </p:cNvPr>
          <p:cNvSpPr>
            <a:spLocks noGrp="1"/>
          </p:cNvSpPr>
          <p:nvPr/>
        </p:nvSpPr>
        <p:spPr>
          <a:xfrm>
            <a:off x="6601968" y="1691640"/>
            <a:ext cx="475488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800" b="1">
                <a:solidFill>
                  <a:srgbClr val="2F80ED"/>
                </a:solidFill>
              </a:defRPr>
            </a:pPr>
            <a:r>
              <a:rPr lang="en-US" sz="1800" b="1">
                <a:solidFill>
                  <a:srgbClr val="2F80ED"/>
                </a:solidFill>
              </a:rPr>
              <a:t>DCops register — new</a:t>
            </a:r>
          </a:p>
        </p:txBody>
      </p:sp>
      <p:sp>
        <p:nvSpPr>
          <p:cNvPr id="251" name="dot">
            <a:extLst>
              <a:ext uri="{FF2B5EF4-FFF2-40B4-BE49-F238E27FC236}">
                <a16:creationId xmlns:a16="http://schemas.microsoft.com/office/drawing/2014/main" id="{41C77FA0-B86F-4211-B10A-F9B8FB56D45D}"/>
              </a:ext>
            </a:extLst>
          </p:cNvPr>
          <p:cNvSpPr>
            <a:spLocks noGrp="1"/>
          </p:cNvSpPr>
          <p:nvPr/>
        </p:nvSpPr>
        <p:spPr>
          <a:xfrm>
            <a:off x="6601968" y="2368296"/>
            <a:ext cx="82296" cy="82296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it-t">
            <a:extLst>
              <a:ext uri="{FF2B5EF4-FFF2-40B4-BE49-F238E27FC236}">
                <a16:creationId xmlns:a16="http://schemas.microsoft.com/office/drawing/2014/main" id="{D1BD41E2-7D13-4D97-87C5-0A52B50F7C7E}"/>
              </a:ext>
            </a:extLst>
          </p:cNvPr>
          <p:cNvSpPr>
            <a:spLocks noGrp="1"/>
          </p:cNvSpPr>
          <p:nvPr/>
        </p:nvSpPr>
        <p:spPr>
          <a:xfrm>
            <a:off x="6830568" y="2240280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50" b="1">
                <a:solidFill>
                  <a:srgbClr val="111318"/>
                </a:solidFill>
              </a:defRPr>
            </a:pPr>
            <a:r>
              <a:rPr lang="en-US" sz="1350" b="1">
                <a:solidFill>
                  <a:srgbClr val="111318"/>
                </a:solidFill>
              </a:rPr>
              <a:t>Who owns every certificate — and its domain</a:t>
            </a:r>
          </a:p>
        </p:txBody>
      </p:sp>
      <p:sp>
        <p:nvSpPr>
          <p:cNvPr id="253" name="it-d">
            <a:extLst>
              <a:ext uri="{FF2B5EF4-FFF2-40B4-BE49-F238E27FC236}">
                <a16:creationId xmlns:a16="http://schemas.microsoft.com/office/drawing/2014/main" id="{D707A654-B432-4256-88A6-3BF9CE567283}"/>
              </a:ext>
            </a:extLst>
          </p:cNvPr>
          <p:cNvSpPr>
            <a:spLocks noGrp="1"/>
          </p:cNvSpPr>
          <p:nvPr/>
        </p:nvSpPr>
        <p:spPr>
          <a:xfrm>
            <a:off x="6830568" y="2514600"/>
            <a:ext cx="448056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One owner, inherited from the domain down to each certificate</a:t>
            </a:r>
          </a:p>
        </p:txBody>
      </p:sp>
      <p:sp>
        <p:nvSpPr>
          <p:cNvPr id="254" name="dot">
            <a:extLst>
              <a:ext uri="{FF2B5EF4-FFF2-40B4-BE49-F238E27FC236}">
                <a16:creationId xmlns:a16="http://schemas.microsoft.com/office/drawing/2014/main" id="{ECB9959A-EC2D-4C15-9A5C-E43BCFFB5F82}"/>
              </a:ext>
            </a:extLst>
          </p:cNvPr>
          <p:cNvSpPr>
            <a:spLocks noGrp="1"/>
          </p:cNvSpPr>
          <p:nvPr/>
        </p:nvSpPr>
        <p:spPr>
          <a:xfrm>
            <a:off x="6601968" y="3118104"/>
            <a:ext cx="82296" cy="82296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it-t">
            <a:extLst>
              <a:ext uri="{FF2B5EF4-FFF2-40B4-BE49-F238E27FC236}">
                <a16:creationId xmlns:a16="http://schemas.microsoft.com/office/drawing/2014/main" id="{6F4E8CB3-9880-4326-91D4-79F89CFAC515}"/>
              </a:ext>
            </a:extLst>
          </p:cNvPr>
          <p:cNvSpPr>
            <a:spLocks noGrp="1"/>
          </p:cNvSpPr>
          <p:nvPr/>
        </p:nvSpPr>
        <p:spPr>
          <a:xfrm>
            <a:off x="6830568" y="2990088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50" b="1">
                <a:solidFill>
                  <a:srgbClr val="111318"/>
                </a:solidFill>
              </a:defRPr>
            </a:pPr>
            <a:r>
              <a:rPr lang="en-US" sz="1350" b="1">
                <a:solidFill>
                  <a:srgbClr val="111318"/>
                </a:solidFill>
              </a:rPr>
              <a:t>Where it is used</a:t>
            </a:r>
          </a:p>
        </p:txBody>
      </p:sp>
      <p:sp>
        <p:nvSpPr>
          <p:cNvPr id="256" name="it-d">
            <a:extLst>
              <a:ext uri="{FF2B5EF4-FFF2-40B4-BE49-F238E27FC236}">
                <a16:creationId xmlns:a16="http://schemas.microsoft.com/office/drawing/2014/main" id="{15CE950E-8C96-43BE-A51F-8576C9822275}"/>
              </a:ext>
            </a:extLst>
          </p:cNvPr>
          <p:cNvSpPr>
            <a:spLocks noGrp="1"/>
          </p:cNvSpPr>
          <p:nvPr/>
        </p:nvSpPr>
        <p:spPr>
          <a:xfrm>
            <a:off x="6830568" y="3264408"/>
            <a:ext cx="448056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Including sites, devices and domains cert-manager cannot see</a:t>
            </a:r>
          </a:p>
        </p:txBody>
      </p:sp>
      <p:sp>
        <p:nvSpPr>
          <p:cNvPr id="257" name="dot">
            <a:extLst>
              <a:ext uri="{FF2B5EF4-FFF2-40B4-BE49-F238E27FC236}">
                <a16:creationId xmlns:a16="http://schemas.microsoft.com/office/drawing/2014/main" id="{26B709DD-C885-4EA3-80A4-EBEC738CC715}"/>
              </a:ext>
            </a:extLst>
          </p:cNvPr>
          <p:cNvSpPr>
            <a:spLocks noGrp="1"/>
          </p:cNvSpPr>
          <p:nvPr/>
        </p:nvSpPr>
        <p:spPr>
          <a:xfrm>
            <a:off x="6601968" y="3867912"/>
            <a:ext cx="82296" cy="82296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it-t">
            <a:extLst>
              <a:ext uri="{FF2B5EF4-FFF2-40B4-BE49-F238E27FC236}">
                <a16:creationId xmlns:a16="http://schemas.microsoft.com/office/drawing/2014/main" id="{EF9F66AF-B250-4FDF-9F5D-4E322B254CC0}"/>
              </a:ext>
            </a:extLst>
          </p:cNvPr>
          <p:cNvSpPr>
            <a:spLocks noGrp="1"/>
          </p:cNvSpPr>
          <p:nvPr/>
        </p:nvSpPr>
        <p:spPr>
          <a:xfrm>
            <a:off x="6830568" y="3739896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50" b="1">
                <a:solidFill>
                  <a:srgbClr val="111318"/>
                </a:solidFill>
              </a:defRPr>
            </a:pPr>
            <a:r>
              <a:rPr lang="en-US" sz="1350" b="1">
                <a:solidFill>
                  <a:srgbClr val="111318"/>
                </a:solidFill>
              </a:rPr>
              <a:t>What the live site really presents</a:t>
            </a:r>
          </a:p>
        </p:txBody>
      </p:sp>
      <p:sp>
        <p:nvSpPr>
          <p:cNvPr id="259" name="it-d">
            <a:extLst>
              <a:ext uri="{FF2B5EF4-FFF2-40B4-BE49-F238E27FC236}">
                <a16:creationId xmlns:a16="http://schemas.microsoft.com/office/drawing/2014/main" id="{AAE3A9FD-4596-46AC-8935-6C6786FCA6DA}"/>
              </a:ext>
            </a:extLst>
          </p:cNvPr>
          <p:cNvSpPr>
            <a:spLocks noGrp="1"/>
          </p:cNvSpPr>
          <p:nvPr/>
        </p:nvSpPr>
        <p:spPr>
          <a:xfrm>
            <a:off x="6830568" y="4014216"/>
            <a:ext cx="448056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Checked directly, not assumed from a renewal</a:t>
            </a:r>
          </a:p>
        </p:txBody>
      </p:sp>
      <p:sp>
        <p:nvSpPr>
          <p:cNvPr id="260" name="dot">
            <a:extLst>
              <a:ext uri="{FF2B5EF4-FFF2-40B4-BE49-F238E27FC236}">
                <a16:creationId xmlns:a16="http://schemas.microsoft.com/office/drawing/2014/main" id="{166020BE-D9AC-40AB-ADE2-88B1F722980E}"/>
              </a:ext>
            </a:extLst>
          </p:cNvPr>
          <p:cNvSpPr>
            <a:spLocks noGrp="1"/>
          </p:cNvSpPr>
          <p:nvPr/>
        </p:nvSpPr>
        <p:spPr>
          <a:xfrm>
            <a:off x="6601968" y="4617720"/>
            <a:ext cx="82296" cy="82296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it-t">
            <a:extLst>
              <a:ext uri="{FF2B5EF4-FFF2-40B4-BE49-F238E27FC236}">
                <a16:creationId xmlns:a16="http://schemas.microsoft.com/office/drawing/2014/main" id="{651FDDD3-3071-4742-AE22-8AF1C6DE78B6}"/>
              </a:ext>
            </a:extLst>
          </p:cNvPr>
          <p:cNvSpPr>
            <a:spLocks noGrp="1"/>
          </p:cNvSpPr>
          <p:nvPr/>
        </p:nvSpPr>
        <p:spPr>
          <a:xfrm>
            <a:off x="6830568" y="4489704"/>
            <a:ext cx="44805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50" b="1">
                <a:solidFill>
                  <a:srgbClr val="111318"/>
                </a:solidFill>
              </a:defRPr>
            </a:pPr>
            <a:r>
              <a:rPr lang="en-US" sz="1350" b="1">
                <a:solidFill>
                  <a:srgbClr val="111318"/>
                </a:solidFill>
              </a:rPr>
              <a:t>Whether it meets policy</a:t>
            </a:r>
          </a:p>
        </p:txBody>
      </p:sp>
      <p:sp>
        <p:nvSpPr>
          <p:cNvPr id="262" name="it-d">
            <a:extLst>
              <a:ext uri="{FF2B5EF4-FFF2-40B4-BE49-F238E27FC236}">
                <a16:creationId xmlns:a16="http://schemas.microsoft.com/office/drawing/2014/main" id="{1DD43155-008B-4A57-B84C-E32A518BDB80}"/>
              </a:ext>
            </a:extLst>
          </p:cNvPr>
          <p:cNvSpPr>
            <a:spLocks noGrp="1"/>
          </p:cNvSpPr>
          <p:nvPr/>
        </p:nvSpPr>
        <p:spPr>
          <a:xfrm>
            <a:off x="6830568" y="4764024"/>
            <a:ext cx="448056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Approved issuer, valid chain, more than 30 days left</a:t>
            </a:r>
          </a:p>
        </p:txBody>
      </p:sp>
      <p:sp>
        <p:nvSpPr>
          <p:cNvPr id="263" name="lvl-label">
            <a:extLst>
              <a:ext uri="{FF2B5EF4-FFF2-40B4-BE49-F238E27FC236}">
                <a16:creationId xmlns:a16="http://schemas.microsoft.com/office/drawing/2014/main" id="{202BD2C0-C95D-496F-B852-E95F9669E67E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2F80ED"/>
                </a:solidFill>
              </a:defRPr>
            </a:pPr>
            <a:r>
              <a:rPr lang="en-US" sz="900" b="1">
                <a:solidFill>
                  <a:srgbClr val="2F80ED"/>
                </a:solidFill>
              </a:rPr>
              <a:t>Reaches Level 2 · Managed</a:t>
            </a:r>
          </a:p>
        </p:txBody>
      </p:sp>
      <p:sp>
        <p:nvSpPr>
          <p:cNvPr id="264" name="lvl-block">
            <a:extLst>
              <a:ext uri="{FF2B5EF4-FFF2-40B4-BE49-F238E27FC236}">
                <a16:creationId xmlns:a16="http://schemas.microsoft.com/office/drawing/2014/main" id="{A832A6D2-4DA4-4DAB-BBAE-C1CA44E7D5D9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lvl-block">
            <a:extLst>
              <a:ext uri="{FF2B5EF4-FFF2-40B4-BE49-F238E27FC236}">
                <a16:creationId xmlns:a16="http://schemas.microsoft.com/office/drawing/2014/main" id="{4B8449E3-10EF-4FF5-88BE-0D9F7B3A13B5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lvl-block">
            <a:extLst>
              <a:ext uri="{FF2B5EF4-FFF2-40B4-BE49-F238E27FC236}">
                <a16:creationId xmlns:a16="http://schemas.microsoft.com/office/drawing/2014/main" id="{F9B341CB-F7EF-4E3B-B9AC-7EDA5E749003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lvl-block">
            <a:extLst>
              <a:ext uri="{FF2B5EF4-FFF2-40B4-BE49-F238E27FC236}">
                <a16:creationId xmlns:a16="http://schemas.microsoft.com/office/drawing/2014/main" id="{0C176470-CD93-4883-9971-A4C56F703A26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lvl-block">
            <a:extLst>
              <a:ext uri="{FF2B5EF4-FFF2-40B4-BE49-F238E27FC236}">
                <a16:creationId xmlns:a16="http://schemas.microsoft.com/office/drawing/2014/main" id="{09E124BE-E312-42E5-99B1-A9BBD8ACF4BA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callout">
            <a:extLst>
              <a:ext uri="{FF2B5EF4-FFF2-40B4-BE49-F238E27FC236}">
                <a16:creationId xmlns:a16="http://schemas.microsoft.com/office/drawing/2014/main" id="{621BD3D9-2A7C-4F91-9372-12D86ADFB355}"/>
              </a:ext>
            </a:extLst>
          </p:cNvPr>
          <p:cNvSpPr>
            <a:spLocks noGrp="1"/>
          </p:cNvSpPr>
          <p:nvPr/>
        </p:nvSpPr>
        <p:spPr>
          <a:xfrm>
            <a:off x="612648" y="5486400"/>
            <a:ext cx="10972800" cy="685800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callout-text">
            <a:extLst>
              <a:ext uri="{FF2B5EF4-FFF2-40B4-BE49-F238E27FC236}">
                <a16:creationId xmlns:a16="http://schemas.microsoft.com/office/drawing/2014/main" id="{F8AB5F32-0E26-4A56-A690-72FDD8880F99}"/>
              </a:ext>
            </a:extLst>
          </p:cNvPr>
          <p:cNvSpPr>
            <a:spLocks noGrp="1"/>
          </p:cNvSpPr>
          <p:nvPr/>
        </p:nvSpPr>
        <p:spPr>
          <a:xfrm>
            <a:off x="795528" y="5559552"/>
            <a:ext cx="10607040" cy="5394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>
                <a:solidFill>
                  <a:srgbClr val="FFFFFF"/>
                </a:solidFill>
              </a:rPr>
              <a:t>DCops records, verifies and escalates. When a manually-managed certificate can be automated, DCops hands it to cert-manager — it never re-implements it.</a:t>
            </a:r>
          </a:p>
        </p:txBody>
      </p:sp>
    </p:spTree>
    <p:extLst>
      <p:ext uri="{BB962C8B-B14F-4D97-AF65-F5344CB8AC3E}">
        <p14:creationId xmlns:p14="http://schemas.microsoft.com/office/powerpoint/2010/main" val="79725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kicker">
            <a:extLst>
              <a:ext uri="{FF2B5EF4-FFF2-40B4-BE49-F238E27FC236}">
                <a16:creationId xmlns:a16="http://schemas.microsoft.com/office/drawing/2014/main" id="{3329F5C7-D0C6-4735-8C7A-C36939B17AD1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FROM SPREADSHEET TO LIVING REGISTER</a:t>
            </a:r>
          </a:p>
        </p:txBody>
      </p:sp>
      <p:sp>
        <p:nvSpPr>
          <p:cNvPr id="310" name="title">
            <a:extLst>
              <a:ext uri="{FF2B5EF4-FFF2-40B4-BE49-F238E27FC236}">
                <a16:creationId xmlns:a16="http://schemas.microsoft.com/office/drawing/2014/main" id="{012DF962-4BC0-42C6-8A1C-59BBD187FABE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Operations loads the scan in the DCops UI — no engineers, no YAML</a:t>
            </a:r>
          </a:p>
        </p:txBody>
      </p:sp>
      <p:sp>
        <p:nvSpPr>
          <p:cNvPr id="311" name="rule">
            <a:extLst>
              <a:ext uri="{FF2B5EF4-FFF2-40B4-BE49-F238E27FC236}">
                <a16:creationId xmlns:a16="http://schemas.microsoft.com/office/drawing/2014/main" id="{C375845A-009E-4847-BA5F-33B3A89360FF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page">
            <a:extLst>
              <a:ext uri="{FF2B5EF4-FFF2-40B4-BE49-F238E27FC236}">
                <a16:creationId xmlns:a16="http://schemas.microsoft.com/office/drawing/2014/main" id="{F8865351-1BD1-4C9A-8B63-06746EBECB07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08</a:t>
            </a:r>
          </a:p>
        </p:txBody>
      </p:sp>
      <p:sp>
        <p:nvSpPr>
          <p:cNvPr id="313" name="footer">
            <a:extLst>
              <a:ext uri="{FF2B5EF4-FFF2-40B4-BE49-F238E27FC236}">
                <a16:creationId xmlns:a16="http://schemas.microsoft.com/office/drawing/2014/main" id="{1C53892A-227B-4DE0-9345-5BDE02BA9988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314" name="step">
            <a:extLst>
              <a:ext uri="{FF2B5EF4-FFF2-40B4-BE49-F238E27FC236}">
                <a16:creationId xmlns:a16="http://schemas.microsoft.com/office/drawing/2014/main" id="{805C4A44-B920-49A7-8AE9-D6560E2FD6D4}"/>
              </a:ext>
            </a:extLst>
          </p:cNvPr>
          <p:cNvSpPr>
            <a:spLocks noGrp="1"/>
          </p:cNvSpPr>
          <p:nvPr/>
        </p:nvSpPr>
        <p:spPr>
          <a:xfrm>
            <a:off x="1572768" y="1600200"/>
            <a:ext cx="685800" cy="6858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n">
            <a:extLst>
              <a:ext uri="{FF2B5EF4-FFF2-40B4-BE49-F238E27FC236}">
                <a16:creationId xmlns:a16="http://schemas.microsoft.com/office/drawing/2014/main" id="{81C0F248-6C12-4B84-A533-31484C5AE348}"/>
              </a:ext>
            </a:extLst>
          </p:cNvPr>
          <p:cNvSpPr>
            <a:spLocks noGrp="1"/>
          </p:cNvSpPr>
          <p:nvPr/>
        </p:nvSpPr>
        <p:spPr>
          <a:xfrm>
            <a:off x="1572768" y="160020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6" name="st">
            <a:extLst>
              <a:ext uri="{FF2B5EF4-FFF2-40B4-BE49-F238E27FC236}">
                <a16:creationId xmlns:a16="http://schemas.microsoft.com/office/drawing/2014/main" id="{C9438FDC-D643-459D-A2FA-9F9A5C344271}"/>
              </a:ext>
            </a:extLst>
          </p:cNvPr>
          <p:cNvSpPr>
            <a:spLocks noGrp="1"/>
          </p:cNvSpPr>
          <p:nvPr/>
        </p:nvSpPr>
        <p:spPr>
          <a:xfrm>
            <a:off x="612648" y="2468880"/>
            <a:ext cx="2606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lang="en-US" sz="1575" b="1">
                <a:solidFill>
                  <a:srgbClr val="111318"/>
                </a:solidFill>
              </a:rPr>
              <a:t>Drop the file</a:t>
            </a:r>
          </a:p>
        </p:txBody>
      </p:sp>
      <p:sp>
        <p:nvSpPr>
          <p:cNvPr id="317" name="sd">
            <a:extLst>
              <a:ext uri="{FF2B5EF4-FFF2-40B4-BE49-F238E27FC236}">
                <a16:creationId xmlns:a16="http://schemas.microsoft.com/office/drawing/2014/main" id="{CD7170BF-1632-49D4-BE0B-D72C6BB13091}"/>
              </a:ext>
            </a:extLst>
          </p:cNvPr>
          <p:cNvSpPr>
            <a:spLocks noGrp="1"/>
          </p:cNvSpPr>
          <p:nvPr/>
        </p:nvSpPr>
        <p:spPr>
          <a:xfrm>
            <a:off x="612648" y="2816352"/>
            <a:ext cx="260604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lang="en-US" sz="1200" b="0">
                <a:solidFill>
                  <a:srgbClr val="5E6672"/>
                </a:solidFill>
              </a:rPr>
              <a:t>Upload the certificate scan — or the registrar’s domain export — exactly as produced</a:t>
            </a:r>
          </a:p>
        </p:txBody>
      </p:sp>
      <p:sp>
        <p:nvSpPr>
          <p:cNvPr id="318" name="connector">
            <a:extLst>
              <a:ext uri="{FF2B5EF4-FFF2-40B4-BE49-F238E27FC236}">
                <a16:creationId xmlns:a16="http://schemas.microsoft.com/office/drawing/2014/main" id="{27D346BD-CEF7-4D1C-B455-C032B4FC3242}"/>
              </a:ext>
            </a:extLst>
          </p:cNvPr>
          <p:cNvSpPr>
            <a:spLocks noGrp="1"/>
          </p:cNvSpPr>
          <p:nvPr/>
        </p:nvSpPr>
        <p:spPr>
          <a:xfrm>
            <a:off x="2395728" y="1943100"/>
            <a:ext cx="1828800" cy="9510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tep">
            <a:extLst>
              <a:ext uri="{FF2B5EF4-FFF2-40B4-BE49-F238E27FC236}">
                <a16:creationId xmlns:a16="http://schemas.microsoft.com/office/drawing/2014/main" id="{73ED6F00-2EF7-4B6E-BC72-D60F6E902C9F}"/>
              </a:ext>
            </a:extLst>
          </p:cNvPr>
          <p:cNvSpPr>
            <a:spLocks noGrp="1"/>
          </p:cNvSpPr>
          <p:nvPr/>
        </p:nvSpPr>
        <p:spPr>
          <a:xfrm>
            <a:off x="4361688" y="1600200"/>
            <a:ext cx="685800" cy="6858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n">
            <a:extLst>
              <a:ext uri="{FF2B5EF4-FFF2-40B4-BE49-F238E27FC236}">
                <a16:creationId xmlns:a16="http://schemas.microsoft.com/office/drawing/2014/main" id="{B81965B5-1243-4120-809F-CCA7ECC6E326}"/>
              </a:ext>
            </a:extLst>
          </p:cNvPr>
          <p:cNvSpPr>
            <a:spLocks noGrp="1"/>
          </p:cNvSpPr>
          <p:nvPr/>
        </p:nvSpPr>
        <p:spPr>
          <a:xfrm>
            <a:off x="4361688" y="160020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1" name="st">
            <a:extLst>
              <a:ext uri="{FF2B5EF4-FFF2-40B4-BE49-F238E27FC236}">
                <a16:creationId xmlns:a16="http://schemas.microsoft.com/office/drawing/2014/main" id="{0E246CD1-BBE3-4D66-A802-12B7B4C1E458}"/>
              </a:ext>
            </a:extLst>
          </p:cNvPr>
          <p:cNvSpPr>
            <a:spLocks noGrp="1"/>
          </p:cNvSpPr>
          <p:nvPr/>
        </p:nvSpPr>
        <p:spPr>
          <a:xfrm>
            <a:off x="3401568" y="2468880"/>
            <a:ext cx="2606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lang="en-US" sz="1575" b="1">
                <a:solidFill>
                  <a:srgbClr val="111318"/>
                </a:solidFill>
              </a:rPr>
              <a:t>Review the changes</a:t>
            </a:r>
          </a:p>
        </p:txBody>
      </p:sp>
      <p:sp>
        <p:nvSpPr>
          <p:cNvPr id="322" name="sd">
            <a:extLst>
              <a:ext uri="{FF2B5EF4-FFF2-40B4-BE49-F238E27FC236}">
                <a16:creationId xmlns:a16="http://schemas.microsoft.com/office/drawing/2014/main" id="{4843580A-0133-478F-ACC0-7589AD218C92}"/>
              </a:ext>
            </a:extLst>
          </p:cNvPr>
          <p:cNvSpPr>
            <a:spLocks noGrp="1"/>
          </p:cNvSpPr>
          <p:nvPr/>
        </p:nvSpPr>
        <p:spPr>
          <a:xfrm>
            <a:off x="3401568" y="2816352"/>
            <a:ext cx="260604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lang="en-US" sz="1200" b="0">
                <a:solidFill>
                  <a:srgbClr val="5E6672"/>
                </a:solidFill>
              </a:rPr>
              <a:t>New, changed, unchanged and disappeared records, side by side</a:t>
            </a:r>
          </a:p>
        </p:txBody>
      </p:sp>
      <p:sp>
        <p:nvSpPr>
          <p:cNvPr id="323" name="connector">
            <a:extLst>
              <a:ext uri="{FF2B5EF4-FFF2-40B4-BE49-F238E27FC236}">
                <a16:creationId xmlns:a16="http://schemas.microsoft.com/office/drawing/2014/main" id="{19E4D530-C87B-47A0-99B3-ACEC986FA5FC}"/>
              </a:ext>
            </a:extLst>
          </p:cNvPr>
          <p:cNvSpPr>
            <a:spLocks noGrp="1"/>
          </p:cNvSpPr>
          <p:nvPr/>
        </p:nvSpPr>
        <p:spPr>
          <a:xfrm>
            <a:off x="5184648" y="1943100"/>
            <a:ext cx="1828800" cy="9510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tep">
            <a:extLst>
              <a:ext uri="{FF2B5EF4-FFF2-40B4-BE49-F238E27FC236}">
                <a16:creationId xmlns:a16="http://schemas.microsoft.com/office/drawing/2014/main" id="{C6C8158F-9C30-4B26-A917-7E5A747D6EBB}"/>
              </a:ext>
            </a:extLst>
          </p:cNvPr>
          <p:cNvSpPr>
            <a:spLocks noGrp="1"/>
          </p:cNvSpPr>
          <p:nvPr/>
        </p:nvSpPr>
        <p:spPr>
          <a:xfrm>
            <a:off x="7150608" y="1600200"/>
            <a:ext cx="685800" cy="6858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n">
            <a:extLst>
              <a:ext uri="{FF2B5EF4-FFF2-40B4-BE49-F238E27FC236}">
                <a16:creationId xmlns:a16="http://schemas.microsoft.com/office/drawing/2014/main" id="{FE74482C-CAF2-491A-A634-7E7CC0F1AA2D}"/>
              </a:ext>
            </a:extLst>
          </p:cNvPr>
          <p:cNvSpPr>
            <a:spLocks noGrp="1"/>
          </p:cNvSpPr>
          <p:nvPr/>
        </p:nvSpPr>
        <p:spPr>
          <a:xfrm>
            <a:off x="7150608" y="160020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6" name="st">
            <a:extLst>
              <a:ext uri="{FF2B5EF4-FFF2-40B4-BE49-F238E27FC236}">
                <a16:creationId xmlns:a16="http://schemas.microsoft.com/office/drawing/2014/main" id="{A201CB04-85A9-4A3A-99BF-B4341B39A2A7}"/>
              </a:ext>
            </a:extLst>
          </p:cNvPr>
          <p:cNvSpPr>
            <a:spLocks noGrp="1"/>
          </p:cNvSpPr>
          <p:nvPr/>
        </p:nvSpPr>
        <p:spPr>
          <a:xfrm>
            <a:off x="6190488" y="2468880"/>
            <a:ext cx="2606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lang="en-US" sz="1575" b="1">
                <a:solidFill>
                  <a:srgbClr val="111318"/>
                </a:solidFill>
              </a:rPr>
              <a:t>Confirm</a:t>
            </a:r>
          </a:p>
        </p:txBody>
      </p:sp>
      <p:sp>
        <p:nvSpPr>
          <p:cNvPr id="327" name="sd">
            <a:extLst>
              <a:ext uri="{FF2B5EF4-FFF2-40B4-BE49-F238E27FC236}">
                <a16:creationId xmlns:a16="http://schemas.microsoft.com/office/drawing/2014/main" id="{124658CE-A2B2-4A55-B42A-1E0D40EF142C}"/>
              </a:ext>
            </a:extLst>
          </p:cNvPr>
          <p:cNvSpPr>
            <a:spLocks noGrp="1"/>
          </p:cNvSpPr>
          <p:nvPr/>
        </p:nvSpPr>
        <p:spPr>
          <a:xfrm>
            <a:off x="6190488" y="2816352"/>
            <a:ext cx="260604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lang="en-US" sz="1200" b="0">
                <a:solidFill>
                  <a:srgbClr val="5E6672"/>
                </a:solidFill>
              </a:rPr>
              <a:t>One click. The register updates and the import is logged</a:t>
            </a:r>
          </a:p>
        </p:txBody>
      </p:sp>
      <p:sp>
        <p:nvSpPr>
          <p:cNvPr id="328" name="connector">
            <a:extLst>
              <a:ext uri="{FF2B5EF4-FFF2-40B4-BE49-F238E27FC236}">
                <a16:creationId xmlns:a16="http://schemas.microsoft.com/office/drawing/2014/main" id="{9EBB62AC-2306-4AC2-AE5D-ECE86082D2B2}"/>
              </a:ext>
            </a:extLst>
          </p:cNvPr>
          <p:cNvSpPr>
            <a:spLocks noGrp="1"/>
          </p:cNvSpPr>
          <p:nvPr/>
        </p:nvSpPr>
        <p:spPr>
          <a:xfrm>
            <a:off x="7973568" y="1943100"/>
            <a:ext cx="1828800" cy="9510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tep">
            <a:extLst>
              <a:ext uri="{FF2B5EF4-FFF2-40B4-BE49-F238E27FC236}">
                <a16:creationId xmlns:a16="http://schemas.microsoft.com/office/drawing/2014/main" id="{59675EF6-DAF0-484D-ABB0-6FD49A5B18DB}"/>
              </a:ext>
            </a:extLst>
          </p:cNvPr>
          <p:cNvSpPr>
            <a:spLocks noGrp="1"/>
          </p:cNvSpPr>
          <p:nvPr/>
        </p:nvSpPr>
        <p:spPr>
          <a:xfrm>
            <a:off x="9939528" y="1600200"/>
            <a:ext cx="685800" cy="685800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n">
            <a:extLst>
              <a:ext uri="{FF2B5EF4-FFF2-40B4-BE49-F238E27FC236}">
                <a16:creationId xmlns:a16="http://schemas.microsoft.com/office/drawing/2014/main" id="{DED5199C-6540-45FE-965A-2D4323AB6F40}"/>
              </a:ext>
            </a:extLst>
          </p:cNvPr>
          <p:cNvSpPr>
            <a:spLocks noGrp="1"/>
          </p:cNvSpPr>
          <p:nvPr/>
        </p:nvSpPr>
        <p:spPr>
          <a:xfrm>
            <a:off x="9939528" y="160020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1" name="st">
            <a:extLst>
              <a:ext uri="{FF2B5EF4-FFF2-40B4-BE49-F238E27FC236}">
                <a16:creationId xmlns:a16="http://schemas.microsoft.com/office/drawing/2014/main" id="{424FA0E9-4EE9-4861-AD2E-C8133D9B4505}"/>
              </a:ext>
            </a:extLst>
          </p:cNvPr>
          <p:cNvSpPr>
            <a:spLocks noGrp="1"/>
          </p:cNvSpPr>
          <p:nvPr/>
        </p:nvSpPr>
        <p:spPr>
          <a:xfrm>
            <a:off x="8979408" y="2468880"/>
            <a:ext cx="260604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575" b="1">
                <a:solidFill>
                  <a:srgbClr val="111318"/>
                </a:solidFill>
              </a:defRPr>
            </a:pPr>
            <a:r>
              <a:rPr lang="en-US" sz="1575" b="1">
                <a:solidFill>
                  <a:srgbClr val="111318"/>
                </a:solidFill>
              </a:rPr>
              <a:t>Assign owners</a:t>
            </a:r>
          </a:p>
        </p:txBody>
      </p:sp>
      <p:sp>
        <p:nvSpPr>
          <p:cNvPr id="332" name="sd">
            <a:extLst>
              <a:ext uri="{FF2B5EF4-FFF2-40B4-BE49-F238E27FC236}">
                <a16:creationId xmlns:a16="http://schemas.microsoft.com/office/drawing/2014/main" id="{B8157E8C-87F2-4CE7-A2A2-7688463FD42A}"/>
              </a:ext>
            </a:extLst>
          </p:cNvPr>
          <p:cNvSpPr>
            <a:spLocks noGrp="1"/>
          </p:cNvSpPr>
          <p:nvPr/>
        </p:nvSpPr>
        <p:spPr>
          <a:xfrm>
            <a:off x="8979408" y="2816352"/>
            <a:ext cx="260604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ctr">
              <a:defRPr sz="1200" b="0">
                <a:solidFill>
                  <a:srgbClr val="5E6672"/>
                </a:solidFill>
              </a:defRPr>
            </a:pPr>
            <a:r>
              <a:rPr lang="en-US" sz="1200" b="0">
                <a:solidFill>
                  <a:srgbClr val="5E6672"/>
                </a:solidFill>
              </a:rPr>
              <a:t>Work through the unowned list; every assignment is recorded</a:t>
            </a:r>
          </a:p>
        </p:txBody>
      </p:sp>
      <p:sp>
        <p:nvSpPr>
          <p:cNvPr id="333" name="g">
            <a:extLst>
              <a:ext uri="{FF2B5EF4-FFF2-40B4-BE49-F238E27FC236}">
                <a16:creationId xmlns:a16="http://schemas.microsoft.com/office/drawing/2014/main" id="{847DC703-4E65-421C-AF12-300FB445E2F4}"/>
              </a:ext>
            </a:extLst>
          </p:cNvPr>
          <p:cNvSpPr>
            <a:spLocks noGrp="1"/>
          </p:cNvSpPr>
          <p:nvPr/>
        </p:nvSpPr>
        <p:spPr>
          <a:xfrm>
            <a:off x="612648" y="38404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g-dot">
            <a:extLst>
              <a:ext uri="{FF2B5EF4-FFF2-40B4-BE49-F238E27FC236}">
                <a16:creationId xmlns:a16="http://schemas.microsoft.com/office/drawing/2014/main" id="{41E8EB92-1D1B-418E-A4E2-C17E41749CB5}"/>
              </a:ext>
            </a:extLst>
          </p:cNvPr>
          <p:cNvSpPr>
            <a:spLocks noGrp="1"/>
          </p:cNvSpPr>
          <p:nvPr/>
        </p:nvSpPr>
        <p:spPr>
          <a:xfrm>
            <a:off x="841248" y="4041648"/>
            <a:ext cx="146304" cy="146304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g-h">
            <a:extLst>
              <a:ext uri="{FF2B5EF4-FFF2-40B4-BE49-F238E27FC236}">
                <a16:creationId xmlns:a16="http://schemas.microsoft.com/office/drawing/2014/main" id="{BCABCABA-8FBA-45CA-A4FD-F73799EBCB39}"/>
              </a:ext>
            </a:extLst>
          </p:cNvPr>
          <p:cNvSpPr>
            <a:spLocks noGrp="1"/>
          </p:cNvSpPr>
          <p:nvPr/>
        </p:nvSpPr>
        <p:spPr>
          <a:xfrm>
            <a:off x="1069848" y="3950208"/>
            <a:ext cx="292608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111318"/>
                </a:solidFill>
              </a:defRPr>
            </a:pPr>
            <a:r>
              <a:rPr lang="en-US" sz="1400" b="1">
                <a:solidFill>
                  <a:srgbClr val="111318"/>
                </a:solidFill>
              </a:rPr>
              <a:t>Safe to repeat</a:t>
            </a:r>
          </a:p>
        </p:txBody>
      </p:sp>
      <p:sp>
        <p:nvSpPr>
          <p:cNvPr id="336" name="g-d">
            <a:extLst>
              <a:ext uri="{FF2B5EF4-FFF2-40B4-BE49-F238E27FC236}">
                <a16:creationId xmlns:a16="http://schemas.microsoft.com/office/drawing/2014/main" id="{2B992ED5-4EBC-417C-B83A-3CCD1C2919E3}"/>
              </a:ext>
            </a:extLst>
          </p:cNvPr>
          <p:cNvSpPr>
            <a:spLocks noGrp="1"/>
          </p:cNvSpPr>
          <p:nvPr/>
        </p:nvSpPr>
        <p:spPr>
          <a:xfrm>
            <a:off x="841248" y="4370832"/>
            <a:ext cx="310896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Loading the same file twice changes nothing. Loading next month’s scan changes only what moved.</a:t>
            </a:r>
          </a:p>
        </p:txBody>
      </p:sp>
      <p:sp>
        <p:nvSpPr>
          <p:cNvPr id="337" name="g">
            <a:extLst>
              <a:ext uri="{FF2B5EF4-FFF2-40B4-BE49-F238E27FC236}">
                <a16:creationId xmlns:a16="http://schemas.microsoft.com/office/drawing/2014/main" id="{AA7A414F-6327-4F36-80AB-8639AA19D712}"/>
              </a:ext>
            </a:extLst>
          </p:cNvPr>
          <p:cNvSpPr>
            <a:spLocks noGrp="1"/>
          </p:cNvSpPr>
          <p:nvPr/>
        </p:nvSpPr>
        <p:spPr>
          <a:xfrm>
            <a:off x="4338828" y="38404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g-dot">
            <a:extLst>
              <a:ext uri="{FF2B5EF4-FFF2-40B4-BE49-F238E27FC236}">
                <a16:creationId xmlns:a16="http://schemas.microsoft.com/office/drawing/2014/main" id="{6E59E8D4-9FC1-4739-AE78-DD347AE7819E}"/>
              </a:ext>
            </a:extLst>
          </p:cNvPr>
          <p:cNvSpPr>
            <a:spLocks noGrp="1"/>
          </p:cNvSpPr>
          <p:nvPr/>
        </p:nvSpPr>
        <p:spPr>
          <a:xfrm>
            <a:off x="4567428" y="4041648"/>
            <a:ext cx="146304" cy="146304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g-h">
            <a:extLst>
              <a:ext uri="{FF2B5EF4-FFF2-40B4-BE49-F238E27FC236}">
                <a16:creationId xmlns:a16="http://schemas.microsoft.com/office/drawing/2014/main" id="{79896C07-752C-462C-95A3-47CBCA310159}"/>
              </a:ext>
            </a:extLst>
          </p:cNvPr>
          <p:cNvSpPr>
            <a:spLocks noGrp="1"/>
          </p:cNvSpPr>
          <p:nvPr/>
        </p:nvSpPr>
        <p:spPr>
          <a:xfrm>
            <a:off x="4796028" y="3950208"/>
            <a:ext cx="292608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111318"/>
                </a:solidFill>
              </a:defRPr>
            </a:pPr>
            <a:r>
              <a:rPr lang="en-US" sz="1400" b="1">
                <a:solidFill>
                  <a:srgbClr val="111318"/>
                </a:solidFill>
              </a:rPr>
              <a:t>Owners are never overwritten</a:t>
            </a:r>
          </a:p>
        </p:txBody>
      </p:sp>
      <p:sp>
        <p:nvSpPr>
          <p:cNvPr id="340" name="g-d">
            <a:extLst>
              <a:ext uri="{FF2B5EF4-FFF2-40B4-BE49-F238E27FC236}">
                <a16:creationId xmlns:a16="http://schemas.microsoft.com/office/drawing/2014/main" id="{D12C48FD-6DA5-40E7-A60C-FBDF7BAFFD41}"/>
              </a:ext>
            </a:extLst>
          </p:cNvPr>
          <p:cNvSpPr>
            <a:spLocks noGrp="1"/>
          </p:cNvSpPr>
          <p:nvPr/>
        </p:nvSpPr>
        <p:spPr>
          <a:xfrm>
            <a:off x="4567428" y="4370832"/>
            <a:ext cx="310896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A re-import can update expiry dates and issuers; it cannot touch who is responsible.</a:t>
            </a:r>
          </a:p>
        </p:txBody>
      </p:sp>
      <p:sp>
        <p:nvSpPr>
          <p:cNvPr id="341" name="g">
            <a:extLst>
              <a:ext uri="{FF2B5EF4-FFF2-40B4-BE49-F238E27FC236}">
                <a16:creationId xmlns:a16="http://schemas.microsoft.com/office/drawing/2014/main" id="{AD24DE77-2781-4D0B-8190-8492279A161B}"/>
              </a:ext>
            </a:extLst>
          </p:cNvPr>
          <p:cNvSpPr>
            <a:spLocks noGrp="1"/>
          </p:cNvSpPr>
          <p:nvPr/>
        </p:nvSpPr>
        <p:spPr>
          <a:xfrm>
            <a:off x="8065008" y="384048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g-dot">
            <a:extLst>
              <a:ext uri="{FF2B5EF4-FFF2-40B4-BE49-F238E27FC236}">
                <a16:creationId xmlns:a16="http://schemas.microsoft.com/office/drawing/2014/main" id="{9EC70822-6274-4393-AD47-03A4C83778A1}"/>
              </a:ext>
            </a:extLst>
          </p:cNvPr>
          <p:cNvSpPr>
            <a:spLocks noGrp="1"/>
          </p:cNvSpPr>
          <p:nvPr/>
        </p:nvSpPr>
        <p:spPr>
          <a:xfrm>
            <a:off x="8293608" y="4041648"/>
            <a:ext cx="146304" cy="146304"/>
          </a:xfrm>
          <a:prstGeom prst="ellipse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g-h">
            <a:extLst>
              <a:ext uri="{FF2B5EF4-FFF2-40B4-BE49-F238E27FC236}">
                <a16:creationId xmlns:a16="http://schemas.microsoft.com/office/drawing/2014/main" id="{070E99FF-7D98-4820-BDA3-80E887895988}"/>
              </a:ext>
            </a:extLst>
          </p:cNvPr>
          <p:cNvSpPr>
            <a:spLocks noGrp="1"/>
          </p:cNvSpPr>
          <p:nvPr/>
        </p:nvSpPr>
        <p:spPr>
          <a:xfrm>
            <a:off x="8522208" y="3950208"/>
            <a:ext cx="292608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111318"/>
                </a:solidFill>
              </a:defRPr>
            </a:pPr>
            <a:r>
              <a:rPr lang="en-US" sz="1400" b="1">
                <a:solidFill>
                  <a:srgbClr val="111318"/>
                </a:solidFill>
              </a:rPr>
              <a:t>Every import is on record</a:t>
            </a:r>
          </a:p>
        </p:txBody>
      </p:sp>
      <p:sp>
        <p:nvSpPr>
          <p:cNvPr id="344" name="g-d">
            <a:extLst>
              <a:ext uri="{FF2B5EF4-FFF2-40B4-BE49-F238E27FC236}">
                <a16:creationId xmlns:a16="http://schemas.microsoft.com/office/drawing/2014/main" id="{A9BCBB69-0F46-4039-8990-2FA4AB65A281}"/>
              </a:ext>
            </a:extLst>
          </p:cNvPr>
          <p:cNvSpPr>
            <a:spLocks noGrp="1"/>
          </p:cNvSpPr>
          <p:nvPr/>
        </p:nvSpPr>
        <p:spPr>
          <a:xfrm>
            <a:off x="8293608" y="4370832"/>
            <a:ext cx="310896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Who loaded it, when, and exactly what changed — the audit trail a Level 2 review asks for.</a:t>
            </a:r>
          </a:p>
        </p:txBody>
      </p:sp>
      <p:sp>
        <p:nvSpPr>
          <p:cNvPr id="345" name="lvl-label">
            <a:extLst>
              <a:ext uri="{FF2B5EF4-FFF2-40B4-BE49-F238E27FC236}">
                <a16:creationId xmlns:a16="http://schemas.microsoft.com/office/drawing/2014/main" id="{A84B577F-8F27-41E3-B6C6-5960E5151EB2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2F80ED"/>
                </a:solidFill>
              </a:defRPr>
            </a:pPr>
            <a:r>
              <a:rPr lang="en-US" sz="900" b="1">
                <a:solidFill>
                  <a:srgbClr val="2F80ED"/>
                </a:solidFill>
              </a:rPr>
              <a:t>Reaches Level 2 · Managed</a:t>
            </a:r>
          </a:p>
        </p:txBody>
      </p:sp>
      <p:sp>
        <p:nvSpPr>
          <p:cNvPr id="346" name="lvl-block">
            <a:extLst>
              <a:ext uri="{FF2B5EF4-FFF2-40B4-BE49-F238E27FC236}">
                <a16:creationId xmlns:a16="http://schemas.microsoft.com/office/drawing/2014/main" id="{E1FC3D40-902E-4E01-9F3E-2D80BB33C250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lvl-block">
            <a:extLst>
              <a:ext uri="{FF2B5EF4-FFF2-40B4-BE49-F238E27FC236}">
                <a16:creationId xmlns:a16="http://schemas.microsoft.com/office/drawing/2014/main" id="{E75F86E8-0D9F-4BB3-86B7-0783FAFF8EB2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lvl-block">
            <a:extLst>
              <a:ext uri="{FF2B5EF4-FFF2-40B4-BE49-F238E27FC236}">
                <a16:creationId xmlns:a16="http://schemas.microsoft.com/office/drawing/2014/main" id="{6FA594F9-E5A5-467E-8BB8-59542D4F9F86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lvl-block">
            <a:extLst>
              <a:ext uri="{FF2B5EF4-FFF2-40B4-BE49-F238E27FC236}">
                <a16:creationId xmlns:a16="http://schemas.microsoft.com/office/drawing/2014/main" id="{C8A7A482-3C35-482B-9C87-130E58C306BD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lvl-block">
            <a:extLst>
              <a:ext uri="{FF2B5EF4-FFF2-40B4-BE49-F238E27FC236}">
                <a16:creationId xmlns:a16="http://schemas.microsoft.com/office/drawing/2014/main" id="{7753935D-A37A-4354-9E7C-087C64094502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note">
            <a:extLst>
              <a:ext uri="{FF2B5EF4-FFF2-40B4-BE49-F238E27FC236}">
                <a16:creationId xmlns:a16="http://schemas.microsoft.com/office/drawing/2014/main" id="{68C561EE-37F7-4D8E-853B-0196A33170B4}"/>
              </a:ext>
            </a:extLst>
          </p:cNvPr>
          <p:cNvSpPr>
            <a:spLocks noGrp="1"/>
          </p:cNvSpPr>
          <p:nvPr/>
        </p:nvSpPr>
        <p:spPr>
          <a:xfrm>
            <a:off x="612648" y="5532120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lang="en-US" sz="1200" b="1">
                <a:solidFill>
                  <a:srgbClr val="111318"/>
                </a:solidFill>
              </a:rPr>
              <a:t>One wizard, two registers. Records that vanish from a scan are flagged, never deleted — removal is always a deliberate, recorded decision.</a:t>
            </a:r>
          </a:p>
        </p:txBody>
      </p:sp>
    </p:spTree>
    <p:extLst>
      <p:ext uri="{BB962C8B-B14F-4D97-AF65-F5344CB8AC3E}">
        <p14:creationId xmlns:p14="http://schemas.microsoft.com/office/powerpoint/2010/main" val="79725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kicker">
            <a:extLst>
              <a:ext uri="{FF2B5EF4-FFF2-40B4-BE49-F238E27FC236}">
                <a16:creationId xmlns:a16="http://schemas.microsoft.com/office/drawing/2014/main" id="{17A005CC-D2FF-4DFD-8054-B91145F12D94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DATADOG INTEGRATION</a:t>
            </a:r>
          </a:p>
        </p:txBody>
      </p:sp>
      <p:sp>
        <p:nvSpPr>
          <p:cNvPr id="447" name="title">
            <a:extLst>
              <a:ext uri="{FF2B5EF4-FFF2-40B4-BE49-F238E27FC236}">
                <a16:creationId xmlns:a16="http://schemas.microsoft.com/office/drawing/2014/main" id="{0BEE53B6-B968-4211-A5F8-1149CE2A2E75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Built the Datadog way: a packaged integration, not a custom script</a:t>
            </a:r>
          </a:p>
        </p:txBody>
      </p:sp>
      <p:sp>
        <p:nvSpPr>
          <p:cNvPr id="448" name="rule">
            <a:extLst>
              <a:ext uri="{FF2B5EF4-FFF2-40B4-BE49-F238E27FC236}">
                <a16:creationId xmlns:a16="http://schemas.microsoft.com/office/drawing/2014/main" id="{E82B8C79-9B42-4650-99A1-9C1D1DF5A7FF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page">
            <a:extLst>
              <a:ext uri="{FF2B5EF4-FFF2-40B4-BE49-F238E27FC236}">
                <a16:creationId xmlns:a16="http://schemas.microsoft.com/office/drawing/2014/main" id="{2605017C-EB54-42F9-9F8B-1529A0D1BE45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12</a:t>
            </a:r>
          </a:p>
        </p:txBody>
      </p:sp>
      <p:sp>
        <p:nvSpPr>
          <p:cNvPr id="450" name="footer">
            <a:extLst>
              <a:ext uri="{FF2B5EF4-FFF2-40B4-BE49-F238E27FC236}">
                <a16:creationId xmlns:a16="http://schemas.microsoft.com/office/drawing/2014/main" id="{A55D0E5F-4739-467C-A81B-42BA9E919362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451" name="box">
            <a:extLst>
              <a:ext uri="{FF2B5EF4-FFF2-40B4-BE49-F238E27FC236}">
                <a16:creationId xmlns:a16="http://schemas.microsoft.com/office/drawing/2014/main" id="{C8241B1B-C81A-4C88-BDBB-2C2CFF1487AB}"/>
              </a:ext>
            </a:extLst>
          </p:cNvPr>
          <p:cNvSpPr>
            <a:spLocks noGrp="1"/>
          </p:cNvSpPr>
          <p:nvPr/>
        </p:nvSpPr>
        <p:spPr>
          <a:xfrm>
            <a:off x="612648" y="1508760"/>
            <a:ext cx="2468880" cy="146304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box-h">
            <a:extLst>
              <a:ext uri="{FF2B5EF4-FFF2-40B4-BE49-F238E27FC236}">
                <a16:creationId xmlns:a16="http://schemas.microsoft.com/office/drawing/2014/main" id="{9C507EBC-E6C0-4891-8D7F-881F303BFF57}"/>
              </a:ext>
            </a:extLst>
          </p:cNvPr>
          <p:cNvSpPr>
            <a:spLocks noGrp="1"/>
          </p:cNvSpPr>
          <p:nvPr/>
        </p:nvSpPr>
        <p:spPr>
          <a:xfrm>
            <a:off x="795528" y="1600200"/>
            <a:ext cx="210312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50" b="1">
                <a:solidFill>
                  <a:srgbClr val="FFFFFF"/>
                </a:solidFill>
              </a:defRPr>
            </a:pPr>
            <a:r>
              <a:rPr lang="en-US" sz="1450" b="1">
                <a:solidFill>
                  <a:srgbClr val="FFFFFF"/>
                </a:solidFill>
              </a:rPr>
              <a:t>DCops</a:t>
            </a:r>
          </a:p>
        </p:txBody>
      </p:sp>
      <p:sp>
        <p:nvSpPr>
          <p:cNvPr id="453" name="box-d">
            <a:extLst>
              <a:ext uri="{FF2B5EF4-FFF2-40B4-BE49-F238E27FC236}">
                <a16:creationId xmlns:a16="http://schemas.microsoft.com/office/drawing/2014/main" id="{A2F6FD1E-D687-4155-A292-018352B5169E}"/>
              </a:ext>
            </a:extLst>
          </p:cNvPr>
          <p:cNvSpPr>
            <a:spLocks noGrp="1"/>
          </p:cNvSpPr>
          <p:nvPr/>
        </p:nvSpPr>
        <p:spPr>
          <a:xfrm>
            <a:off x="795528" y="1947672"/>
            <a:ext cx="210312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lang="en-US" sz="1050" b="0">
                <a:solidFill>
                  <a:srgbClr val="FFFFFF"/>
                </a:solidFill>
              </a:rPr>
              <a:t>Checks every certificate and domain on a schedule and publishes standard health figures</a:t>
            </a:r>
          </a:p>
        </p:txBody>
      </p:sp>
      <p:sp>
        <p:nvSpPr>
          <p:cNvPr id="454" name="connector">
            <a:extLst>
              <a:ext uri="{FF2B5EF4-FFF2-40B4-BE49-F238E27FC236}">
                <a16:creationId xmlns:a16="http://schemas.microsoft.com/office/drawing/2014/main" id="{8CF5F226-0FA4-46F9-875F-6D22C0C91F6F}"/>
              </a:ext>
            </a:extLst>
          </p:cNvPr>
          <p:cNvSpPr>
            <a:spLocks noGrp="1"/>
          </p:cNvSpPr>
          <p:nvPr/>
        </p:nvSpPr>
        <p:spPr>
          <a:xfrm>
            <a:off x="3127248" y="2240280"/>
            <a:ext cx="274320" cy="9510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box">
            <a:extLst>
              <a:ext uri="{FF2B5EF4-FFF2-40B4-BE49-F238E27FC236}">
                <a16:creationId xmlns:a16="http://schemas.microsoft.com/office/drawing/2014/main" id="{0C620FC2-F7D6-4985-A4F4-397365DF7C7F}"/>
              </a:ext>
            </a:extLst>
          </p:cNvPr>
          <p:cNvSpPr>
            <a:spLocks noGrp="1"/>
          </p:cNvSpPr>
          <p:nvPr/>
        </p:nvSpPr>
        <p:spPr>
          <a:xfrm>
            <a:off x="3447288" y="1508760"/>
            <a:ext cx="2468880" cy="1463040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box-h">
            <a:extLst>
              <a:ext uri="{FF2B5EF4-FFF2-40B4-BE49-F238E27FC236}">
                <a16:creationId xmlns:a16="http://schemas.microsoft.com/office/drawing/2014/main" id="{6A962A5C-7C9B-4FA9-8CC1-EC916865FCA5}"/>
              </a:ext>
            </a:extLst>
          </p:cNvPr>
          <p:cNvSpPr>
            <a:spLocks noGrp="1"/>
          </p:cNvSpPr>
          <p:nvPr/>
        </p:nvSpPr>
        <p:spPr>
          <a:xfrm>
            <a:off x="3630168" y="1600200"/>
            <a:ext cx="210312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50" b="1">
                <a:solidFill>
                  <a:srgbClr val="FFFFFF"/>
                </a:solidFill>
              </a:defRPr>
            </a:pPr>
            <a:r>
              <a:rPr lang="en-US" sz="1450" b="1">
                <a:solidFill>
                  <a:srgbClr val="FFFFFF"/>
                </a:solidFill>
              </a:rPr>
              <a:t>Datadog integration</a:t>
            </a:r>
          </a:p>
        </p:txBody>
      </p:sp>
      <p:sp>
        <p:nvSpPr>
          <p:cNvPr id="457" name="box-d">
            <a:extLst>
              <a:ext uri="{FF2B5EF4-FFF2-40B4-BE49-F238E27FC236}">
                <a16:creationId xmlns:a16="http://schemas.microsoft.com/office/drawing/2014/main" id="{F79373D6-D76E-4BBD-A73D-E0784F3D6ED6}"/>
              </a:ext>
            </a:extLst>
          </p:cNvPr>
          <p:cNvSpPr>
            <a:spLocks noGrp="1"/>
          </p:cNvSpPr>
          <p:nvPr/>
        </p:nvSpPr>
        <p:spPr>
          <a:xfrm>
            <a:off x="3630168" y="1947672"/>
            <a:ext cx="210312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lang="en-US" sz="1050" b="0">
                <a:solidFill>
                  <a:srgbClr val="FFFFFF"/>
                </a:solidFill>
              </a:rPr>
              <a:t>Built to Datadog’s own integration standard — the same pattern as their cert-manager integration</a:t>
            </a:r>
          </a:p>
        </p:txBody>
      </p:sp>
      <p:sp>
        <p:nvSpPr>
          <p:cNvPr id="458" name="connector">
            <a:extLst>
              <a:ext uri="{FF2B5EF4-FFF2-40B4-BE49-F238E27FC236}">
                <a16:creationId xmlns:a16="http://schemas.microsoft.com/office/drawing/2014/main" id="{AEB063B5-9E1C-4FD8-BDA6-6FDF59DC8D12}"/>
              </a:ext>
            </a:extLst>
          </p:cNvPr>
          <p:cNvSpPr>
            <a:spLocks noGrp="1"/>
          </p:cNvSpPr>
          <p:nvPr/>
        </p:nvSpPr>
        <p:spPr>
          <a:xfrm>
            <a:off x="5961888" y="2240280"/>
            <a:ext cx="274320" cy="9510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box">
            <a:extLst>
              <a:ext uri="{FF2B5EF4-FFF2-40B4-BE49-F238E27FC236}">
                <a16:creationId xmlns:a16="http://schemas.microsoft.com/office/drawing/2014/main" id="{4A1E80B3-CB79-4DC2-9ECA-77191D58757E}"/>
              </a:ext>
            </a:extLst>
          </p:cNvPr>
          <p:cNvSpPr>
            <a:spLocks noGrp="1"/>
          </p:cNvSpPr>
          <p:nvPr/>
        </p:nvSpPr>
        <p:spPr>
          <a:xfrm>
            <a:off x="6281928" y="1508760"/>
            <a:ext cx="2468880" cy="146304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box-h">
            <a:extLst>
              <a:ext uri="{FF2B5EF4-FFF2-40B4-BE49-F238E27FC236}">
                <a16:creationId xmlns:a16="http://schemas.microsoft.com/office/drawing/2014/main" id="{5D444E43-85E1-4C46-8AA6-B9724DDD636C}"/>
              </a:ext>
            </a:extLst>
          </p:cNvPr>
          <p:cNvSpPr>
            <a:spLocks noGrp="1"/>
          </p:cNvSpPr>
          <p:nvPr/>
        </p:nvSpPr>
        <p:spPr>
          <a:xfrm>
            <a:off x="6464808" y="1600200"/>
            <a:ext cx="210312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50" b="1">
                <a:solidFill>
                  <a:srgbClr val="FFFFFF"/>
                </a:solidFill>
              </a:defRPr>
            </a:pPr>
            <a:r>
              <a:rPr lang="en-US" sz="1450" b="1">
                <a:solidFill>
                  <a:srgbClr val="FFFFFF"/>
                </a:solidFill>
              </a:rPr>
              <a:t>Operations dashboard</a:t>
            </a:r>
          </a:p>
        </p:txBody>
      </p:sp>
      <p:sp>
        <p:nvSpPr>
          <p:cNvPr id="461" name="box-d">
            <a:extLst>
              <a:ext uri="{FF2B5EF4-FFF2-40B4-BE49-F238E27FC236}">
                <a16:creationId xmlns:a16="http://schemas.microsoft.com/office/drawing/2014/main" id="{1B665C99-D6EB-4BB3-99CF-4EA6A7958675}"/>
              </a:ext>
            </a:extLst>
          </p:cNvPr>
          <p:cNvSpPr>
            <a:spLocks noGrp="1"/>
          </p:cNvSpPr>
          <p:nvPr/>
        </p:nvSpPr>
        <p:spPr>
          <a:xfrm>
            <a:off x="6464808" y="1947672"/>
            <a:ext cx="210312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lang="en-US" sz="1050" b="0">
                <a:solidFill>
                  <a:srgbClr val="FFFFFF"/>
                </a:solidFill>
              </a:rPr>
              <a:t>Fleet view by site, vendor, owner and expiry horizon — the previous slide</a:t>
            </a:r>
          </a:p>
        </p:txBody>
      </p:sp>
      <p:sp>
        <p:nvSpPr>
          <p:cNvPr id="462" name="connector">
            <a:extLst>
              <a:ext uri="{FF2B5EF4-FFF2-40B4-BE49-F238E27FC236}">
                <a16:creationId xmlns:a16="http://schemas.microsoft.com/office/drawing/2014/main" id="{16E05515-E487-4039-BE26-D73116674382}"/>
              </a:ext>
            </a:extLst>
          </p:cNvPr>
          <p:cNvSpPr>
            <a:spLocks noGrp="1"/>
          </p:cNvSpPr>
          <p:nvPr/>
        </p:nvSpPr>
        <p:spPr>
          <a:xfrm>
            <a:off x="8796528" y="2240280"/>
            <a:ext cx="274320" cy="9510"/>
          </a:xfrm>
          <a:prstGeom prst="line">
            <a:avLst/>
          </a:prstGeom>
          <a:noFill/>
          <a:ln w="19050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box">
            <a:extLst>
              <a:ext uri="{FF2B5EF4-FFF2-40B4-BE49-F238E27FC236}">
                <a16:creationId xmlns:a16="http://schemas.microsoft.com/office/drawing/2014/main" id="{143F24A3-13A7-483F-BC4E-3417B044C146}"/>
              </a:ext>
            </a:extLst>
          </p:cNvPr>
          <p:cNvSpPr>
            <a:spLocks noGrp="1"/>
          </p:cNvSpPr>
          <p:nvPr/>
        </p:nvSpPr>
        <p:spPr>
          <a:xfrm>
            <a:off x="9116568" y="1508760"/>
            <a:ext cx="2468880" cy="1463040"/>
          </a:xfrm>
          <a:prstGeom prst="rect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box-h">
            <a:extLst>
              <a:ext uri="{FF2B5EF4-FFF2-40B4-BE49-F238E27FC236}">
                <a16:creationId xmlns:a16="http://schemas.microsoft.com/office/drawing/2014/main" id="{BD87F1D1-8F0C-488D-B8A3-CE554C6AABFD}"/>
              </a:ext>
            </a:extLst>
          </p:cNvPr>
          <p:cNvSpPr>
            <a:spLocks noGrp="1"/>
          </p:cNvSpPr>
          <p:nvPr/>
        </p:nvSpPr>
        <p:spPr>
          <a:xfrm>
            <a:off x="9299448" y="1600200"/>
            <a:ext cx="210312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50" b="1">
                <a:solidFill>
                  <a:srgbClr val="FFFFFF"/>
                </a:solidFill>
              </a:defRPr>
            </a:pPr>
            <a:r>
              <a:rPr lang="en-US" sz="1450" b="1">
                <a:solidFill>
                  <a:srgbClr val="FFFFFF"/>
                </a:solidFill>
              </a:rPr>
              <a:t>Teams + email</a:t>
            </a:r>
          </a:p>
        </p:txBody>
      </p:sp>
      <p:sp>
        <p:nvSpPr>
          <p:cNvPr id="465" name="box-d">
            <a:extLst>
              <a:ext uri="{FF2B5EF4-FFF2-40B4-BE49-F238E27FC236}">
                <a16:creationId xmlns:a16="http://schemas.microsoft.com/office/drawing/2014/main" id="{844CEC74-AFEC-40AC-9987-47FA57A10564}"/>
              </a:ext>
            </a:extLst>
          </p:cNvPr>
          <p:cNvSpPr>
            <a:spLocks noGrp="1"/>
          </p:cNvSpPr>
          <p:nvPr/>
        </p:nvSpPr>
        <p:spPr>
          <a:xfrm>
            <a:off x="9299448" y="1947672"/>
            <a:ext cx="210312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lang="en-US" sz="1050" b="0">
                <a:solidFill>
                  <a:srgbClr val="FFFFFF"/>
                </a:solidFill>
              </a:rPr>
              <a:t>Ready-made monitors route each alert to the accountable owner</a:t>
            </a:r>
          </a:p>
        </p:txBody>
      </p:sp>
      <p:sp>
        <p:nvSpPr>
          <p:cNvPr id="466" name="mon-h">
            <a:extLst>
              <a:ext uri="{FF2B5EF4-FFF2-40B4-BE49-F238E27FC236}">
                <a16:creationId xmlns:a16="http://schemas.microsoft.com/office/drawing/2014/main" id="{0EB23E02-B981-4B2D-A289-918B3B443F94}"/>
              </a:ext>
            </a:extLst>
          </p:cNvPr>
          <p:cNvSpPr>
            <a:spLocks noGrp="1"/>
          </p:cNvSpPr>
          <p:nvPr/>
        </p:nvSpPr>
        <p:spPr>
          <a:xfrm>
            <a:off x="612648" y="3127248"/>
            <a:ext cx="7315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50" b="1">
                <a:solidFill>
                  <a:srgbClr val="111318"/>
                </a:solidFill>
              </a:defRPr>
            </a:pPr>
            <a:r>
              <a:rPr lang="en-US" sz="1350" b="1">
                <a:solidFill>
                  <a:srgbClr val="111318"/>
                </a:solidFill>
              </a:rPr>
              <a:t>Six monitors ship with the integration</a:t>
            </a:r>
          </a:p>
        </p:txBody>
      </p:sp>
      <p:sp>
        <p:nvSpPr>
          <p:cNvPr id="467" name="mon">
            <a:extLst>
              <a:ext uri="{FF2B5EF4-FFF2-40B4-BE49-F238E27FC236}">
                <a16:creationId xmlns:a16="http://schemas.microsoft.com/office/drawing/2014/main" id="{315EC1D1-B88A-47C0-BFDF-86CA07EDFC6A}"/>
              </a:ext>
            </a:extLst>
          </p:cNvPr>
          <p:cNvSpPr>
            <a:spLocks noGrp="1"/>
          </p:cNvSpPr>
          <p:nvPr/>
        </p:nvSpPr>
        <p:spPr>
          <a:xfrm>
            <a:off x="612648" y="3456432"/>
            <a:ext cx="3520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mon-dot">
            <a:extLst>
              <a:ext uri="{FF2B5EF4-FFF2-40B4-BE49-F238E27FC236}">
                <a16:creationId xmlns:a16="http://schemas.microsoft.com/office/drawing/2014/main" id="{ED5A5C0B-70BD-476D-A285-0FFDED401FC7}"/>
              </a:ext>
            </a:extLst>
          </p:cNvPr>
          <p:cNvSpPr>
            <a:spLocks noGrp="1"/>
          </p:cNvSpPr>
          <p:nvPr/>
        </p:nvSpPr>
        <p:spPr>
          <a:xfrm>
            <a:off x="795528" y="3602736"/>
            <a:ext cx="128016" cy="128016"/>
          </a:xfrm>
          <a:prstGeom prst="ellipse">
            <a:avLst/>
          </a:prstGeom>
          <a:solidFill>
            <a:srgbClr val="E6A2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mon-t">
            <a:extLst>
              <a:ext uri="{FF2B5EF4-FFF2-40B4-BE49-F238E27FC236}">
                <a16:creationId xmlns:a16="http://schemas.microsoft.com/office/drawing/2014/main" id="{5E925F70-DAB0-4DC2-B40A-9C8B58D74332}"/>
              </a:ext>
            </a:extLst>
          </p:cNvPr>
          <p:cNvSpPr>
            <a:spLocks noGrp="1"/>
          </p:cNvSpPr>
          <p:nvPr/>
        </p:nvSpPr>
        <p:spPr>
          <a:xfrm>
            <a:off x="996696" y="3511296"/>
            <a:ext cx="30175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50" b="1">
                <a:solidFill>
                  <a:srgbClr val="111318"/>
                </a:solidFill>
              </a:defRPr>
            </a:pPr>
            <a:r>
              <a:rPr lang="en-US" sz="1250" b="1">
                <a:solidFill>
                  <a:srgbClr val="111318"/>
                </a:solidFill>
              </a:rPr>
              <a:t>Expiring certificate</a:t>
            </a:r>
          </a:p>
        </p:txBody>
      </p:sp>
      <p:sp>
        <p:nvSpPr>
          <p:cNvPr id="470" name="mon-d">
            <a:extLst>
              <a:ext uri="{FF2B5EF4-FFF2-40B4-BE49-F238E27FC236}">
                <a16:creationId xmlns:a16="http://schemas.microsoft.com/office/drawing/2014/main" id="{315F1884-CF90-472D-9809-4D8FE01F4DEB}"/>
              </a:ext>
            </a:extLst>
          </p:cNvPr>
          <p:cNvSpPr>
            <a:spLocks noGrp="1"/>
          </p:cNvSpPr>
          <p:nvPr/>
        </p:nvSpPr>
        <p:spPr>
          <a:xfrm>
            <a:off x="795528" y="3803904"/>
            <a:ext cx="320040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Any production certificate under 30 days — the Level 4 target</a:t>
            </a:r>
          </a:p>
        </p:txBody>
      </p:sp>
      <p:sp>
        <p:nvSpPr>
          <p:cNvPr id="471" name="mon">
            <a:extLst>
              <a:ext uri="{FF2B5EF4-FFF2-40B4-BE49-F238E27FC236}">
                <a16:creationId xmlns:a16="http://schemas.microsoft.com/office/drawing/2014/main" id="{88EDA309-1CC8-4D60-A3CF-516E237B1259}"/>
              </a:ext>
            </a:extLst>
          </p:cNvPr>
          <p:cNvSpPr>
            <a:spLocks noGrp="1"/>
          </p:cNvSpPr>
          <p:nvPr/>
        </p:nvSpPr>
        <p:spPr>
          <a:xfrm>
            <a:off x="4338828" y="3456432"/>
            <a:ext cx="3520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mon-dot">
            <a:extLst>
              <a:ext uri="{FF2B5EF4-FFF2-40B4-BE49-F238E27FC236}">
                <a16:creationId xmlns:a16="http://schemas.microsoft.com/office/drawing/2014/main" id="{F4CB0783-5390-4A8A-B4D7-AFBD9A28DBBB}"/>
              </a:ext>
            </a:extLst>
          </p:cNvPr>
          <p:cNvSpPr>
            <a:spLocks noGrp="1"/>
          </p:cNvSpPr>
          <p:nvPr/>
        </p:nvSpPr>
        <p:spPr>
          <a:xfrm>
            <a:off x="4521708" y="3602736"/>
            <a:ext cx="128016" cy="128016"/>
          </a:xfrm>
          <a:prstGeom prst="ellipse">
            <a:avLst/>
          </a:prstGeom>
          <a:solidFill>
            <a:srgbClr val="E6A2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mon-t">
            <a:extLst>
              <a:ext uri="{FF2B5EF4-FFF2-40B4-BE49-F238E27FC236}">
                <a16:creationId xmlns:a16="http://schemas.microsoft.com/office/drawing/2014/main" id="{92F66C7B-7348-4B55-8F53-67700BE1AFFD}"/>
              </a:ext>
            </a:extLst>
          </p:cNvPr>
          <p:cNvSpPr>
            <a:spLocks noGrp="1"/>
          </p:cNvSpPr>
          <p:nvPr/>
        </p:nvSpPr>
        <p:spPr>
          <a:xfrm>
            <a:off x="4722876" y="3511296"/>
            <a:ext cx="30175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50" b="1">
                <a:solidFill>
                  <a:srgbClr val="111318"/>
                </a:solidFill>
              </a:defRPr>
            </a:pPr>
            <a:r>
              <a:rPr lang="en-US" sz="1250" b="1">
                <a:solidFill>
                  <a:srgbClr val="111318"/>
                </a:solidFill>
              </a:rPr>
              <a:t>Expiring domain</a:t>
            </a:r>
          </a:p>
        </p:txBody>
      </p:sp>
      <p:sp>
        <p:nvSpPr>
          <p:cNvPr id="474" name="mon-d">
            <a:extLst>
              <a:ext uri="{FF2B5EF4-FFF2-40B4-BE49-F238E27FC236}">
                <a16:creationId xmlns:a16="http://schemas.microsoft.com/office/drawing/2014/main" id="{3A628D7F-756D-4A3F-AC62-0B7AE2948A7A}"/>
              </a:ext>
            </a:extLst>
          </p:cNvPr>
          <p:cNvSpPr>
            <a:spLocks noGrp="1"/>
          </p:cNvSpPr>
          <p:nvPr/>
        </p:nvSpPr>
        <p:spPr>
          <a:xfrm>
            <a:off x="4521708" y="3803904"/>
            <a:ext cx="320040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Any critical domain registration under 90 days, or auto-renew off</a:t>
            </a:r>
          </a:p>
        </p:txBody>
      </p:sp>
      <p:sp>
        <p:nvSpPr>
          <p:cNvPr id="475" name="mon">
            <a:extLst>
              <a:ext uri="{FF2B5EF4-FFF2-40B4-BE49-F238E27FC236}">
                <a16:creationId xmlns:a16="http://schemas.microsoft.com/office/drawing/2014/main" id="{96454222-A388-4A94-8D43-17B0ED3C5B4A}"/>
              </a:ext>
            </a:extLst>
          </p:cNvPr>
          <p:cNvSpPr>
            <a:spLocks noGrp="1"/>
          </p:cNvSpPr>
          <p:nvPr/>
        </p:nvSpPr>
        <p:spPr>
          <a:xfrm>
            <a:off x="8065008" y="3456432"/>
            <a:ext cx="3520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mon-dot">
            <a:extLst>
              <a:ext uri="{FF2B5EF4-FFF2-40B4-BE49-F238E27FC236}">
                <a16:creationId xmlns:a16="http://schemas.microsoft.com/office/drawing/2014/main" id="{3FFAE9A0-4936-49A9-BA34-9F70474E53B2}"/>
              </a:ext>
            </a:extLst>
          </p:cNvPr>
          <p:cNvSpPr>
            <a:spLocks noGrp="1"/>
          </p:cNvSpPr>
          <p:nvPr/>
        </p:nvSpPr>
        <p:spPr>
          <a:xfrm>
            <a:off x="8247888" y="3602736"/>
            <a:ext cx="128016" cy="128016"/>
          </a:xfrm>
          <a:prstGeom prst="ellipse">
            <a:avLst/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mon-t">
            <a:extLst>
              <a:ext uri="{FF2B5EF4-FFF2-40B4-BE49-F238E27FC236}">
                <a16:creationId xmlns:a16="http://schemas.microsoft.com/office/drawing/2014/main" id="{1082A3FD-AFB0-43B1-8E99-BC301366C601}"/>
              </a:ext>
            </a:extLst>
          </p:cNvPr>
          <p:cNvSpPr>
            <a:spLocks noGrp="1"/>
          </p:cNvSpPr>
          <p:nvPr/>
        </p:nvSpPr>
        <p:spPr>
          <a:xfrm>
            <a:off x="8449056" y="3511296"/>
            <a:ext cx="30175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50" b="1">
                <a:solidFill>
                  <a:srgbClr val="111318"/>
                </a:solidFill>
              </a:defRPr>
            </a:pPr>
            <a:r>
              <a:rPr lang="en-US" sz="1250" b="1">
                <a:solidFill>
                  <a:srgbClr val="111318"/>
                </a:solidFill>
              </a:rPr>
              <a:t>Drift</a:t>
            </a:r>
          </a:p>
        </p:txBody>
      </p:sp>
      <p:sp>
        <p:nvSpPr>
          <p:cNvPr id="478" name="mon-d">
            <a:extLst>
              <a:ext uri="{FF2B5EF4-FFF2-40B4-BE49-F238E27FC236}">
                <a16:creationId xmlns:a16="http://schemas.microsoft.com/office/drawing/2014/main" id="{A3AC1E74-FEB4-48EC-82E0-1FE388E11016}"/>
              </a:ext>
            </a:extLst>
          </p:cNvPr>
          <p:cNvSpPr>
            <a:spLocks noGrp="1"/>
          </p:cNvSpPr>
          <p:nvPr/>
        </p:nvSpPr>
        <p:spPr>
          <a:xfrm>
            <a:off x="8247888" y="3803904"/>
            <a:ext cx="320040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The live site is not presenting the certificate we issued — edge or origin</a:t>
            </a:r>
          </a:p>
        </p:txBody>
      </p:sp>
      <p:sp>
        <p:nvSpPr>
          <p:cNvPr id="479" name="mon">
            <a:extLst>
              <a:ext uri="{FF2B5EF4-FFF2-40B4-BE49-F238E27FC236}">
                <a16:creationId xmlns:a16="http://schemas.microsoft.com/office/drawing/2014/main" id="{0ED3D068-7797-43E7-A2BB-57A9FC89446A}"/>
              </a:ext>
            </a:extLst>
          </p:cNvPr>
          <p:cNvSpPr>
            <a:spLocks noGrp="1"/>
          </p:cNvSpPr>
          <p:nvPr/>
        </p:nvSpPr>
        <p:spPr>
          <a:xfrm>
            <a:off x="612648" y="4370832"/>
            <a:ext cx="3520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mon-dot">
            <a:extLst>
              <a:ext uri="{FF2B5EF4-FFF2-40B4-BE49-F238E27FC236}">
                <a16:creationId xmlns:a16="http://schemas.microsoft.com/office/drawing/2014/main" id="{86DCADAB-B6D7-48A6-9347-9F221F2BD41A}"/>
              </a:ext>
            </a:extLst>
          </p:cNvPr>
          <p:cNvSpPr>
            <a:spLocks noGrp="1"/>
          </p:cNvSpPr>
          <p:nvPr/>
        </p:nvSpPr>
        <p:spPr>
          <a:xfrm>
            <a:off x="795528" y="4517136"/>
            <a:ext cx="128016" cy="128016"/>
          </a:xfrm>
          <a:prstGeom prst="ellipse">
            <a:avLst/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mon-t">
            <a:extLst>
              <a:ext uri="{FF2B5EF4-FFF2-40B4-BE49-F238E27FC236}">
                <a16:creationId xmlns:a16="http://schemas.microsoft.com/office/drawing/2014/main" id="{3A28B11D-1D34-455A-B0CA-96DB996296F4}"/>
              </a:ext>
            </a:extLst>
          </p:cNvPr>
          <p:cNvSpPr>
            <a:spLocks noGrp="1"/>
          </p:cNvSpPr>
          <p:nvPr/>
        </p:nvSpPr>
        <p:spPr>
          <a:xfrm>
            <a:off x="996696" y="4425696"/>
            <a:ext cx="30175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50" b="1">
                <a:solidFill>
                  <a:srgbClr val="111318"/>
                </a:solidFill>
              </a:defRPr>
            </a:pPr>
            <a:r>
              <a:rPr lang="en-US" sz="1250" b="1">
                <a:solidFill>
                  <a:srgbClr val="111318"/>
                </a:solidFill>
              </a:rPr>
              <a:t>Delegation / DNSSEC</a:t>
            </a:r>
          </a:p>
        </p:txBody>
      </p:sp>
      <p:sp>
        <p:nvSpPr>
          <p:cNvPr id="482" name="mon-d">
            <a:extLst>
              <a:ext uri="{FF2B5EF4-FFF2-40B4-BE49-F238E27FC236}">
                <a16:creationId xmlns:a16="http://schemas.microsoft.com/office/drawing/2014/main" id="{0B82B1C3-2805-4A42-BFB1-11C911751606}"/>
              </a:ext>
            </a:extLst>
          </p:cNvPr>
          <p:cNvSpPr>
            <a:spLocks noGrp="1"/>
          </p:cNvSpPr>
          <p:nvPr/>
        </p:nvSpPr>
        <p:spPr>
          <a:xfrm>
            <a:off x="795528" y="4718304"/>
            <a:ext cx="320040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A hop in the chain disagrees, or validation fails — an outage in progress</a:t>
            </a:r>
          </a:p>
        </p:txBody>
      </p:sp>
      <p:sp>
        <p:nvSpPr>
          <p:cNvPr id="483" name="mon">
            <a:extLst>
              <a:ext uri="{FF2B5EF4-FFF2-40B4-BE49-F238E27FC236}">
                <a16:creationId xmlns:a16="http://schemas.microsoft.com/office/drawing/2014/main" id="{8556343B-6E71-4F1E-A355-7971A6F5EE8B}"/>
              </a:ext>
            </a:extLst>
          </p:cNvPr>
          <p:cNvSpPr>
            <a:spLocks noGrp="1"/>
          </p:cNvSpPr>
          <p:nvPr/>
        </p:nvSpPr>
        <p:spPr>
          <a:xfrm>
            <a:off x="4338828" y="4370832"/>
            <a:ext cx="3520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4" name="mon-dot">
            <a:extLst>
              <a:ext uri="{FF2B5EF4-FFF2-40B4-BE49-F238E27FC236}">
                <a16:creationId xmlns:a16="http://schemas.microsoft.com/office/drawing/2014/main" id="{69773D06-634A-4674-A853-2C8E2C6D73BA}"/>
              </a:ext>
            </a:extLst>
          </p:cNvPr>
          <p:cNvSpPr>
            <a:spLocks noGrp="1"/>
          </p:cNvSpPr>
          <p:nvPr/>
        </p:nvSpPr>
        <p:spPr>
          <a:xfrm>
            <a:off x="4521708" y="4517136"/>
            <a:ext cx="128016" cy="128016"/>
          </a:xfrm>
          <a:prstGeom prst="ellipse">
            <a:avLst/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5" name="mon-t">
            <a:extLst>
              <a:ext uri="{FF2B5EF4-FFF2-40B4-BE49-F238E27FC236}">
                <a16:creationId xmlns:a16="http://schemas.microsoft.com/office/drawing/2014/main" id="{D510C274-C81E-48C7-8782-54E52C7547BD}"/>
              </a:ext>
            </a:extLst>
          </p:cNvPr>
          <p:cNvSpPr>
            <a:spLocks noGrp="1"/>
          </p:cNvSpPr>
          <p:nvPr/>
        </p:nvSpPr>
        <p:spPr>
          <a:xfrm>
            <a:off x="4722876" y="4425696"/>
            <a:ext cx="30175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50" b="1">
                <a:solidFill>
                  <a:srgbClr val="111318"/>
                </a:solidFill>
              </a:defRPr>
            </a:pPr>
            <a:r>
              <a:rPr lang="en-US" sz="1250" b="1">
                <a:solidFill>
                  <a:srgbClr val="111318"/>
                </a:solidFill>
              </a:rPr>
              <a:t>Unowned</a:t>
            </a:r>
          </a:p>
        </p:txBody>
      </p:sp>
      <p:sp>
        <p:nvSpPr>
          <p:cNvPr id="486" name="mon-d">
            <a:extLst>
              <a:ext uri="{FF2B5EF4-FFF2-40B4-BE49-F238E27FC236}">
                <a16:creationId xmlns:a16="http://schemas.microsoft.com/office/drawing/2014/main" id="{8CB85C9B-89D6-4A1B-80C3-DED953CA7C31}"/>
              </a:ext>
            </a:extLst>
          </p:cNvPr>
          <p:cNvSpPr>
            <a:spLocks noGrp="1"/>
          </p:cNvSpPr>
          <p:nvPr/>
        </p:nvSpPr>
        <p:spPr>
          <a:xfrm>
            <a:off x="4521708" y="4718304"/>
            <a:ext cx="320040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A critical certificate or domain with nobody accountable</a:t>
            </a:r>
          </a:p>
        </p:txBody>
      </p:sp>
      <p:sp>
        <p:nvSpPr>
          <p:cNvPr id="487" name="mon">
            <a:extLst>
              <a:ext uri="{FF2B5EF4-FFF2-40B4-BE49-F238E27FC236}">
                <a16:creationId xmlns:a16="http://schemas.microsoft.com/office/drawing/2014/main" id="{FFB253AE-9F0E-46D1-9020-0BE12C14C3B2}"/>
              </a:ext>
            </a:extLst>
          </p:cNvPr>
          <p:cNvSpPr>
            <a:spLocks noGrp="1"/>
          </p:cNvSpPr>
          <p:nvPr/>
        </p:nvSpPr>
        <p:spPr>
          <a:xfrm>
            <a:off x="8065008" y="4370832"/>
            <a:ext cx="35204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8" name="mon-dot">
            <a:extLst>
              <a:ext uri="{FF2B5EF4-FFF2-40B4-BE49-F238E27FC236}">
                <a16:creationId xmlns:a16="http://schemas.microsoft.com/office/drawing/2014/main" id="{BC52892C-81A7-45FC-AAD4-636B88E17336}"/>
              </a:ext>
            </a:extLst>
          </p:cNvPr>
          <p:cNvSpPr>
            <a:spLocks noGrp="1"/>
          </p:cNvSpPr>
          <p:nvPr/>
        </p:nvSpPr>
        <p:spPr>
          <a:xfrm>
            <a:off x="8247888" y="4517136"/>
            <a:ext cx="128016" cy="128016"/>
          </a:xfrm>
          <a:prstGeom prst="ellipse">
            <a:avLst/>
          </a:prstGeom>
          <a:solidFill>
            <a:srgbClr val="5E667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9" name="mon-t">
            <a:extLst>
              <a:ext uri="{FF2B5EF4-FFF2-40B4-BE49-F238E27FC236}">
                <a16:creationId xmlns:a16="http://schemas.microsoft.com/office/drawing/2014/main" id="{801A77B8-EC7F-498E-AF33-CC50EC5D3843}"/>
              </a:ext>
            </a:extLst>
          </p:cNvPr>
          <p:cNvSpPr>
            <a:spLocks noGrp="1"/>
          </p:cNvSpPr>
          <p:nvPr/>
        </p:nvSpPr>
        <p:spPr>
          <a:xfrm>
            <a:off x="8449056" y="4425696"/>
            <a:ext cx="30175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50" b="1">
                <a:solidFill>
                  <a:srgbClr val="111318"/>
                </a:solidFill>
              </a:defRPr>
            </a:pPr>
            <a:r>
              <a:rPr lang="en-US" sz="1250" b="1">
                <a:solidFill>
                  <a:srgbClr val="111318"/>
                </a:solidFill>
              </a:rPr>
              <a:t>Stale inventory</a:t>
            </a:r>
          </a:p>
        </p:txBody>
      </p:sp>
      <p:sp>
        <p:nvSpPr>
          <p:cNvPr id="490" name="mon-d">
            <a:extLst>
              <a:ext uri="{FF2B5EF4-FFF2-40B4-BE49-F238E27FC236}">
                <a16:creationId xmlns:a16="http://schemas.microsoft.com/office/drawing/2014/main" id="{04124AF0-CDA4-4EC1-B0FD-7F1BE58E31A8}"/>
              </a:ext>
            </a:extLst>
          </p:cNvPr>
          <p:cNvSpPr>
            <a:spLocks noGrp="1"/>
          </p:cNvSpPr>
          <p:nvPr/>
        </p:nvSpPr>
        <p:spPr>
          <a:xfrm>
            <a:off x="8247888" y="4718304"/>
            <a:ext cx="320040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00" b="0">
                <a:solidFill>
                  <a:srgbClr val="5E6672"/>
                </a:solidFill>
              </a:defRPr>
            </a:pPr>
            <a:r>
              <a:rPr lang="en-US" sz="1000" b="0">
                <a:solidFill>
                  <a:srgbClr val="5E6672"/>
                </a:solidFill>
              </a:rPr>
              <a:t>No certificate scan or registrar export loaded for more than a week</a:t>
            </a:r>
          </a:p>
        </p:txBody>
      </p:sp>
      <p:sp>
        <p:nvSpPr>
          <p:cNvPr id="491" name="lvl-label">
            <a:extLst>
              <a:ext uri="{FF2B5EF4-FFF2-40B4-BE49-F238E27FC236}">
                <a16:creationId xmlns:a16="http://schemas.microsoft.com/office/drawing/2014/main" id="{B78D8CE1-0BE3-44C9-96A2-5B8A2544ADC0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2F80ED"/>
                </a:solidFill>
              </a:defRPr>
            </a:pPr>
            <a:r>
              <a:rPr lang="en-US" sz="900" b="1">
                <a:solidFill>
                  <a:srgbClr val="2F80ED"/>
                </a:solidFill>
              </a:rPr>
              <a:t>Reaches Level 4 · Measured</a:t>
            </a:r>
          </a:p>
        </p:txBody>
      </p:sp>
      <p:sp>
        <p:nvSpPr>
          <p:cNvPr id="492" name="lvl-block">
            <a:extLst>
              <a:ext uri="{FF2B5EF4-FFF2-40B4-BE49-F238E27FC236}">
                <a16:creationId xmlns:a16="http://schemas.microsoft.com/office/drawing/2014/main" id="{1AD1FC6E-60CF-47B6-A2F8-52B637CD7905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3" name="lvl-block">
            <a:extLst>
              <a:ext uri="{FF2B5EF4-FFF2-40B4-BE49-F238E27FC236}">
                <a16:creationId xmlns:a16="http://schemas.microsoft.com/office/drawing/2014/main" id="{A8DDEA08-7829-44F2-807D-3808EBBF4A6B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lvl-block">
            <a:extLst>
              <a:ext uri="{FF2B5EF4-FFF2-40B4-BE49-F238E27FC236}">
                <a16:creationId xmlns:a16="http://schemas.microsoft.com/office/drawing/2014/main" id="{88BF0F12-EB37-4BA4-A0D3-C38AA03BC879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lvl-block">
            <a:extLst>
              <a:ext uri="{FF2B5EF4-FFF2-40B4-BE49-F238E27FC236}">
                <a16:creationId xmlns:a16="http://schemas.microsoft.com/office/drawing/2014/main" id="{085F3BD9-65F0-4865-9F25-B8EBE74D1F0C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6" name="lvl-block">
            <a:extLst>
              <a:ext uri="{FF2B5EF4-FFF2-40B4-BE49-F238E27FC236}">
                <a16:creationId xmlns:a16="http://schemas.microsoft.com/office/drawing/2014/main" id="{7D4D128D-26C2-4B6C-A381-A8DA19650D8A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7" name="callout">
            <a:extLst>
              <a:ext uri="{FF2B5EF4-FFF2-40B4-BE49-F238E27FC236}">
                <a16:creationId xmlns:a16="http://schemas.microsoft.com/office/drawing/2014/main" id="{834D86C1-9799-4ADC-AA05-152A5F263396}"/>
              </a:ext>
            </a:extLst>
          </p:cNvPr>
          <p:cNvSpPr>
            <a:spLocks noGrp="1"/>
          </p:cNvSpPr>
          <p:nvPr/>
        </p:nvSpPr>
        <p:spPr>
          <a:xfrm>
            <a:off x="612648" y="5394960"/>
            <a:ext cx="10972800" cy="685800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8" name="callout-text">
            <a:extLst>
              <a:ext uri="{FF2B5EF4-FFF2-40B4-BE49-F238E27FC236}">
                <a16:creationId xmlns:a16="http://schemas.microsoft.com/office/drawing/2014/main" id="{F81DF41D-B739-491A-9AA6-4256BDC9FEED}"/>
              </a:ext>
            </a:extLst>
          </p:cNvPr>
          <p:cNvSpPr>
            <a:spLocks noGrp="1"/>
          </p:cNvSpPr>
          <p:nvPr/>
        </p:nvSpPr>
        <p:spPr>
          <a:xfrm>
            <a:off x="795528" y="5468112"/>
            <a:ext cx="10607040" cy="5394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en-US" sz="1300" b="1">
                <a:solidFill>
                  <a:srgbClr val="FFFFFF"/>
                </a:solidFill>
              </a:rPr>
              <a:t>“Renewal succeeded” is only ever sent after DCops has checked the live site. Datadog carries the message; DCops supplies the proof.</a:t>
            </a:r>
          </a:p>
        </p:txBody>
      </p:sp>
    </p:spTree>
    <p:extLst>
      <p:ext uri="{BB962C8B-B14F-4D97-AF65-F5344CB8AC3E}">
        <p14:creationId xmlns:p14="http://schemas.microsoft.com/office/powerpoint/2010/main" val="79725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kicker">
            <a:extLst>
              <a:ext uri="{FF2B5EF4-FFF2-40B4-BE49-F238E27FC236}">
                <a16:creationId xmlns:a16="http://schemas.microsoft.com/office/drawing/2014/main" id="{DA303062-FC7E-4B7C-BE04-89575C47C090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WHAT LEADERSHIP WILL SEE</a:t>
            </a:r>
          </a:p>
        </p:txBody>
      </p:sp>
      <p:sp>
        <p:nvSpPr>
          <p:cNvPr id="500" name="title">
            <a:extLst>
              <a:ext uri="{FF2B5EF4-FFF2-40B4-BE49-F238E27FC236}">
                <a16:creationId xmlns:a16="http://schemas.microsoft.com/office/drawing/2014/main" id="{2A21CC07-75E0-4779-BB29-4643250511BC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Five numbers that tell you whether the estate is getting safer</a:t>
            </a:r>
          </a:p>
        </p:txBody>
      </p:sp>
      <p:sp>
        <p:nvSpPr>
          <p:cNvPr id="501" name="rule">
            <a:extLst>
              <a:ext uri="{FF2B5EF4-FFF2-40B4-BE49-F238E27FC236}">
                <a16:creationId xmlns:a16="http://schemas.microsoft.com/office/drawing/2014/main" id="{2FC1DDBF-5F6A-43EB-A126-18840387CAB6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page">
            <a:extLst>
              <a:ext uri="{FF2B5EF4-FFF2-40B4-BE49-F238E27FC236}">
                <a16:creationId xmlns:a16="http://schemas.microsoft.com/office/drawing/2014/main" id="{A9C3EDA0-1BC0-443A-B393-5EEE21D2959E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13</a:t>
            </a:r>
          </a:p>
        </p:txBody>
      </p:sp>
      <p:sp>
        <p:nvSpPr>
          <p:cNvPr id="503" name="footer">
            <a:extLst>
              <a:ext uri="{FF2B5EF4-FFF2-40B4-BE49-F238E27FC236}">
                <a16:creationId xmlns:a16="http://schemas.microsoft.com/office/drawing/2014/main" id="{600BC89D-0212-4031-AA11-6F549509CCF8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504" name="kpi">
            <a:extLst>
              <a:ext uri="{FF2B5EF4-FFF2-40B4-BE49-F238E27FC236}">
                <a16:creationId xmlns:a16="http://schemas.microsoft.com/office/drawing/2014/main" id="{AA4F3BF4-A82C-4AA6-8727-3646E7B626BC}"/>
              </a:ext>
            </a:extLst>
          </p:cNvPr>
          <p:cNvSpPr>
            <a:spLocks noGrp="1"/>
          </p:cNvSpPr>
          <p:nvPr/>
        </p:nvSpPr>
        <p:spPr>
          <a:xfrm>
            <a:off x="612648" y="1554480"/>
            <a:ext cx="208483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5" name="kpi-h">
            <a:extLst>
              <a:ext uri="{FF2B5EF4-FFF2-40B4-BE49-F238E27FC236}">
                <a16:creationId xmlns:a16="http://schemas.microsoft.com/office/drawing/2014/main" id="{8991A29E-1C74-423E-84D5-D1B11A8E5C44}"/>
              </a:ext>
            </a:extLst>
          </p:cNvPr>
          <p:cNvSpPr>
            <a:spLocks noGrp="1"/>
          </p:cNvSpPr>
          <p:nvPr/>
        </p:nvSpPr>
        <p:spPr>
          <a:xfrm>
            <a:off x="749808" y="1645920"/>
            <a:ext cx="181051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1">
                <a:solidFill>
                  <a:srgbClr val="5E6672"/>
                </a:solidFill>
              </a:defRPr>
            </a:pPr>
            <a:r>
              <a:rPr lang="en-US" sz="1100" b="1">
                <a:solidFill>
                  <a:srgbClr val="5E6672"/>
                </a:solidFill>
              </a:rPr>
              <a:t>Owner coverage · target</a:t>
            </a:r>
          </a:p>
        </p:txBody>
      </p:sp>
      <p:sp>
        <p:nvSpPr>
          <p:cNvPr id="506" name="kpi-v">
            <a:extLst>
              <a:ext uri="{FF2B5EF4-FFF2-40B4-BE49-F238E27FC236}">
                <a16:creationId xmlns:a16="http://schemas.microsoft.com/office/drawing/2014/main" id="{DB5D9D53-BB5C-43F2-9605-1548FCE9CFF4}"/>
              </a:ext>
            </a:extLst>
          </p:cNvPr>
          <p:cNvSpPr>
            <a:spLocks noGrp="1"/>
          </p:cNvSpPr>
          <p:nvPr/>
        </p:nvSpPr>
        <p:spPr>
          <a:xfrm>
            <a:off x="749808" y="2084832"/>
            <a:ext cx="181051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400" b="1">
                <a:solidFill>
                  <a:srgbClr val="D94A4A"/>
                </a:solidFill>
              </a:defRPr>
            </a:pPr>
            <a:r>
              <a:rPr lang="en-US" sz="3400" b="1">
                <a:solidFill>
                  <a:srgbClr val="D94A4A"/>
                </a:solidFill>
              </a:rPr>
              <a:t>100%</a:t>
            </a:r>
          </a:p>
        </p:txBody>
      </p:sp>
      <p:sp>
        <p:nvSpPr>
          <p:cNvPr id="507" name="kpi-d">
            <a:extLst>
              <a:ext uri="{FF2B5EF4-FFF2-40B4-BE49-F238E27FC236}">
                <a16:creationId xmlns:a16="http://schemas.microsoft.com/office/drawing/2014/main" id="{32E8590F-B212-4B26-B6E4-DB658DAFE2ED}"/>
              </a:ext>
            </a:extLst>
          </p:cNvPr>
          <p:cNvSpPr>
            <a:spLocks noGrp="1"/>
          </p:cNvSpPr>
          <p:nvPr/>
        </p:nvSpPr>
        <p:spPr>
          <a:xfrm>
            <a:off x="749808" y="2788920"/>
            <a:ext cx="1810512" cy="868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111318"/>
                </a:solidFill>
              </a:defRPr>
            </a:pPr>
            <a:r>
              <a:rPr lang="en-US" sz="1050" b="0">
                <a:solidFill>
                  <a:srgbClr val="111318"/>
                </a:solidFill>
              </a:rPr>
              <a:t>of critical certificates and domains with a named, accountable owner</a:t>
            </a:r>
          </a:p>
        </p:txBody>
      </p:sp>
      <p:sp>
        <p:nvSpPr>
          <p:cNvPr id="508" name="kpi-f">
            <a:extLst>
              <a:ext uri="{FF2B5EF4-FFF2-40B4-BE49-F238E27FC236}">
                <a16:creationId xmlns:a16="http://schemas.microsoft.com/office/drawing/2014/main" id="{669DF7A9-EB0D-42E2-AC1E-2CA4044A6109}"/>
              </a:ext>
            </a:extLst>
          </p:cNvPr>
          <p:cNvSpPr>
            <a:spLocks noGrp="1"/>
          </p:cNvSpPr>
          <p:nvPr/>
        </p:nvSpPr>
        <p:spPr>
          <a:xfrm>
            <a:off x="749808" y="3703320"/>
            <a:ext cx="181051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950" b="1">
                <a:solidFill>
                  <a:srgbClr val="5E6672"/>
                </a:solidFill>
              </a:defRPr>
            </a:pPr>
            <a:r>
              <a:rPr lang="en-US" sz="950" b="1">
                <a:solidFill>
                  <a:srgbClr val="5E6672"/>
                </a:solidFill>
              </a:rPr>
              <a:t>Today: 47% of certificates</a:t>
            </a:r>
          </a:p>
        </p:txBody>
      </p:sp>
      <p:sp>
        <p:nvSpPr>
          <p:cNvPr id="509" name="kpi">
            <a:extLst>
              <a:ext uri="{FF2B5EF4-FFF2-40B4-BE49-F238E27FC236}">
                <a16:creationId xmlns:a16="http://schemas.microsoft.com/office/drawing/2014/main" id="{A6E5E50B-87E7-4921-AD96-6FFF439FAAB8}"/>
              </a:ext>
            </a:extLst>
          </p:cNvPr>
          <p:cNvSpPr>
            <a:spLocks noGrp="1"/>
          </p:cNvSpPr>
          <p:nvPr/>
        </p:nvSpPr>
        <p:spPr>
          <a:xfrm>
            <a:off x="2834640" y="1554480"/>
            <a:ext cx="208483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0" name="kpi-h">
            <a:extLst>
              <a:ext uri="{FF2B5EF4-FFF2-40B4-BE49-F238E27FC236}">
                <a16:creationId xmlns:a16="http://schemas.microsoft.com/office/drawing/2014/main" id="{9FEB9089-9EBC-4E6E-9266-929AEB6CD44A}"/>
              </a:ext>
            </a:extLst>
          </p:cNvPr>
          <p:cNvSpPr>
            <a:spLocks noGrp="1"/>
          </p:cNvSpPr>
          <p:nvPr/>
        </p:nvSpPr>
        <p:spPr>
          <a:xfrm>
            <a:off x="2971800" y="1645920"/>
            <a:ext cx="181051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1">
                <a:solidFill>
                  <a:srgbClr val="5E6672"/>
                </a:solidFill>
              </a:defRPr>
            </a:pPr>
            <a:r>
              <a:rPr lang="en-US" sz="1100" b="1">
                <a:solidFill>
                  <a:srgbClr val="5E6672"/>
                </a:solidFill>
              </a:rPr>
              <a:t>Renewal headroom · target</a:t>
            </a:r>
          </a:p>
        </p:txBody>
      </p:sp>
      <p:sp>
        <p:nvSpPr>
          <p:cNvPr id="511" name="kpi-v">
            <a:extLst>
              <a:ext uri="{FF2B5EF4-FFF2-40B4-BE49-F238E27FC236}">
                <a16:creationId xmlns:a16="http://schemas.microsoft.com/office/drawing/2014/main" id="{F6AB5484-0F95-46F1-9BB8-1BB94AB78605}"/>
              </a:ext>
            </a:extLst>
          </p:cNvPr>
          <p:cNvSpPr>
            <a:spLocks noGrp="1"/>
          </p:cNvSpPr>
          <p:nvPr/>
        </p:nvSpPr>
        <p:spPr>
          <a:xfrm>
            <a:off x="2971800" y="2084832"/>
            <a:ext cx="181051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400" b="1">
                <a:solidFill>
                  <a:srgbClr val="E6A23C"/>
                </a:solidFill>
              </a:defRPr>
            </a:pPr>
            <a:r>
              <a:rPr lang="en-US" sz="3400" b="1">
                <a:solidFill>
                  <a:srgbClr val="E6A23C"/>
                </a:solidFill>
              </a:rPr>
              <a:t>100%</a:t>
            </a:r>
          </a:p>
        </p:txBody>
      </p:sp>
      <p:sp>
        <p:nvSpPr>
          <p:cNvPr id="512" name="kpi-d">
            <a:extLst>
              <a:ext uri="{FF2B5EF4-FFF2-40B4-BE49-F238E27FC236}">
                <a16:creationId xmlns:a16="http://schemas.microsoft.com/office/drawing/2014/main" id="{0B075778-0C61-4AFB-9D4A-5DABF64CBF16}"/>
              </a:ext>
            </a:extLst>
          </p:cNvPr>
          <p:cNvSpPr>
            <a:spLocks noGrp="1"/>
          </p:cNvSpPr>
          <p:nvPr/>
        </p:nvSpPr>
        <p:spPr>
          <a:xfrm>
            <a:off x="2971800" y="2788920"/>
            <a:ext cx="1810512" cy="868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111318"/>
                </a:solidFill>
              </a:defRPr>
            </a:pPr>
            <a:r>
              <a:rPr lang="en-US" sz="1050" b="0">
                <a:solidFill>
                  <a:srgbClr val="111318"/>
                </a:solidFill>
              </a:rPr>
              <a:t>of production certificates with more than 30 days left</a:t>
            </a:r>
          </a:p>
        </p:txBody>
      </p:sp>
      <p:sp>
        <p:nvSpPr>
          <p:cNvPr id="513" name="kpi-f">
            <a:extLst>
              <a:ext uri="{FF2B5EF4-FFF2-40B4-BE49-F238E27FC236}">
                <a16:creationId xmlns:a16="http://schemas.microsoft.com/office/drawing/2014/main" id="{34A769EA-2DA3-4DFE-80B0-96660106C32F}"/>
              </a:ext>
            </a:extLst>
          </p:cNvPr>
          <p:cNvSpPr>
            <a:spLocks noGrp="1"/>
          </p:cNvSpPr>
          <p:nvPr/>
        </p:nvSpPr>
        <p:spPr>
          <a:xfrm>
            <a:off x="2971800" y="3703320"/>
            <a:ext cx="181051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950" b="1">
                <a:solidFill>
                  <a:srgbClr val="5E6672"/>
                </a:solidFill>
              </a:defRPr>
            </a:pPr>
            <a:r>
              <a:rPr lang="en-US" sz="950" b="1">
                <a:solidFill>
                  <a:srgbClr val="5E6672"/>
                </a:solidFill>
              </a:rPr>
              <a:t>The Level 4 service objective</a:t>
            </a:r>
          </a:p>
        </p:txBody>
      </p:sp>
      <p:sp>
        <p:nvSpPr>
          <p:cNvPr id="514" name="kpi">
            <a:extLst>
              <a:ext uri="{FF2B5EF4-FFF2-40B4-BE49-F238E27FC236}">
                <a16:creationId xmlns:a16="http://schemas.microsoft.com/office/drawing/2014/main" id="{ACB7B476-598D-48EB-9654-BB32BB732F61}"/>
              </a:ext>
            </a:extLst>
          </p:cNvPr>
          <p:cNvSpPr>
            <a:spLocks noGrp="1"/>
          </p:cNvSpPr>
          <p:nvPr/>
        </p:nvSpPr>
        <p:spPr>
          <a:xfrm>
            <a:off x="5056632" y="1554480"/>
            <a:ext cx="208483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5" name="kpi-h">
            <a:extLst>
              <a:ext uri="{FF2B5EF4-FFF2-40B4-BE49-F238E27FC236}">
                <a16:creationId xmlns:a16="http://schemas.microsoft.com/office/drawing/2014/main" id="{A903B843-553A-41A8-BD6A-9D8771DBB6E1}"/>
              </a:ext>
            </a:extLst>
          </p:cNvPr>
          <p:cNvSpPr>
            <a:spLocks noGrp="1"/>
          </p:cNvSpPr>
          <p:nvPr/>
        </p:nvSpPr>
        <p:spPr>
          <a:xfrm>
            <a:off x="5193792" y="1645920"/>
            <a:ext cx="181051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1">
                <a:solidFill>
                  <a:srgbClr val="5E6672"/>
                </a:solidFill>
              </a:defRPr>
            </a:pPr>
            <a:r>
              <a:rPr lang="en-US" sz="1100" b="1">
                <a:solidFill>
                  <a:srgbClr val="5E6672"/>
                </a:solidFill>
              </a:rPr>
              <a:t>Registration headroom · target</a:t>
            </a:r>
          </a:p>
        </p:txBody>
      </p:sp>
      <p:sp>
        <p:nvSpPr>
          <p:cNvPr id="516" name="kpi-v">
            <a:extLst>
              <a:ext uri="{FF2B5EF4-FFF2-40B4-BE49-F238E27FC236}">
                <a16:creationId xmlns:a16="http://schemas.microsoft.com/office/drawing/2014/main" id="{2541CAE5-397D-4D96-930D-58FC7E727258}"/>
              </a:ext>
            </a:extLst>
          </p:cNvPr>
          <p:cNvSpPr>
            <a:spLocks noGrp="1"/>
          </p:cNvSpPr>
          <p:nvPr/>
        </p:nvSpPr>
        <p:spPr>
          <a:xfrm>
            <a:off x="5193792" y="2084832"/>
            <a:ext cx="181051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400" b="1">
                <a:solidFill>
                  <a:srgbClr val="E6A23C"/>
                </a:solidFill>
              </a:defRPr>
            </a:pPr>
            <a:r>
              <a:rPr lang="en-US" sz="3400" b="1">
                <a:solidFill>
                  <a:srgbClr val="E6A23C"/>
                </a:solidFill>
              </a:rPr>
              <a:t>100%</a:t>
            </a:r>
          </a:p>
        </p:txBody>
      </p:sp>
      <p:sp>
        <p:nvSpPr>
          <p:cNvPr id="517" name="kpi-d">
            <a:extLst>
              <a:ext uri="{FF2B5EF4-FFF2-40B4-BE49-F238E27FC236}">
                <a16:creationId xmlns:a16="http://schemas.microsoft.com/office/drawing/2014/main" id="{EE4017DC-6F70-463D-8E3E-C4BD42CD86FA}"/>
              </a:ext>
            </a:extLst>
          </p:cNvPr>
          <p:cNvSpPr>
            <a:spLocks noGrp="1"/>
          </p:cNvSpPr>
          <p:nvPr/>
        </p:nvSpPr>
        <p:spPr>
          <a:xfrm>
            <a:off x="5193792" y="2788920"/>
            <a:ext cx="1810512" cy="868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111318"/>
                </a:solidFill>
              </a:defRPr>
            </a:pPr>
            <a:r>
              <a:rPr lang="en-US" sz="1050" b="0">
                <a:solidFill>
                  <a:srgbClr val="111318"/>
                </a:solidFill>
              </a:rPr>
              <a:t>of critical domains with more than 90 days before renewal</a:t>
            </a:r>
          </a:p>
        </p:txBody>
      </p:sp>
      <p:sp>
        <p:nvSpPr>
          <p:cNvPr id="518" name="kpi-f">
            <a:extLst>
              <a:ext uri="{FF2B5EF4-FFF2-40B4-BE49-F238E27FC236}">
                <a16:creationId xmlns:a16="http://schemas.microsoft.com/office/drawing/2014/main" id="{3F3FC7D7-9325-40C3-94EA-6846BF48C1BE}"/>
              </a:ext>
            </a:extLst>
          </p:cNvPr>
          <p:cNvSpPr>
            <a:spLocks noGrp="1"/>
          </p:cNvSpPr>
          <p:nvPr/>
        </p:nvSpPr>
        <p:spPr>
          <a:xfrm>
            <a:off x="5193792" y="3703320"/>
            <a:ext cx="181051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950" b="1">
                <a:solidFill>
                  <a:srgbClr val="5E6672"/>
                </a:solidFill>
              </a:defRPr>
            </a:pPr>
            <a:r>
              <a:rPr lang="en-US" sz="950" b="1">
                <a:solidFill>
                  <a:srgbClr val="5E6672"/>
                </a:solidFill>
              </a:rPr>
              <a:t>Illustrative until the export is loaded</a:t>
            </a:r>
          </a:p>
        </p:txBody>
      </p:sp>
      <p:sp>
        <p:nvSpPr>
          <p:cNvPr id="519" name="kpi">
            <a:extLst>
              <a:ext uri="{FF2B5EF4-FFF2-40B4-BE49-F238E27FC236}">
                <a16:creationId xmlns:a16="http://schemas.microsoft.com/office/drawing/2014/main" id="{EA9337BD-4321-48F6-A83C-41FE95D99E9E}"/>
              </a:ext>
            </a:extLst>
          </p:cNvPr>
          <p:cNvSpPr>
            <a:spLocks noGrp="1"/>
          </p:cNvSpPr>
          <p:nvPr/>
        </p:nvSpPr>
        <p:spPr>
          <a:xfrm>
            <a:off x="7278624" y="1554480"/>
            <a:ext cx="208483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0" name="kpi-h">
            <a:extLst>
              <a:ext uri="{FF2B5EF4-FFF2-40B4-BE49-F238E27FC236}">
                <a16:creationId xmlns:a16="http://schemas.microsoft.com/office/drawing/2014/main" id="{1CD6E33D-418E-44C0-9761-745309C96CA2}"/>
              </a:ext>
            </a:extLst>
          </p:cNvPr>
          <p:cNvSpPr>
            <a:spLocks noGrp="1"/>
          </p:cNvSpPr>
          <p:nvPr/>
        </p:nvSpPr>
        <p:spPr>
          <a:xfrm>
            <a:off x="7415784" y="1645920"/>
            <a:ext cx="181051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1">
                <a:solidFill>
                  <a:srgbClr val="5E6672"/>
                </a:solidFill>
              </a:defRPr>
            </a:pPr>
            <a:r>
              <a:rPr lang="en-US" sz="1100" b="1">
                <a:solidFill>
                  <a:srgbClr val="5E6672"/>
                </a:solidFill>
              </a:rPr>
              <a:t>Automation coverage · trend</a:t>
            </a:r>
          </a:p>
        </p:txBody>
      </p:sp>
      <p:sp>
        <p:nvSpPr>
          <p:cNvPr id="521" name="kpi-v">
            <a:extLst>
              <a:ext uri="{FF2B5EF4-FFF2-40B4-BE49-F238E27FC236}">
                <a16:creationId xmlns:a16="http://schemas.microsoft.com/office/drawing/2014/main" id="{B14B8DCB-FDEB-40D4-95B6-364835D24AAD}"/>
              </a:ext>
            </a:extLst>
          </p:cNvPr>
          <p:cNvSpPr>
            <a:spLocks noGrp="1"/>
          </p:cNvSpPr>
          <p:nvPr/>
        </p:nvSpPr>
        <p:spPr>
          <a:xfrm>
            <a:off x="7415784" y="2084832"/>
            <a:ext cx="181051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400" b="1">
                <a:solidFill>
                  <a:srgbClr val="2F80ED"/>
                </a:solidFill>
              </a:defRPr>
            </a:pPr>
            <a:r>
              <a:rPr lang="en-US" sz="3400" b="1">
                <a:solidFill>
                  <a:srgbClr val="2F80ED"/>
                </a:solidFill>
              </a:rPr>
              <a:t>↑</a:t>
            </a:r>
          </a:p>
        </p:txBody>
      </p:sp>
      <p:sp>
        <p:nvSpPr>
          <p:cNvPr id="522" name="kpi-d">
            <a:extLst>
              <a:ext uri="{FF2B5EF4-FFF2-40B4-BE49-F238E27FC236}">
                <a16:creationId xmlns:a16="http://schemas.microsoft.com/office/drawing/2014/main" id="{1218AC88-8BCE-45C5-BB67-A0C048698224}"/>
              </a:ext>
            </a:extLst>
          </p:cNvPr>
          <p:cNvSpPr>
            <a:spLocks noGrp="1"/>
          </p:cNvSpPr>
          <p:nvPr/>
        </p:nvSpPr>
        <p:spPr>
          <a:xfrm>
            <a:off x="7415784" y="2788920"/>
            <a:ext cx="1810512" cy="868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111318"/>
                </a:solidFill>
              </a:defRPr>
            </a:pPr>
            <a:r>
              <a:rPr lang="en-US" sz="1050" b="0">
                <a:solidFill>
                  <a:srgbClr val="111318"/>
                </a:solidFill>
              </a:rPr>
              <a:t>share of certificates that renew without a person involved</a:t>
            </a:r>
          </a:p>
        </p:txBody>
      </p:sp>
      <p:sp>
        <p:nvSpPr>
          <p:cNvPr id="523" name="kpi-f">
            <a:extLst>
              <a:ext uri="{FF2B5EF4-FFF2-40B4-BE49-F238E27FC236}">
                <a16:creationId xmlns:a16="http://schemas.microsoft.com/office/drawing/2014/main" id="{E0848B26-C647-4670-A646-03EEDEE92C62}"/>
              </a:ext>
            </a:extLst>
          </p:cNvPr>
          <p:cNvSpPr>
            <a:spLocks noGrp="1"/>
          </p:cNvSpPr>
          <p:nvPr/>
        </p:nvSpPr>
        <p:spPr>
          <a:xfrm>
            <a:off x="7415784" y="3703320"/>
            <a:ext cx="181051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950" b="1">
                <a:solidFill>
                  <a:srgbClr val="5E6672"/>
                </a:solidFill>
              </a:defRPr>
            </a:pPr>
            <a:r>
              <a:rPr lang="en-US" sz="950" b="1">
                <a:solidFill>
                  <a:srgbClr val="5E6672"/>
                </a:solidFill>
              </a:rPr>
              <a:t>Today: about 77%, unverified</a:t>
            </a:r>
          </a:p>
        </p:txBody>
      </p:sp>
      <p:sp>
        <p:nvSpPr>
          <p:cNvPr id="524" name="kpi">
            <a:extLst>
              <a:ext uri="{FF2B5EF4-FFF2-40B4-BE49-F238E27FC236}">
                <a16:creationId xmlns:a16="http://schemas.microsoft.com/office/drawing/2014/main" id="{4D150F20-289A-4D4B-AF57-B24B733444BC}"/>
              </a:ext>
            </a:extLst>
          </p:cNvPr>
          <p:cNvSpPr>
            <a:spLocks noGrp="1"/>
          </p:cNvSpPr>
          <p:nvPr/>
        </p:nvSpPr>
        <p:spPr>
          <a:xfrm>
            <a:off x="9500616" y="1554480"/>
            <a:ext cx="208483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5" name="kpi-h">
            <a:extLst>
              <a:ext uri="{FF2B5EF4-FFF2-40B4-BE49-F238E27FC236}">
                <a16:creationId xmlns:a16="http://schemas.microsoft.com/office/drawing/2014/main" id="{7D92313C-A3CE-4935-860C-FD2C0A188784}"/>
              </a:ext>
            </a:extLst>
          </p:cNvPr>
          <p:cNvSpPr>
            <a:spLocks noGrp="1"/>
          </p:cNvSpPr>
          <p:nvPr/>
        </p:nvSpPr>
        <p:spPr>
          <a:xfrm>
            <a:off x="9637776" y="1645920"/>
            <a:ext cx="181051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1">
                <a:solidFill>
                  <a:srgbClr val="5E6672"/>
                </a:solidFill>
              </a:defRPr>
            </a:pPr>
            <a:r>
              <a:rPr lang="en-US" sz="1100" b="1">
                <a:solidFill>
                  <a:srgbClr val="5E6672"/>
                </a:solidFill>
              </a:rPr>
              <a:t>Time to rotate · trend</a:t>
            </a:r>
          </a:p>
        </p:txBody>
      </p:sp>
      <p:sp>
        <p:nvSpPr>
          <p:cNvPr id="526" name="kpi-v">
            <a:extLst>
              <a:ext uri="{FF2B5EF4-FFF2-40B4-BE49-F238E27FC236}">
                <a16:creationId xmlns:a16="http://schemas.microsoft.com/office/drawing/2014/main" id="{1F31EC9A-1476-4ABC-9F1C-03EC48CA9099}"/>
              </a:ext>
            </a:extLst>
          </p:cNvPr>
          <p:cNvSpPr>
            <a:spLocks noGrp="1"/>
          </p:cNvSpPr>
          <p:nvPr/>
        </p:nvSpPr>
        <p:spPr>
          <a:xfrm>
            <a:off x="9637776" y="2084832"/>
            <a:ext cx="1810512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3400" b="1">
                <a:solidFill>
                  <a:srgbClr val="2FA36B"/>
                </a:solidFill>
              </a:defRPr>
            </a:pPr>
            <a:r>
              <a:rPr lang="en-US" sz="3400" b="1">
                <a:solidFill>
                  <a:srgbClr val="2FA36B"/>
                </a:solidFill>
              </a:rPr>
              <a:t>↓</a:t>
            </a:r>
          </a:p>
        </p:txBody>
      </p:sp>
      <p:sp>
        <p:nvSpPr>
          <p:cNvPr id="527" name="kpi-d">
            <a:extLst>
              <a:ext uri="{FF2B5EF4-FFF2-40B4-BE49-F238E27FC236}">
                <a16:creationId xmlns:a16="http://schemas.microsoft.com/office/drawing/2014/main" id="{3ADCF77F-C6B2-4871-BDF2-94255C212288}"/>
              </a:ext>
            </a:extLst>
          </p:cNvPr>
          <p:cNvSpPr>
            <a:spLocks noGrp="1"/>
          </p:cNvSpPr>
          <p:nvPr/>
        </p:nvSpPr>
        <p:spPr>
          <a:xfrm>
            <a:off x="9637776" y="2788920"/>
            <a:ext cx="1810512" cy="868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111318"/>
                </a:solidFill>
              </a:defRPr>
            </a:pPr>
            <a:r>
              <a:rPr lang="en-US" sz="1050" b="0">
                <a:solidFill>
                  <a:srgbClr val="111318"/>
                </a:solidFill>
              </a:rPr>
              <a:t>hours from alert to a verified new certificate on the live site</a:t>
            </a:r>
          </a:p>
        </p:txBody>
      </p:sp>
      <p:sp>
        <p:nvSpPr>
          <p:cNvPr id="528" name="kpi-f">
            <a:extLst>
              <a:ext uri="{FF2B5EF4-FFF2-40B4-BE49-F238E27FC236}">
                <a16:creationId xmlns:a16="http://schemas.microsoft.com/office/drawing/2014/main" id="{36A4BE13-CEDA-453E-BE13-01128AE61277}"/>
              </a:ext>
            </a:extLst>
          </p:cNvPr>
          <p:cNvSpPr>
            <a:spLocks noGrp="1"/>
          </p:cNvSpPr>
          <p:nvPr/>
        </p:nvSpPr>
        <p:spPr>
          <a:xfrm>
            <a:off x="9637776" y="3703320"/>
            <a:ext cx="181051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950" b="1">
                <a:solidFill>
                  <a:srgbClr val="5E6672"/>
                </a:solidFill>
              </a:defRPr>
            </a:pPr>
            <a:r>
              <a:rPr lang="en-US" sz="950" b="1">
                <a:solidFill>
                  <a:srgbClr val="5E6672"/>
                </a:solidFill>
              </a:rPr>
              <a:t>Justifies each automation step</a:t>
            </a:r>
          </a:p>
        </p:txBody>
      </p:sp>
      <p:sp>
        <p:nvSpPr>
          <p:cNvPr id="529" name="lvl-label">
            <a:extLst>
              <a:ext uri="{FF2B5EF4-FFF2-40B4-BE49-F238E27FC236}">
                <a16:creationId xmlns:a16="http://schemas.microsoft.com/office/drawing/2014/main" id="{B080BBF9-1F10-4A23-88EB-B6AE3A5DD891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2F80ED"/>
                </a:solidFill>
              </a:defRPr>
            </a:pPr>
            <a:r>
              <a:rPr lang="en-US" sz="900" b="1">
                <a:solidFill>
                  <a:srgbClr val="2F80ED"/>
                </a:solidFill>
              </a:rPr>
              <a:t>Reaches Level 4 · Measured</a:t>
            </a:r>
          </a:p>
        </p:txBody>
      </p:sp>
      <p:sp>
        <p:nvSpPr>
          <p:cNvPr id="530" name="lvl-block">
            <a:extLst>
              <a:ext uri="{FF2B5EF4-FFF2-40B4-BE49-F238E27FC236}">
                <a16:creationId xmlns:a16="http://schemas.microsoft.com/office/drawing/2014/main" id="{0D69D2A8-9927-4C20-9ABA-42F06E8930B8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1" name="lvl-block">
            <a:extLst>
              <a:ext uri="{FF2B5EF4-FFF2-40B4-BE49-F238E27FC236}">
                <a16:creationId xmlns:a16="http://schemas.microsoft.com/office/drawing/2014/main" id="{A577753D-66BC-4D99-AE63-FDD25A4C9ECB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2" name="lvl-block">
            <a:extLst>
              <a:ext uri="{FF2B5EF4-FFF2-40B4-BE49-F238E27FC236}">
                <a16:creationId xmlns:a16="http://schemas.microsoft.com/office/drawing/2014/main" id="{42A7DD13-4129-42FC-ACDC-F4EEE6158E05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3" name="lvl-block">
            <a:extLst>
              <a:ext uri="{FF2B5EF4-FFF2-40B4-BE49-F238E27FC236}">
                <a16:creationId xmlns:a16="http://schemas.microsoft.com/office/drawing/2014/main" id="{D257F96B-8191-44B7-9261-AA51C2DE4220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4" name="lvl-block">
            <a:extLst>
              <a:ext uri="{FF2B5EF4-FFF2-40B4-BE49-F238E27FC236}">
                <a16:creationId xmlns:a16="http://schemas.microsoft.com/office/drawing/2014/main" id="{EB9D300B-8D14-4294-BE3F-AE034553C66C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5" name="dist-h">
            <a:extLst>
              <a:ext uri="{FF2B5EF4-FFF2-40B4-BE49-F238E27FC236}">
                <a16:creationId xmlns:a16="http://schemas.microsoft.com/office/drawing/2014/main" id="{A6BEF4AB-5930-4E65-B33C-9F247FE3D5D2}"/>
              </a:ext>
            </a:extLst>
          </p:cNvPr>
          <p:cNvSpPr>
            <a:spLocks noGrp="1"/>
          </p:cNvSpPr>
          <p:nvPr/>
        </p:nvSpPr>
        <p:spPr>
          <a:xfrm>
            <a:off x="612648" y="4480560"/>
            <a:ext cx="54864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400" b="1">
                <a:solidFill>
                  <a:srgbClr val="111318"/>
                </a:solidFill>
              </a:defRPr>
            </a:pPr>
            <a:r>
              <a:rPr lang="en-US" sz="1400" b="1">
                <a:solidFill>
                  <a:srgbClr val="111318"/>
                </a:solidFill>
              </a:rPr>
              <a:t>Maturity is measured, not asserted</a:t>
            </a:r>
          </a:p>
        </p:txBody>
      </p:sp>
      <p:sp>
        <p:nvSpPr>
          <p:cNvPr id="536" name="dist-d">
            <a:extLst>
              <a:ext uri="{FF2B5EF4-FFF2-40B4-BE49-F238E27FC236}">
                <a16:creationId xmlns:a16="http://schemas.microsoft.com/office/drawing/2014/main" id="{ED65B7FE-F062-40D1-B7F5-E4AFB2EB7159}"/>
              </a:ext>
            </a:extLst>
          </p:cNvPr>
          <p:cNvSpPr>
            <a:spLocks noGrp="1"/>
          </p:cNvSpPr>
          <p:nvPr/>
        </p:nvSpPr>
        <p:spPr>
          <a:xfrm>
            <a:off x="612648" y="4773168"/>
            <a:ext cx="603504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spcAft>
                <a:spcPts val="500"/>
              </a:spcAft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Every endpoint is scored on the five-level scale from facts DCops can see: is it owned, is it checked, does it meet the target, does it renew itself — and the score is the lower of its certificate and its domain.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5E6672"/>
                </a:solidFill>
              </a:defRPr>
            </a:pPr>
            <a:r>
              <a:rPr lang="en-US" sz="1100" b="0">
                <a:solidFill>
                  <a:srgbClr val="5E6672"/>
                </a:solidFill>
              </a:rPr>
              <a:t>The estate’s level is the level of its weakest critical endpoint, so one unowned domain keeps the whole estate at Level 1.</a:t>
            </a:r>
          </a:p>
        </p:txBody>
      </p:sp>
      <p:sp>
        <p:nvSpPr>
          <p:cNvPr id="537" name="dist-panel">
            <a:extLst>
              <a:ext uri="{FF2B5EF4-FFF2-40B4-BE49-F238E27FC236}">
                <a16:creationId xmlns:a16="http://schemas.microsoft.com/office/drawing/2014/main" id="{522076D4-78A2-4113-ABFA-085BFA2A0AED}"/>
              </a:ext>
            </a:extLst>
          </p:cNvPr>
          <p:cNvSpPr>
            <a:spLocks noGrp="1"/>
          </p:cNvSpPr>
          <p:nvPr/>
        </p:nvSpPr>
        <p:spPr>
          <a:xfrm>
            <a:off x="6949440" y="4480560"/>
            <a:ext cx="4636008" cy="1645920"/>
          </a:xfrm>
          <a:prstGeom prst="rect">
            <a:avLst/>
          </a:prstGeom>
          <a:solidFill>
            <a:srgbClr val="F7F9FB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8" name="dist-t">
            <a:extLst>
              <a:ext uri="{FF2B5EF4-FFF2-40B4-BE49-F238E27FC236}">
                <a16:creationId xmlns:a16="http://schemas.microsoft.com/office/drawing/2014/main" id="{6F07F670-5E70-4725-B526-D029F5366521}"/>
              </a:ext>
            </a:extLst>
          </p:cNvPr>
          <p:cNvSpPr>
            <a:spLocks noGrp="1"/>
          </p:cNvSpPr>
          <p:nvPr/>
        </p:nvSpPr>
        <p:spPr>
          <a:xfrm>
            <a:off x="7132320" y="4544568"/>
            <a:ext cx="429768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000" b="1">
                <a:solidFill>
                  <a:srgbClr val="5E6672"/>
                </a:solidFill>
              </a:defRPr>
            </a:pPr>
            <a:r>
              <a:rPr lang="en-US" sz="1000" b="1">
                <a:solidFill>
                  <a:srgbClr val="5E6672"/>
                </a:solidFill>
              </a:rPr>
              <a:t>Endpoints by level — illustrative</a:t>
            </a:r>
          </a:p>
        </p:txBody>
      </p:sp>
      <p:sp>
        <p:nvSpPr>
          <p:cNvPr id="539" name="dbar">
            <a:extLst>
              <a:ext uri="{FF2B5EF4-FFF2-40B4-BE49-F238E27FC236}">
                <a16:creationId xmlns:a16="http://schemas.microsoft.com/office/drawing/2014/main" id="{A717E807-47A7-4863-80DD-6196206C92D3}"/>
              </a:ext>
            </a:extLst>
          </p:cNvPr>
          <p:cNvSpPr>
            <a:spLocks noGrp="1"/>
          </p:cNvSpPr>
          <p:nvPr/>
        </p:nvSpPr>
        <p:spPr>
          <a:xfrm>
            <a:off x="7269480" y="4892040"/>
            <a:ext cx="548640" cy="914400"/>
          </a:xfrm>
          <a:prstGeom prst="rect">
            <a:avLst/>
          </a:prstGeom>
          <a:solidFill>
            <a:srgbClr val="D94A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0" name="dlab">
            <a:extLst>
              <a:ext uri="{FF2B5EF4-FFF2-40B4-BE49-F238E27FC236}">
                <a16:creationId xmlns:a16="http://schemas.microsoft.com/office/drawing/2014/main" id="{5D064A27-2FF8-417B-8B3F-30339D4025A0}"/>
              </a:ext>
            </a:extLst>
          </p:cNvPr>
          <p:cNvSpPr>
            <a:spLocks noGrp="1"/>
          </p:cNvSpPr>
          <p:nvPr/>
        </p:nvSpPr>
        <p:spPr>
          <a:xfrm>
            <a:off x="7178040" y="5833872"/>
            <a:ext cx="7315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950" b="0">
                <a:solidFill>
                  <a:srgbClr val="5E6672"/>
                </a:solidFill>
              </a:defRPr>
            </a:pPr>
            <a:r>
              <a:rPr lang="en-US" sz="950" b="0">
                <a:solidFill>
                  <a:srgbClr val="5E6672"/>
                </a:solidFill>
              </a:rPr>
              <a:t>L1</a:t>
            </a:r>
          </a:p>
        </p:txBody>
      </p:sp>
      <p:sp>
        <p:nvSpPr>
          <p:cNvPr id="541" name="dbar">
            <a:extLst>
              <a:ext uri="{FF2B5EF4-FFF2-40B4-BE49-F238E27FC236}">
                <a16:creationId xmlns:a16="http://schemas.microsoft.com/office/drawing/2014/main" id="{E7A42C48-3907-4FD2-948C-4A2B5B52432D}"/>
              </a:ext>
            </a:extLst>
          </p:cNvPr>
          <p:cNvSpPr>
            <a:spLocks noGrp="1"/>
          </p:cNvSpPr>
          <p:nvPr/>
        </p:nvSpPr>
        <p:spPr>
          <a:xfrm>
            <a:off x="8110728" y="5375119"/>
            <a:ext cx="548640" cy="431321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2" name="dlab">
            <a:extLst>
              <a:ext uri="{FF2B5EF4-FFF2-40B4-BE49-F238E27FC236}">
                <a16:creationId xmlns:a16="http://schemas.microsoft.com/office/drawing/2014/main" id="{C8D8ECA8-E288-42E4-9FE9-BB036FCD955D}"/>
              </a:ext>
            </a:extLst>
          </p:cNvPr>
          <p:cNvSpPr>
            <a:spLocks noGrp="1"/>
          </p:cNvSpPr>
          <p:nvPr/>
        </p:nvSpPr>
        <p:spPr>
          <a:xfrm>
            <a:off x="8019288" y="5833872"/>
            <a:ext cx="7315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950" b="0">
                <a:solidFill>
                  <a:srgbClr val="5E6672"/>
                </a:solidFill>
              </a:defRPr>
            </a:pPr>
            <a:r>
              <a:rPr lang="en-US" sz="950" b="0">
                <a:solidFill>
                  <a:srgbClr val="5E6672"/>
                </a:solidFill>
              </a:rPr>
              <a:t>L2</a:t>
            </a:r>
          </a:p>
        </p:txBody>
      </p:sp>
      <p:sp>
        <p:nvSpPr>
          <p:cNvPr id="543" name="dbar">
            <a:extLst>
              <a:ext uri="{FF2B5EF4-FFF2-40B4-BE49-F238E27FC236}">
                <a16:creationId xmlns:a16="http://schemas.microsoft.com/office/drawing/2014/main" id="{BD778D67-5BE3-413C-A016-ACCA56BDFE45}"/>
              </a:ext>
            </a:extLst>
          </p:cNvPr>
          <p:cNvSpPr>
            <a:spLocks noGrp="1"/>
          </p:cNvSpPr>
          <p:nvPr/>
        </p:nvSpPr>
        <p:spPr>
          <a:xfrm>
            <a:off x="8951976" y="5599406"/>
            <a:ext cx="548640" cy="207034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4" name="dlab">
            <a:extLst>
              <a:ext uri="{FF2B5EF4-FFF2-40B4-BE49-F238E27FC236}">
                <a16:creationId xmlns:a16="http://schemas.microsoft.com/office/drawing/2014/main" id="{D1D6947C-907B-479F-85E2-2C34F305141A}"/>
              </a:ext>
            </a:extLst>
          </p:cNvPr>
          <p:cNvSpPr>
            <a:spLocks noGrp="1"/>
          </p:cNvSpPr>
          <p:nvPr/>
        </p:nvSpPr>
        <p:spPr>
          <a:xfrm>
            <a:off x="8860536" y="5833872"/>
            <a:ext cx="7315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950" b="0">
                <a:solidFill>
                  <a:srgbClr val="5E6672"/>
                </a:solidFill>
              </a:defRPr>
            </a:pPr>
            <a:r>
              <a:rPr lang="en-US" sz="950" b="0">
                <a:solidFill>
                  <a:srgbClr val="5E6672"/>
                </a:solidFill>
              </a:rPr>
              <a:t>L3</a:t>
            </a:r>
          </a:p>
        </p:txBody>
      </p:sp>
      <p:sp>
        <p:nvSpPr>
          <p:cNvPr id="545" name="dbar">
            <a:extLst>
              <a:ext uri="{FF2B5EF4-FFF2-40B4-BE49-F238E27FC236}">
                <a16:creationId xmlns:a16="http://schemas.microsoft.com/office/drawing/2014/main" id="{16A7F178-B9BF-4336-8F18-7014546D1ADC}"/>
              </a:ext>
            </a:extLst>
          </p:cNvPr>
          <p:cNvSpPr>
            <a:spLocks noGrp="1"/>
          </p:cNvSpPr>
          <p:nvPr/>
        </p:nvSpPr>
        <p:spPr>
          <a:xfrm>
            <a:off x="9793224" y="5702923"/>
            <a:ext cx="548640" cy="103517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6" name="dlab">
            <a:extLst>
              <a:ext uri="{FF2B5EF4-FFF2-40B4-BE49-F238E27FC236}">
                <a16:creationId xmlns:a16="http://schemas.microsoft.com/office/drawing/2014/main" id="{83E29B56-9CC7-42DB-ACCC-99A82DC51BEA}"/>
              </a:ext>
            </a:extLst>
          </p:cNvPr>
          <p:cNvSpPr>
            <a:spLocks noGrp="1"/>
          </p:cNvSpPr>
          <p:nvPr/>
        </p:nvSpPr>
        <p:spPr>
          <a:xfrm>
            <a:off x="9701784" y="5833872"/>
            <a:ext cx="7315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950" b="0">
                <a:solidFill>
                  <a:srgbClr val="5E6672"/>
                </a:solidFill>
              </a:defRPr>
            </a:pPr>
            <a:r>
              <a:rPr lang="en-US" sz="950" b="0">
                <a:solidFill>
                  <a:srgbClr val="5E6672"/>
                </a:solidFill>
              </a:rPr>
              <a:t>L4</a:t>
            </a:r>
          </a:p>
        </p:txBody>
      </p:sp>
      <p:sp>
        <p:nvSpPr>
          <p:cNvPr id="547" name="dbar">
            <a:extLst>
              <a:ext uri="{FF2B5EF4-FFF2-40B4-BE49-F238E27FC236}">
                <a16:creationId xmlns:a16="http://schemas.microsoft.com/office/drawing/2014/main" id="{3F5BC6D9-4AC1-4EEE-ABFD-89FE8169ADF5}"/>
              </a:ext>
            </a:extLst>
          </p:cNvPr>
          <p:cNvSpPr>
            <a:spLocks noGrp="1"/>
          </p:cNvSpPr>
          <p:nvPr/>
        </p:nvSpPr>
        <p:spPr>
          <a:xfrm>
            <a:off x="10634472" y="5737429"/>
            <a:ext cx="548640" cy="69011"/>
          </a:xfrm>
          <a:prstGeom prst="rect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8" name="dlab">
            <a:extLst>
              <a:ext uri="{FF2B5EF4-FFF2-40B4-BE49-F238E27FC236}">
                <a16:creationId xmlns:a16="http://schemas.microsoft.com/office/drawing/2014/main" id="{09E27FAB-F93C-4ECD-A3AF-DB1687DB69EB}"/>
              </a:ext>
            </a:extLst>
          </p:cNvPr>
          <p:cNvSpPr>
            <a:spLocks noGrp="1"/>
          </p:cNvSpPr>
          <p:nvPr/>
        </p:nvSpPr>
        <p:spPr>
          <a:xfrm>
            <a:off x="10543032" y="5833872"/>
            <a:ext cx="7315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950" b="0">
                <a:solidFill>
                  <a:srgbClr val="5E6672"/>
                </a:solidFill>
              </a:defRPr>
            </a:pPr>
            <a:r>
              <a:rPr lang="en-US" sz="950" b="0">
                <a:solidFill>
                  <a:srgbClr val="5E6672"/>
                </a:solidFill>
              </a:rPr>
              <a:t>L5</a:t>
            </a:r>
          </a:p>
        </p:txBody>
      </p:sp>
    </p:spTree>
    <p:extLst>
      <p:ext uri="{BB962C8B-B14F-4D97-AF65-F5344CB8AC3E}">
        <p14:creationId xmlns:p14="http://schemas.microsoft.com/office/powerpoint/2010/main" val="79725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kicker">
            <a:extLst>
              <a:ext uri="{FF2B5EF4-FFF2-40B4-BE49-F238E27FC236}">
                <a16:creationId xmlns:a16="http://schemas.microsoft.com/office/drawing/2014/main" id="{FB8E5609-4D9C-43E5-909E-C2F65910D675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THE FOUNDATION UNDERNEATH</a:t>
            </a:r>
          </a:p>
        </p:txBody>
      </p:sp>
      <p:sp>
        <p:nvSpPr>
          <p:cNvPr id="272" name="title">
            <a:extLst>
              <a:ext uri="{FF2B5EF4-FFF2-40B4-BE49-F238E27FC236}">
                <a16:creationId xmlns:a16="http://schemas.microsoft.com/office/drawing/2014/main" id="{510D5C41-B0A6-45F4-A471-76752155252A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A certificate is only as safe as the domain it lives on</a:t>
            </a:r>
          </a:p>
        </p:txBody>
      </p:sp>
      <p:sp>
        <p:nvSpPr>
          <p:cNvPr id="273" name="rule">
            <a:extLst>
              <a:ext uri="{FF2B5EF4-FFF2-40B4-BE49-F238E27FC236}">
                <a16:creationId xmlns:a16="http://schemas.microsoft.com/office/drawing/2014/main" id="{BCAF758F-BB64-4933-98FF-EB9482D99DE4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page">
            <a:extLst>
              <a:ext uri="{FF2B5EF4-FFF2-40B4-BE49-F238E27FC236}">
                <a16:creationId xmlns:a16="http://schemas.microsoft.com/office/drawing/2014/main" id="{25AE574A-147B-4E74-AA49-31D3EE833E02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07</a:t>
            </a:r>
          </a:p>
        </p:txBody>
      </p:sp>
      <p:sp>
        <p:nvSpPr>
          <p:cNvPr id="275" name="footer">
            <a:extLst>
              <a:ext uri="{FF2B5EF4-FFF2-40B4-BE49-F238E27FC236}">
                <a16:creationId xmlns:a16="http://schemas.microsoft.com/office/drawing/2014/main" id="{81FDF238-04D2-44EB-A5AB-D3ABA221FF9A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276" name="col-a">
            <a:extLst>
              <a:ext uri="{FF2B5EF4-FFF2-40B4-BE49-F238E27FC236}">
                <a16:creationId xmlns:a16="http://schemas.microsoft.com/office/drawing/2014/main" id="{1DB9F849-1CEE-4C98-8410-AEB902FA121F}"/>
              </a:ext>
            </a:extLst>
          </p:cNvPr>
          <p:cNvSpPr>
            <a:spLocks noGrp="1"/>
          </p:cNvSpPr>
          <p:nvPr/>
        </p:nvSpPr>
        <p:spPr>
          <a:xfrm>
            <a:off x="612648" y="1490472"/>
            <a:ext cx="2743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l">
              <a:defRPr sz="850" b="1">
                <a:solidFill>
                  <a:srgbClr val="5E6672"/>
                </a:solidFill>
              </a:defRPr>
            </a:pPr>
            <a:r>
              <a:rPr lang="en-US" sz="850" b="1">
                <a:solidFill>
                  <a:srgbClr val="5E6672"/>
                </a:solidFill>
              </a:rPr>
              <a:t>LAYER</a:t>
            </a:r>
          </a:p>
        </p:txBody>
      </p:sp>
      <p:sp>
        <p:nvSpPr>
          <p:cNvPr id="277" name="col-b">
            <a:extLst>
              <a:ext uri="{FF2B5EF4-FFF2-40B4-BE49-F238E27FC236}">
                <a16:creationId xmlns:a16="http://schemas.microsoft.com/office/drawing/2014/main" id="{4BB7516E-7AAB-49CF-892D-D3F92F70BC26}"/>
              </a:ext>
            </a:extLst>
          </p:cNvPr>
          <p:cNvSpPr>
            <a:spLocks noGrp="1"/>
          </p:cNvSpPr>
          <p:nvPr/>
        </p:nvSpPr>
        <p:spPr>
          <a:xfrm>
            <a:off x="3566160" y="1490472"/>
            <a:ext cx="36576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l">
              <a:defRPr sz="850" b="1">
                <a:solidFill>
                  <a:srgbClr val="5E6672"/>
                </a:solidFill>
              </a:defRPr>
            </a:pPr>
            <a:r>
              <a:rPr lang="en-US" sz="850" b="1">
                <a:solidFill>
                  <a:srgbClr val="5E6672"/>
                </a:solidFill>
              </a:rPr>
              <a:t>WHO KEEPS IT ALIVE</a:t>
            </a:r>
          </a:p>
        </p:txBody>
      </p:sp>
      <p:sp>
        <p:nvSpPr>
          <p:cNvPr id="278" name="col-c">
            <a:extLst>
              <a:ext uri="{FF2B5EF4-FFF2-40B4-BE49-F238E27FC236}">
                <a16:creationId xmlns:a16="http://schemas.microsoft.com/office/drawing/2014/main" id="{E4E76B1C-28F3-4E50-AD40-8D70C3C87EDA}"/>
              </a:ext>
            </a:extLst>
          </p:cNvPr>
          <p:cNvSpPr>
            <a:spLocks noGrp="1"/>
          </p:cNvSpPr>
          <p:nvPr/>
        </p:nvSpPr>
        <p:spPr>
          <a:xfrm>
            <a:off x="7452360" y="1490472"/>
            <a:ext cx="41148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l">
              <a:defRPr sz="850" b="1">
                <a:solidFill>
                  <a:srgbClr val="5E6672"/>
                </a:solidFill>
              </a:defRPr>
            </a:pPr>
            <a:r>
              <a:rPr lang="en-US" sz="850" b="1">
                <a:solidFill>
                  <a:srgbClr val="5E6672"/>
                </a:solidFill>
              </a:rPr>
              <a:t>WHAT DCOPS CHECKS</a:t>
            </a:r>
          </a:p>
        </p:txBody>
      </p:sp>
      <p:sp>
        <p:nvSpPr>
          <p:cNvPr id="279" name="layer">
            <a:extLst>
              <a:ext uri="{FF2B5EF4-FFF2-40B4-BE49-F238E27FC236}">
                <a16:creationId xmlns:a16="http://schemas.microsoft.com/office/drawing/2014/main" id="{0400CD65-0BDF-499F-BDFA-4A339BAAAF0C}"/>
              </a:ext>
            </a:extLst>
          </p:cNvPr>
          <p:cNvSpPr>
            <a:spLocks noGrp="1"/>
          </p:cNvSpPr>
          <p:nvPr/>
        </p:nvSpPr>
        <p:spPr>
          <a:xfrm>
            <a:off x="612648" y="1783080"/>
            <a:ext cx="10972800" cy="822960"/>
          </a:xfrm>
          <a:prstGeom prst="rect">
            <a:avLst/>
          </a:prstGeom>
          <a:solidFill>
            <a:srgbClr val="EAF8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tripe">
            <a:extLst>
              <a:ext uri="{FF2B5EF4-FFF2-40B4-BE49-F238E27FC236}">
                <a16:creationId xmlns:a16="http://schemas.microsoft.com/office/drawing/2014/main" id="{04D5A8DF-405E-4383-9165-1C12F1204935}"/>
              </a:ext>
            </a:extLst>
          </p:cNvPr>
          <p:cNvSpPr>
            <a:spLocks noGrp="1"/>
          </p:cNvSpPr>
          <p:nvPr/>
        </p:nvSpPr>
        <p:spPr>
          <a:xfrm>
            <a:off x="612648" y="1783080"/>
            <a:ext cx="82296" cy="822960"/>
          </a:xfrm>
          <a:prstGeom prst="rect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l-name">
            <a:extLst>
              <a:ext uri="{FF2B5EF4-FFF2-40B4-BE49-F238E27FC236}">
                <a16:creationId xmlns:a16="http://schemas.microsoft.com/office/drawing/2014/main" id="{A9184755-AB9C-4A1C-8DE3-9794B719C437}"/>
              </a:ext>
            </a:extLst>
          </p:cNvPr>
          <p:cNvSpPr>
            <a:spLocks noGrp="1"/>
          </p:cNvSpPr>
          <p:nvPr/>
        </p:nvSpPr>
        <p:spPr>
          <a:xfrm>
            <a:off x="868680" y="1856232"/>
            <a:ext cx="2560320" cy="676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600" b="1">
                <a:solidFill>
                  <a:srgbClr val="111318"/>
                </a:solidFill>
              </a:defRPr>
            </a:pPr>
            <a:r>
              <a:rPr lang="en-US" sz="1600" b="1">
                <a:solidFill>
                  <a:srgbClr val="111318"/>
                </a:solidFill>
              </a:rPr>
              <a:t>Certificate</a:t>
            </a:r>
          </a:p>
        </p:txBody>
      </p:sp>
      <p:sp>
        <p:nvSpPr>
          <p:cNvPr id="282" name="l-who">
            <a:extLst>
              <a:ext uri="{FF2B5EF4-FFF2-40B4-BE49-F238E27FC236}">
                <a16:creationId xmlns:a16="http://schemas.microsoft.com/office/drawing/2014/main" id="{E48A9031-BC40-4810-A099-28F90066B4C1}"/>
              </a:ext>
            </a:extLst>
          </p:cNvPr>
          <p:cNvSpPr>
            <a:spLocks noGrp="1"/>
          </p:cNvSpPr>
          <p:nvPr/>
        </p:nvSpPr>
        <p:spPr>
          <a:xfrm>
            <a:off x="3566160" y="1856232"/>
            <a:ext cx="3657600" cy="676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0">
                <a:solidFill>
                  <a:srgbClr val="111318"/>
                </a:solidFill>
              </a:defRPr>
            </a:pPr>
            <a:r>
              <a:rPr lang="en-US" sz="1150" b="0">
                <a:solidFill>
                  <a:srgbClr val="111318"/>
                </a:solidFill>
              </a:rPr>
              <a:t>Issued by cert-manager or a CA; renewed on a schedule</a:t>
            </a:r>
          </a:p>
        </p:txBody>
      </p:sp>
      <p:sp>
        <p:nvSpPr>
          <p:cNvPr id="283" name="l-chk">
            <a:extLst>
              <a:ext uri="{FF2B5EF4-FFF2-40B4-BE49-F238E27FC236}">
                <a16:creationId xmlns:a16="http://schemas.microsoft.com/office/drawing/2014/main" id="{03342133-F378-4D93-97D1-6F613395EB4E}"/>
              </a:ext>
            </a:extLst>
          </p:cNvPr>
          <p:cNvSpPr>
            <a:spLocks noGrp="1"/>
          </p:cNvSpPr>
          <p:nvPr/>
        </p:nvSpPr>
        <p:spPr>
          <a:xfrm>
            <a:off x="7452360" y="1856232"/>
            <a:ext cx="4023360" cy="676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Expiry · issuer · chain · what the live site presents</a:t>
            </a:r>
          </a:p>
        </p:txBody>
      </p:sp>
      <p:sp>
        <p:nvSpPr>
          <p:cNvPr id="284" name="layer">
            <a:extLst>
              <a:ext uri="{FF2B5EF4-FFF2-40B4-BE49-F238E27FC236}">
                <a16:creationId xmlns:a16="http://schemas.microsoft.com/office/drawing/2014/main" id="{B7698840-923E-448B-B0F4-58CF478738E6}"/>
              </a:ext>
            </a:extLst>
          </p:cNvPr>
          <p:cNvSpPr>
            <a:spLocks noGrp="1"/>
          </p:cNvSpPr>
          <p:nvPr/>
        </p:nvSpPr>
        <p:spPr>
          <a:xfrm>
            <a:off x="612648" y="2697480"/>
            <a:ext cx="10972800" cy="82296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tripe">
            <a:extLst>
              <a:ext uri="{FF2B5EF4-FFF2-40B4-BE49-F238E27FC236}">
                <a16:creationId xmlns:a16="http://schemas.microsoft.com/office/drawing/2014/main" id="{B3F1DB6C-FF0B-48A1-8125-57E155D6CDDF}"/>
              </a:ext>
            </a:extLst>
          </p:cNvPr>
          <p:cNvSpPr>
            <a:spLocks noGrp="1"/>
          </p:cNvSpPr>
          <p:nvPr/>
        </p:nvSpPr>
        <p:spPr>
          <a:xfrm>
            <a:off x="612648" y="2697480"/>
            <a:ext cx="82296" cy="82296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l-name">
            <a:extLst>
              <a:ext uri="{FF2B5EF4-FFF2-40B4-BE49-F238E27FC236}">
                <a16:creationId xmlns:a16="http://schemas.microsoft.com/office/drawing/2014/main" id="{3C018D1B-638B-46A1-9CB2-790E510A5686}"/>
              </a:ext>
            </a:extLst>
          </p:cNvPr>
          <p:cNvSpPr>
            <a:spLocks noGrp="1"/>
          </p:cNvSpPr>
          <p:nvPr/>
        </p:nvSpPr>
        <p:spPr>
          <a:xfrm>
            <a:off x="868680" y="2770632"/>
            <a:ext cx="2560320" cy="676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600" b="1">
                <a:solidFill>
                  <a:srgbClr val="111318"/>
                </a:solidFill>
              </a:defRPr>
            </a:pPr>
            <a:r>
              <a:rPr lang="en-US" sz="1600" b="1">
                <a:solidFill>
                  <a:srgbClr val="111318"/>
                </a:solidFill>
              </a:rPr>
              <a:t>Delegation &amp; DNS</a:t>
            </a:r>
          </a:p>
        </p:txBody>
      </p:sp>
      <p:sp>
        <p:nvSpPr>
          <p:cNvPr id="287" name="l-who">
            <a:extLst>
              <a:ext uri="{FF2B5EF4-FFF2-40B4-BE49-F238E27FC236}">
                <a16:creationId xmlns:a16="http://schemas.microsoft.com/office/drawing/2014/main" id="{E37B1B6A-71BD-4087-8B25-07B0EA626590}"/>
              </a:ext>
            </a:extLst>
          </p:cNvPr>
          <p:cNvSpPr>
            <a:spLocks noGrp="1"/>
          </p:cNvSpPr>
          <p:nvPr/>
        </p:nvSpPr>
        <p:spPr>
          <a:xfrm>
            <a:off x="3566160" y="2770632"/>
            <a:ext cx="3657600" cy="676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0">
                <a:solidFill>
                  <a:srgbClr val="111318"/>
                </a:solidFill>
              </a:defRPr>
            </a:pPr>
            <a:r>
              <a:rPr lang="en-US" sz="1150" b="0">
                <a:solidFill>
                  <a:srgbClr val="111318"/>
                </a:solidFill>
              </a:rPr>
              <a:t>Registry points the domain at Cloudflare or Cloud DNS; records there point at the service</a:t>
            </a:r>
          </a:p>
        </p:txBody>
      </p:sp>
      <p:sp>
        <p:nvSpPr>
          <p:cNvPr id="288" name="l-chk">
            <a:extLst>
              <a:ext uri="{FF2B5EF4-FFF2-40B4-BE49-F238E27FC236}">
                <a16:creationId xmlns:a16="http://schemas.microsoft.com/office/drawing/2014/main" id="{7FDEEA13-BD93-4B68-878E-96692AE82194}"/>
              </a:ext>
            </a:extLst>
          </p:cNvPr>
          <p:cNvSpPr>
            <a:spLocks noGrp="1"/>
          </p:cNvSpPr>
          <p:nvPr/>
        </p:nvSpPr>
        <p:spPr>
          <a:xfrm>
            <a:off x="7452360" y="2770632"/>
            <a:ext cx="4023360" cy="676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Name servers match at every hop · DNSSEC chain valid · record resolves</a:t>
            </a:r>
          </a:p>
        </p:txBody>
      </p:sp>
      <p:sp>
        <p:nvSpPr>
          <p:cNvPr id="289" name="layer">
            <a:extLst>
              <a:ext uri="{FF2B5EF4-FFF2-40B4-BE49-F238E27FC236}">
                <a16:creationId xmlns:a16="http://schemas.microsoft.com/office/drawing/2014/main" id="{340505F3-1D28-4108-9461-10AD63AD020B}"/>
              </a:ext>
            </a:extLst>
          </p:cNvPr>
          <p:cNvSpPr>
            <a:spLocks noGrp="1"/>
          </p:cNvSpPr>
          <p:nvPr/>
        </p:nvSpPr>
        <p:spPr>
          <a:xfrm>
            <a:off x="612648" y="3611880"/>
            <a:ext cx="10972800" cy="822960"/>
          </a:xfrm>
          <a:prstGeom prst="rect">
            <a:avLst/>
          </a:prstGeom>
          <a:solidFill>
            <a:srgbClr val="FFF6E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tripe">
            <a:extLst>
              <a:ext uri="{FF2B5EF4-FFF2-40B4-BE49-F238E27FC236}">
                <a16:creationId xmlns:a16="http://schemas.microsoft.com/office/drawing/2014/main" id="{0AB97CB2-F7B7-41CE-8EB9-FA284D6406B4}"/>
              </a:ext>
            </a:extLst>
          </p:cNvPr>
          <p:cNvSpPr>
            <a:spLocks noGrp="1"/>
          </p:cNvSpPr>
          <p:nvPr/>
        </p:nvSpPr>
        <p:spPr>
          <a:xfrm>
            <a:off x="612648" y="3611880"/>
            <a:ext cx="82296" cy="822960"/>
          </a:xfrm>
          <a:prstGeom prst="rect">
            <a:avLst/>
          </a:prstGeom>
          <a:solidFill>
            <a:srgbClr val="E6A2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l-name">
            <a:extLst>
              <a:ext uri="{FF2B5EF4-FFF2-40B4-BE49-F238E27FC236}">
                <a16:creationId xmlns:a16="http://schemas.microsoft.com/office/drawing/2014/main" id="{F34772D6-56C7-496D-8FF0-E6F7FC90754C}"/>
              </a:ext>
            </a:extLst>
          </p:cNvPr>
          <p:cNvSpPr>
            <a:spLocks noGrp="1"/>
          </p:cNvSpPr>
          <p:nvPr/>
        </p:nvSpPr>
        <p:spPr>
          <a:xfrm>
            <a:off x="868680" y="3685032"/>
            <a:ext cx="2560320" cy="676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600" b="1">
                <a:solidFill>
                  <a:srgbClr val="111318"/>
                </a:solidFill>
              </a:defRPr>
            </a:pPr>
            <a:r>
              <a:rPr lang="en-US" sz="1600" b="1">
                <a:solidFill>
                  <a:srgbClr val="111318"/>
                </a:solidFill>
              </a:rPr>
              <a:t>Domain registration</a:t>
            </a:r>
          </a:p>
        </p:txBody>
      </p:sp>
      <p:sp>
        <p:nvSpPr>
          <p:cNvPr id="292" name="l-who">
            <a:extLst>
              <a:ext uri="{FF2B5EF4-FFF2-40B4-BE49-F238E27FC236}">
                <a16:creationId xmlns:a16="http://schemas.microsoft.com/office/drawing/2014/main" id="{6B89B8C0-6446-4B70-BA6A-F9187D721F9E}"/>
              </a:ext>
            </a:extLst>
          </p:cNvPr>
          <p:cNvSpPr>
            <a:spLocks noGrp="1"/>
          </p:cNvSpPr>
          <p:nvPr/>
        </p:nvSpPr>
        <p:spPr>
          <a:xfrm>
            <a:off x="3566160" y="3685032"/>
            <a:ext cx="3657600" cy="676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0">
                <a:solidFill>
                  <a:srgbClr val="111318"/>
                </a:solidFill>
              </a:defRPr>
            </a:pPr>
            <a:r>
              <a:rPr lang="en-US" sz="1150" b="0">
                <a:solidFill>
                  <a:srgbClr val="111318"/>
                </a:solidFill>
              </a:rPr>
              <a:t>Held at the registrar (Openprovider / Squarespace); renewed yearly by a person or auto-renew</a:t>
            </a:r>
          </a:p>
        </p:txBody>
      </p:sp>
      <p:sp>
        <p:nvSpPr>
          <p:cNvPr id="293" name="l-chk">
            <a:extLst>
              <a:ext uri="{FF2B5EF4-FFF2-40B4-BE49-F238E27FC236}">
                <a16:creationId xmlns:a16="http://schemas.microsoft.com/office/drawing/2014/main" id="{02F5CCC8-23AA-4EB9-B921-D2BD3FA71637}"/>
              </a:ext>
            </a:extLst>
          </p:cNvPr>
          <p:cNvSpPr>
            <a:spLocks noGrp="1"/>
          </p:cNvSpPr>
          <p:nvPr/>
        </p:nvSpPr>
        <p:spPr>
          <a:xfrm>
            <a:off x="7452360" y="3685032"/>
            <a:ext cx="4023360" cy="676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50" b="0">
                <a:solidFill>
                  <a:srgbClr val="5E6672"/>
                </a:solidFill>
              </a:defRPr>
            </a:pPr>
            <a:r>
              <a:rPr lang="en-US" sz="1150" b="0">
                <a:solidFill>
                  <a:srgbClr val="5E6672"/>
                </a:solidFill>
              </a:rPr>
              <a:t>Registration expiry · lock status · registrant contact still employed</a:t>
            </a:r>
          </a:p>
        </p:txBody>
      </p:sp>
      <p:sp>
        <p:nvSpPr>
          <p:cNvPr id="294" name="dep">
            <a:extLst>
              <a:ext uri="{FF2B5EF4-FFF2-40B4-BE49-F238E27FC236}">
                <a16:creationId xmlns:a16="http://schemas.microsoft.com/office/drawing/2014/main" id="{AB52AF1E-DD2D-4E3D-AE2A-9033803B2872}"/>
              </a:ext>
            </a:extLst>
          </p:cNvPr>
          <p:cNvSpPr>
            <a:spLocks noGrp="1"/>
          </p:cNvSpPr>
          <p:nvPr/>
        </p:nvSpPr>
        <p:spPr>
          <a:xfrm>
            <a:off x="612648" y="4544568"/>
            <a:ext cx="109728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100" b="1">
                <a:solidFill>
                  <a:srgbClr val="111318"/>
                </a:solidFill>
              </a:defRPr>
            </a:pPr>
            <a:r>
              <a:rPr lang="en-US" sz="1100" b="1">
                <a:solidFill>
                  <a:srgbClr val="111318"/>
                </a:solidFill>
              </a:rPr>
              <a:t>▲  Each layer depends on the one below it. A failure lower down takes the site offline no matter how good the certificate is.</a:t>
            </a:r>
          </a:p>
        </p:txBody>
      </p:sp>
      <p:sp>
        <p:nvSpPr>
          <p:cNvPr id="295" name="own">
            <a:extLst>
              <a:ext uri="{FF2B5EF4-FFF2-40B4-BE49-F238E27FC236}">
                <a16:creationId xmlns:a16="http://schemas.microsoft.com/office/drawing/2014/main" id="{E7FE3C02-3D3E-4792-94B5-50D5CB851610}"/>
              </a:ext>
            </a:extLst>
          </p:cNvPr>
          <p:cNvSpPr>
            <a:spLocks noGrp="1"/>
          </p:cNvSpPr>
          <p:nvPr/>
        </p:nvSpPr>
        <p:spPr>
          <a:xfrm>
            <a:off x="612648" y="4892040"/>
            <a:ext cx="5349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own-h">
            <a:extLst>
              <a:ext uri="{FF2B5EF4-FFF2-40B4-BE49-F238E27FC236}">
                <a16:creationId xmlns:a16="http://schemas.microsoft.com/office/drawing/2014/main" id="{4903A73F-0A64-4B35-96C5-4EFDC3F1BA47}"/>
              </a:ext>
            </a:extLst>
          </p:cNvPr>
          <p:cNvSpPr>
            <a:spLocks noGrp="1"/>
          </p:cNvSpPr>
          <p:nvPr/>
        </p:nvSpPr>
        <p:spPr>
          <a:xfrm>
            <a:off x="822960" y="4965192"/>
            <a:ext cx="493776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50" b="1">
                <a:solidFill>
                  <a:srgbClr val="111318"/>
                </a:solidFill>
              </a:defRPr>
            </a:pPr>
            <a:r>
              <a:rPr lang="en-US" sz="1250" b="1">
                <a:solidFill>
                  <a:srgbClr val="111318"/>
                </a:solidFill>
              </a:rPr>
              <a:t>One owner, inherited downwards</a:t>
            </a:r>
          </a:p>
        </p:txBody>
      </p:sp>
      <p:sp>
        <p:nvSpPr>
          <p:cNvPr id="297" name="own-b">
            <a:extLst>
              <a:ext uri="{FF2B5EF4-FFF2-40B4-BE49-F238E27FC236}">
                <a16:creationId xmlns:a16="http://schemas.microsoft.com/office/drawing/2014/main" id="{8853F002-7753-4FAF-A99C-F59752EAF7CE}"/>
              </a:ext>
            </a:extLst>
          </p:cNvPr>
          <p:cNvSpPr>
            <a:spLocks noGrp="1"/>
          </p:cNvSpPr>
          <p:nvPr/>
        </p:nvSpPr>
        <p:spPr>
          <a:xfrm>
            <a:off x="822960" y="5239512"/>
            <a:ext cx="493776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Assign the owner of example.com once and every certificate under it is owned. Most of the 2,829 unowned certificates are unowned because their domain is.</a:t>
            </a:r>
          </a:p>
        </p:txBody>
      </p:sp>
      <p:sp>
        <p:nvSpPr>
          <p:cNvPr id="298" name="reg">
            <a:extLst>
              <a:ext uri="{FF2B5EF4-FFF2-40B4-BE49-F238E27FC236}">
                <a16:creationId xmlns:a16="http://schemas.microsoft.com/office/drawing/2014/main" id="{56EDB72D-40E2-4206-9BA7-E860839292C8}"/>
              </a:ext>
            </a:extLst>
          </p:cNvPr>
          <p:cNvSpPr>
            <a:spLocks noGrp="1"/>
          </p:cNvSpPr>
          <p:nvPr/>
        </p:nvSpPr>
        <p:spPr>
          <a:xfrm>
            <a:off x="6236208" y="4892040"/>
            <a:ext cx="5349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BAC1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reg-h">
            <a:extLst>
              <a:ext uri="{FF2B5EF4-FFF2-40B4-BE49-F238E27FC236}">
                <a16:creationId xmlns:a16="http://schemas.microsoft.com/office/drawing/2014/main" id="{47F6D608-B091-435C-844D-F6F27A138105}"/>
              </a:ext>
            </a:extLst>
          </p:cNvPr>
          <p:cNvSpPr>
            <a:spLocks noGrp="1"/>
          </p:cNvSpPr>
          <p:nvPr/>
        </p:nvSpPr>
        <p:spPr>
          <a:xfrm>
            <a:off x="6446520" y="4965192"/>
            <a:ext cx="493776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250" b="1">
                <a:solidFill>
                  <a:srgbClr val="111318"/>
                </a:solidFill>
              </a:defRPr>
            </a:pPr>
            <a:r>
              <a:rPr lang="en-US" sz="1250" b="1">
                <a:solidFill>
                  <a:srgbClr val="111318"/>
                </a:solidFill>
              </a:rPr>
              <a:t>Two registers, one wizard, no writes</a:t>
            </a:r>
          </a:p>
        </p:txBody>
      </p:sp>
      <p:sp>
        <p:nvSpPr>
          <p:cNvPr id="300" name="reg-b">
            <a:extLst>
              <a:ext uri="{FF2B5EF4-FFF2-40B4-BE49-F238E27FC236}">
                <a16:creationId xmlns:a16="http://schemas.microsoft.com/office/drawing/2014/main" id="{7D8DA9A8-0E77-467A-A2C4-A96BA88E5CBD}"/>
              </a:ext>
            </a:extLst>
          </p:cNvPr>
          <p:cNvSpPr>
            <a:spLocks noGrp="1"/>
          </p:cNvSpPr>
          <p:nvPr/>
        </p:nvSpPr>
        <p:spPr>
          <a:xfrm>
            <a:off x="6446520" y="5239512"/>
            <a:ext cx="493776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The registrar export loads exactly like the certificate scan. DCops records and verifies domains; it never changes registrar or DNS settings.</a:t>
            </a:r>
          </a:p>
        </p:txBody>
      </p:sp>
      <p:sp>
        <p:nvSpPr>
          <p:cNvPr id="301" name="lvl-label">
            <a:extLst>
              <a:ext uri="{FF2B5EF4-FFF2-40B4-BE49-F238E27FC236}">
                <a16:creationId xmlns:a16="http://schemas.microsoft.com/office/drawing/2014/main" id="{B2B71F67-4DA9-4A3A-A866-98FDC99BE657}"/>
              </a:ext>
            </a:extLst>
          </p:cNvPr>
          <p:cNvSpPr>
            <a:spLocks noGrp="1"/>
          </p:cNvSpPr>
          <p:nvPr/>
        </p:nvSpPr>
        <p:spPr>
          <a:xfrm>
            <a:off x="7863840" y="283464"/>
            <a:ext cx="26517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lIns="0" tIns="0" rIns="0" bIns="0" wrap="square"/>
          <a:lstStyle/>
          <a:p>
            <a:pPr algn="r">
              <a:defRPr sz="900" b="1">
                <a:solidFill>
                  <a:srgbClr val="2F80ED"/>
                </a:solidFill>
              </a:defRPr>
            </a:pPr>
            <a:r>
              <a:rPr lang="en-US" sz="900" b="1">
                <a:solidFill>
                  <a:srgbClr val="2F80ED"/>
                </a:solidFill>
              </a:rPr>
              <a:t>Reaches Level 2 · Managed</a:t>
            </a:r>
          </a:p>
        </p:txBody>
      </p:sp>
      <p:sp>
        <p:nvSpPr>
          <p:cNvPr id="302" name="lvl-block">
            <a:extLst>
              <a:ext uri="{FF2B5EF4-FFF2-40B4-BE49-F238E27FC236}">
                <a16:creationId xmlns:a16="http://schemas.microsoft.com/office/drawing/2014/main" id="{67346503-C522-4CDD-9728-4F23783FAD62}"/>
              </a:ext>
            </a:extLst>
          </p:cNvPr>
          <p:cNvSpPr>
            <a:spLocks noGrp="1"/>
          </p:cNvSpPr>
          <p:nvPr/>
        </p:nvSpPr>
        <p:spPr>
          <a:xfrm>
            <a:off x="10625328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lvl-block">
            <a:extLst>
              <a:ext uri="{FF2B5EF4-FFF2-40B4-BE49-F238E27FC236}">
                <a16:creationId xmlns:a16="http://schemas.microsoft.com/office/drawing/2014/main" id="{61807F88-254E-48BB-BF19-BAB5A8C0AD28}"/>
              </a:ext>
            </a:extLst>
          </p:cNvPr>
          <p:cNvSpPr>
            <a:spLocks noGrp="1"/>
          </p:cNvSpPr>
          <p:nvPr/>
        </p:nvSpPr>
        <p:spPr>
          <a:xfrm>
            <a:off x="10821924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lvl-block">
            <a:extLst>
              <a:ext uri="{FF2B5EF4-FFF2-40B4-BE49-F238E27FC236}">
                <a16:creationId xmlns:a16="http://schemas.microsoft.com/office/drawing/2014/main" id="{BA390C74-120B-4640-8D71-DD4E8D1198B7}"/>
              </a:ext>
            </a:extLst>
          </p:cNvPr>
          <p:cNvSpPr>
            <a:spLocks noGrp="1"/>
          </p:cNvSpPr>
          <p:nvPr/>
        </p:nvSpPr>
        <p:spPr>
          <a:xfrm>
            <a:off x="11018520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lvl-block">
            <a:extLst>
              <a:ext uri="{FF2B5EF4-FFF2-40B4-BE49-F238E27FC236}">
                <a16:creationId xmlns:a16="http://schemas.microsoft.com/office/drawing/2014/main" id="{747BF259-2C30-48E2-8C62-0F05A7C3B3A7}"/>
              </a:ext>
            </a:extLst>
          </p:cNvPr>
          <p:cNvSpPr>
            <a:spLocks noGrp="1"/>
          </p:cNvSpPr>
          <p:nvPr/>
        </p:nvSpPr>
        <p:spPr>
          <a:xfrm>
            <a:off x="11215116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lvl-block">
            <a:extLst>
              <a:ext uri="{FF2B5EF4-FFF2-40B4-BE49-F238E27FC236}">
                <a16:creationId xmlns:a16="http://schemas.microsoft.com/office/drawing/2014/main" id="{3977F9F5-E9F8-435F-B70A-76DC25639EBF}"/>
              </a:ext>
            </a:extLst>
          </p:cNvPr>
          <p:cNvSpPr>
            <a:spLocks noGrp="1"/>
          </p:cNvSpPr>
          <p:nvPr/>
        </p:nvSpPr>
        <p:spPr>
          <a:xfrm>
            <a:off x="11411712" y="315468"/>
            <a:ext cx="155448" cy="155448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callout">
            <a:extLst>
              <a:ext uri="{FF2B5EF4-FFF2-40B4-BE49-F238E27FC236}">
                <a16:creationId xmlns:a16="http://schemas.microsoft.com/office/drawing/2014/main" id="{CBA58EBA-5735-4A7D-8CCB-802A94160ED6}"/>
              </a:ext>
            </a:extLst>
          </p:cNvPr>
          <p:cNvSpPr>
            <a:spLocks noGrp="1"/>
          </p:cNvSpPr>
          <p:nvPr/>
        </p:nvSpPr>
        <p:spPr>
          <a:xfrm>
            <a:off x="612648" y="5806440"/>
            <a:ext cx="10972800" cy="502920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callout-text">
            <a:extLst>
              <a:ext uri="{FF2B5EF4-FFF2-40B4-BE49-F238E27FC236}">
                <a16:creationId xmlns:a16="http://schemas.microsoft.com/office/drawing/2014/main" id="{E514610D-9AF6-4688-BE24-CE3E872C2443}"/>
              </a:ext>
            </a:extLst>
          </p:cNvPr>
          <p:cNvSpPr>
            <a:spLocks noGrp="1"/>
          </p:cNvSpPr>
          <p:nvPr/>
        </p:nvSpPr>
        <p:spPr>
          <a:xfrm>
            <a:off x="795528" y="5879592"/>
            <a:ext cx="10607040" cy="3566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>
                <a:solidFill>
                  <a:srgbClr val="FFFFFF"/>
                </a:solidFill>
              </a:rPr>
              <a:t>Your certificate is useless if someone forgets to renew the domain, or its delegation lapses or is misconfigured.</a:t>
            </a:r>
          </a:p>
        </p:txBody>
      </p:sp>
    </p:spTree>
    <p:extLst>
      <p:ext uri="{BB962C8B-B14F-4D97-AF65-F5344CB8AC3E}">
        <p14:creationId xmlns:p14="http://schemas.microsoft.com/office/powerpoint/2010/main" val="79725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kicker">
            <a:extLst>
              <a:ext uri="{FF2B5EF4-FFF2-40B4-BE49-F238E27FC236}">
                <a16:creationId xmlns:a16="http://schemas.microsoft.com/office/drawing/2014/main" id="{26212AE9-FDEB-47E4-86E8-94A8A061B1FB}"/>
              </a:ext>
            </a:extLst>
          </p:cNvPr>
          <p:cNvSpPr>
            <a:spLocks noGrp="1"/>
          </p:cNvSpPr>
          <p:nvPr/>
        </p:nvSpPr>
        <p:spPr>
          <a:xfrm>
            <a:off x="612648" y="283464"/>
            <a:ext cx="724204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900" b="1">
                <a:solidFill>
                  <a:srgbClr val="5E6672"/>
                </a:solidFill>
              </a:defRPr>
            </a:pPr>
            <a:r>
              <a:rPr lang="en-US" sz="900" b="1">
                <a:solidFill>
                  <a:srgbClr val="5E6672"/>
                </a:solidFill>
              </a:rPr>
              <a:t>WHERE DCOPS WRITES — AND WHERE IT ONLY WATCHES</a:t>
            </a:r>
          </a:p>
        </p:txBody>
      </p:sp>
      <p:sp>
        <p:nvSpPr>
          <p:cNvPr id="587" name="title">
            <a:extLst>
              <a:ext uri="{FF2B5EF4-FFF2-40B4-BE49-F238E27FC236}">
                <a16:creationId xmlns:a16="http://schemas.microsoft.com/office/drawing/2014/main" id="{AE2CCAC3-C2A4-42AF-9A1E-37ACDA6FCF56}"/>
              </a:ext>
            </a:extLst>
          </p:cNvPr>
          <p:cNvSpPr>
            <a:spLocks noGrp="1"/>
          </p:cNvSpPr>
          <p:nvPr/>
        </p:nvSpPr>
        <p:spPr>
          <a:xfrm>
            <a:off x="612648" y="630936"/>
            <a:ext cx="1067104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lang="en-US" sz="2550" b="1">
                <a:solidFill>
                  <a:srgbClr val="111318"/>
                </a:solidFill>
              </a:rPr>
              <a:t>DCops changes devices; Git changes domains, and DCops proves it</a:t>
            </a:r>
          </a:p>
        </p:txBody>
      </p:sp>
      <p:sp>
        <p:nvSpPr>
          <p:cNvPr id="588" name="rule">
            <a:extLst>
              <a:ext uri="{FF2B5EF4-FFF2-40B4-BE49-F238E27FC236}">
                <a16:creationId xmlns:a16="http://schemas.microsoft.com/office/drawing/2014/main" id="{2AA5ACA5-402F-46CE-882B-5F4580632A66}"/>
              </a:ext>
            </a:extLst>
          </p:cNvPr>
          <p:cNvSpPr>
            <a:spLocks noGrp="1"/>
          </p:cNvSpPr>
          <p:nvPr/>
        </p:nvSpPr>
        <p:spPr>
          <a:xfrm>
            <a:off x="612648" y="1261872"/>
            <a:ext cx="10972800" cy="9510"/>
          </a:xfrm>
          <a:prstGeom prst="rect">
            <a:avLst/>
          </a:prstGeom>
          <a:solidFill>
            <a:srgbClr val="BAC1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9" name="page">
            <a:extLst>
              <a:ext uri="{FF2B5EF4-FFF2-40B4-BE49-F238E27FC236}">
                <a16:creationId xmlns:a16="http://schemas.microsoft.com/office/drawing/2014/main" id="{01C1C816-C059-4C37-9079-A78B929E4E68}"/>
              </a:ext>
            </a:extLst>
          </p:cNvPr>
          <p:cNvSpPr>
            <a:spLocks noGrp="1"/>
          </p:cNvSpPr>
          <p:nvPr/>
        </p:nvSpPr>
        <p:spPr>
          <a:xfrm>
            <a:off x="11237976" y="6428232"/>
            <a:ext cx="347472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r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20</a:t>
            </a:r>
          </a:p>
        </p:txBody>
      </p:sp>
      <p:sp>
        <p:nvSpPr>
          <p:cNvPr id="590" name="footer">
            <a:extLst>
              <a:ext uri="{FF2B5EF4-FFF2-40B4-BE49-F238E27FC236}">
                <a16:creationId xmlns:a16="http://schemas.microsoft.com/office/drawing/2014/main" id="{A182B2FB-5A1F-403E-B717-48BD44E10804}"/>
              </a:ext>
            </a:extLst>
          </p:cNvPr>
          <p:cNvSpPr>
            <a:spLocks noGrp="1"/>
          </p:cNvSpPr>
          <p:nvPr/>
        </p:nvSpPr>
        <p:spPr>
          <a:xfrm>
            <a:off x="612648" y="6428232"/>
            <a:ext cx="2670048" cy="173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825" b="0">
                <a:solidFill>
                  <a:srgbClr val="5E6672"/>
                </a:solidFill>
              </a:defRPr>
            </a:pPr>
            <a:r>
              <a:rPr lang="en-US" sz="825" b="0">
                <a:solidFill>
                  <a:srgbClr val="5E6672"/>
                </a:solidFill>
              </a:rPr>
              <a:t>Microscaler • DCops</a:t>
            </a:r>
          </a:p>
        </p:txBody>
      </p:sp>
      <p:sp>
        <p:nvSpPr>
          <p:cNvPr id="591" name="col">
            <a:extLst>
              <a:ext uri="{FF2B5EF4-FFF2-40B4-BE49-F238E27FC236}">
                <a16:creationId xmlns:a16="http://schemas.microsoft.com/office/drawing/2014/main" id="{C2C1EB66-3DDE-4BE5-83A5-7884DF8D02FB}"/>
              </a:ext>
            </a:extLst>
          </p:cNvPr>
          <p:cNvSpPr>
            <a:spLocks noGrp="1"/>
          </p:cNvSpPr>
          <p:nvPr/>
        </p:nvSpPr>
        <p:spPr>
          <a:xfrm>
            <a:off x="612648" y="1481328"/>
            <a:ext cx="5349240" cy="379476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2" name="col-h">
            <a:extLst>
              <a:ext uri="{FF2B5EF4-FFF2-40B4-BE49-F238E27FC236}">
                <a16:creationId xmlns:a16="http://schemas.microsoft.com/office/drawing/2014/main" id="{909E898D-290F-48A2-ADCC-8DB8B8DF4735}"/>
              </a:ext>
            </a:extLst>
          </p:cNvPr>
          <p:cNvSpPr>
            <a:spLocks noGrp="1"/>
          </p:cNvSpPr>
          <p:nvPr/>
        </p:nvSpPr>
        <p:spPr>
          <a:xfrm>
            <a:off x="886968" y="1600200"/>
            <a:ext cx="484632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700" b="1">
                <a:solidFill>
                  <a:srgbClr val="2F80ED"/>
                </a:solidFill>
              </a:defRPr>
            </a:pPr>
            <a:r>
              <a:rPr lang="en-US" sz="1700" b="1">
                <a:solidFill>
                  <a:srgbClr val="2F80ED"/>
                </a:solidFill>
              </a:rPr>
              <a:t>Devices — DCops writes</a:t>
            </a:r>
          </a:p>
        </p:txBody>
      </p:sp>
      <p:sp>
        <p:nvSpPr>
          <p:cNvPr id="593" name="dot">
            <a:extLst>
              <a:ext uri="{FF2B5EF4-FFF2-40B4-BE49-F238E27FC236}">
                <a16:creationId xmlns:a16="http://schemas.microsoft.com/office/drawing/2014/main" id="{4861875F-7E99-47B3-A7B9-91F8961D51B4}"/>
              </a:ext>
            </a:extLst>
          </p:cNvPr>
          <p:cNvSpPr>
            <a:spLocks noGrp="1"/>
          </p:cNvSpPr>
          <p:nvPr/>
        </p:nvSpPr>
        <p:spPr>
          <a:xfrm>
            <a:off x="886968" y="2221992"/>
            <a:ext cx="82296" cy="82296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4" name="it-t">
            <a:extLst>
              <a:ext uri="{FF2B5EF4-FFF2-40B4-BE49-F238E27FC236}">
                <a16:creationId xmlns:a16="http://schemas.microsoft.com/office/drawing/2014/main" id="{F4ED3B15-5231-46AB-98C6-240599771234}"/>
              </a:ext>
            </a:extLst>
          </p:cNvPr>
          <p:cNvSpPr>
            <a:spLocks noGrp="1"/>
          </p:cNvSpPr>
          <p:nvPr/>
        </p:nvSpPr>
        <p:spPr>
          <a:xfrm>
            <a:off x="1115568" y="2103120"/>
            <a:ext cx="4572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00" b="1">
                <a:solidFill>
                  <a:srgbClr val="111318"/>
                </a:solidFill>
              </a:defRPr>
            </a:pPr>
            <a:r>
              <a:rPr lang="en-US" sz="1300" b="1">
                <a:solidFill>
                  <a:srgbClr val="111318"/>
                </a:solidFill>
              </a:rPr>
              <a:t>F5, Cisco and future adapters</a:t>
            </a:r>
          </a:p>
        </p:txBody>
      </p:sp>
      <p:sp>
        <p:nvSpPr>
          <p:cNvPr id="595" name="it-d">
            <a:extLst>
              <a:ext uri="{FF2B5EF4-FFF2-40B4-BE49-F238E27FC236}">
                <a16:creationId xmlns:a16="http://schemas.microsoft.com/office/drawing/2014/main" id="{0D98FE65-E4D2-444C-84BD-5D380FD0262C}"/>
              </a:ext>
            </a:extLst>
          </p:cNvPr>
          <p:cNvSpPr>
            <a:spLocks noGrp="1"/>
          </p:cNvSpPr>
          <p:nvPr/>
        </p:nvSpPr>
        <p:spPr>
          <a:xfrm>
            <a:off x="1115568" y="2368296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Stage, activate, verify and roll back certificates on the device</a:t>
            </a:r>
          </a:p>
        </p:txBody>
      </p:sp>
      <p:sp>
        <p:nvSpPr>
          <p:cNvPr id="596" name="dot">
            <a:extLst>
              <a:ext uri="{FF2B5EF4-FFF2-40B4-BE49-F238E27FC236}">
                <a16:creationId xmlns:a16="http://schemas.microsoft.com/office/drawing/2014/main" id="{FECE0F47-29C1-460D-987B-A5A438A03804}"/>
              </a:ext>
            </a:extLst>
          </p:cNvPr>
          <p:cNvSpPr>
            <a:spLocks noGrp="1"/>
          </p:cNvSpPr>
          <p:nvPr/>
        </p:nvSpPr>
        <p:spPr>
          <a:xfrm>
            <a:off x="886968" y="2880360"/>
            <a:ext cx="82296" cy="82296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7" name="it-t">
            <a:extLst>
              <a:ext uri="{FF2B5EF4-FFF2-40B4-BE49-F238E27FC236}">
                <a16:creationId xmlns:a16="http://schemas.microsoft.com/office/drawing/2014/main" id="{0F90AD0D-39DC-4A71-B5B3-25DC23041066}"/>
              </a:ext>
            </a:extLst>
          </p:cNvPr>
          <p:cNvSpPr>
            <a:spLocks noGrp="1"/>
          </p:cNvSpPr>
          <p:nvPr/>
        </p:nvSpPr>
        <p:spPr>
          <a:xfrm>
            <a:off x="1115568" y="2761488"/>
            <a:ext cx="4572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00" b="1">
                <a:solidFill>
                  <a:srgbClr val="111318"/>
                </a:solidFill>
              </a:defRPr>
            </a:pPr>
            <a:r>
              <a:rPr lang="en-US" sz="1300" b="1">
                <a:solidFill>
                  <a:srgbClr val="111318"/>
                </a:solidFill>
              </a:rPr>
              <a:t>Reviewed intent in Git</a:t>
            </a:r>
          </a:p>
        </p:txBody>
      </p:sp>
      <p:sp>
        <p:nvSpPr>
          <p:cNvPr id="598" name="it-d">
            <a:extLst>
              <a:ext uri="{FF2B5EF4-FFF2-40B4-BE49-F238E27FC236}">
                <a16:creationId xmlns:a16="http://schemas.microsoft.com/office/drawing/2014/main" id="{BC4681C9-FF3B-4407-9401-0DE6AA865DA4}"/>
              </a:ext>
            </a:extLst>
          </p:cNvPr>
          <p:cNvSpPr>
            <a:spLocks noGrp="1"/>
          </p:cNvSpPr>
          <p:nvPr/>
        </p:nvSpPr>
        <p:spPr>
          <a:xfrm>
            <a:off x="1115568" y="3026664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DCops converges the device to what Git declares</a:t>
            </a:r>
          </a:p>
        </p:txBody>
      </p:sp>
      <p:sp>
        <p:nvSpPr>
          <p:cNvPr id="599" name="dot">
            <a:extLst>
              <a:ext uri="{FF2B5EF4-FFF2-40B4-BE49-F238E27FC236}">
                <a16:creationId xmlns:a16="http://schemas.microsoft.com/office/drawing/2014/main" id="{60E8EABD-A353-4801-9541-0856C80CC233}"/>
              </a:ext>
            </a:extLst>
          </p:cNvPr>
          <p:cNvSpPr>
            <a:spLocks noGrp="1"/>
          </p:cNvSpPr>
          <p:nvPr/>
        </p:nvSpPr>
        <p:spPr>
          <a:xfrm>
            <a:off x="886968" y="3538728"/>
            <a:ext cx="82296" cy="82296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0" name="it-t">
            <a:extLst>
              <a:ext uri="{FF2B5EF4-FFF2-40B4-BE49-F238E27FC236}">
                <a16:creationId xmlns:a16="http://schemas.microsoft.com/office/drawing/2014/main" id="{052F018B-BF61-48E4-ADD6-4C42DE60C4BD}"/>
              </a:ext>
            </a:extLst>
          </p:cNvPr>
          <p:cNvSpPr>
            <a:spLocks noGrp="1"/>
          </p:cNvSpPr>
          <p:nvPr/>
        </p:nvSpPr>
        <p:spPr>
          <a:xfrm>
            <a:off x="1115568" y="3419856"/>
            <a:ext cx="4572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00" b="1">
                <a:solidFill>
                  <a:srgbClr val="111318"/>
                </a:solidFill>
              </a:defRPr>
            </a:pPr>
            <a:r>
              <a:rPr lang="en-US" sz="1300" b="1">
                <a:solidFill>
                  <a:srgbClr val="111318"/>
                </a:solidFill>
              </a:rPr>
              <a:t>Verification before success</a:t>
            </a:r>
          </a:p>
        </p:txBody>
      </p:sp>
      <p:sp>
        <p:nvSpPr>
          <p:cNvPr id="601" name="it-d">
            <a:extLst>
              <a:ext uri="{FF2B5EF4-FFF2-40B4-BE49-F238E27FC236}">
                <a16:creationId xmlns:a16="http://schemas.microsoft.com/office/drawing/2014/main" id="{52421341-1A73-4279-8C69-555D0EB7384C}"/>
              </a:ext>
            </a:extLst>
          </p:cNvPr>
          <p:cNvSpPr>
            <a:spLocks noGrp="1"/>
          </p:cNvSpPr>
          <p:nvPr/>
        </p:nvSpPr>
        <p:spPr>
          <a:xfrm>
            <a:off x="1115568" y="3685032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Readback plus live TLS probe before anyone is told it worked</a:t>
            </a:r>
          </a:p>
        </p:txBody>
      </p:sp>
      <p:sp>
        <p:nvSpPr>
          <p:cNvPr id="602" name="dot">
            <a:extLst>
              <a:ext uri="{FF2B5EF4-FFF2-40B4-BE49-F238E27FC236}">
                <a16:creationId xmlns:a16="http://schemas.microsoft.com/office/drawing/2014/main" id="{52E83695-77C1-4855-89BA-A729E094423D}"/>
              </a:ext>
            </a:extLst>
          </p:cNvPr>
          <p:cNvSpPr>
            <a:spLocks noGrp="1"/>
          </p:cNvSpPr>
          <p:nvPr/>
        </p:nvSpPr>
        <p:spPr>
          <a:xfrm>
            <a:off x="886968" y="4197096"/>
            <a:ext cx="82296" cy="82296"/>
          </a:xfrm>
          <a:prstGeom prst="ellipse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3" name="it-t">
            <a:extLst>
              <a:ext uri="{FF2B5EF4-FFF2-40B4-BE49-F238E27FC236}">
                <a16:creationId xmlns:a16="http://schemas.microsoft.com/office/drawing/2014/main" id="{B379AF58-54CA-4116-932F-27F5FC7D7E59}"/>
              </a:ext>
            </a:extLst>
          </p:cNvPr>
          <p:cNvSpPr>
            <a:spLocks noGrp="1"/>
          </p:cNvSpPr>
          <p:nvPr/>
        </p:nvSpPr>
        <p:spPr>
          <a:xfrm>
            <a:off x="1115568" y="4078224"/>
            <a:ext cx="4572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00" b="1">
                <a:solidFill>
                  <a:srgbClr val="111318"/>
                </a:solidFill>
              </a:defRPr>
            </a:pPr>
            <a:r>
              <a:rPr lang="en-US" sz="1300" b="1">
                <a:solidFill>
                  <a:srgbClr val="111318"/>
                </a:solidFill>
              </a:rPr>
              <a:t>Needs device credentials</a:t>
            </a:r>
          </a:p>
        </p:txBody>
      </p:sp>
      <p:sp>
        <p:nvSpPr>
          <p:cNvPr id="604" name="it-d">
            <a:extLst>
              <a:ext uri="{FF2B5EF4-FFF2-40B4-BE49-F238E27FC236}">
                <a16:creationId xmlns:a16="http://schemas.microsoft.com/office/drawing/2014/main" id="{B778468E-AFDF-49B8-9FA1-0C4F98EB09BD}"/>
              </a:ext>
            </a:extLst>
          </p:cNvPr>
          <p:cNvSpPr>
            <a:spLocks noGrp="1"/>
          </p:cNvSpPr>
          <p:nvPr/>
        </p:nvSpPr>
        <p:spPr>
          <a:xfrm>
            <a:off x="1115568" y="43434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Least-privilege, per-controller accounts — the only credentials that can change anything</a:t>
            </a:r>
          </a:p>
        </p:txBody>
      </p:sp>
      <p:sp>
        <p:nvSpPr>
          <p:cNvPr id="605" name="col-f">
            <a:extLst>
              <a:ext uri="{FF2B5EF4-FFF2-40B4-BE49-F238E27FC236}">
                <a16:creationId xmlns:a16="http://schemas.microsoft.com/office/drawing/2014/main" id="{8CF44F84-7E9C-49F8-BA92-92E43EF52CFB}"/>
              </a:ext>
            </a:extLst>
          </p:cNvPr>
          <p:cNvSpPr>
            <a:spLocks noGrp="1"/>
          </p:cNvSpPr>
          <p:nvPr/>
        </p:nvSpPr>
        <p:spPr>
          <a:xfrm>
            <a:off x="886968" y="4828032"/>
            <a:ext cx="484632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1">
                <a:solidFill>
                  <a:srgbClr val="2F80ED"/>
                </a:solidFill>
              </a:defRPr>
            </a:pPr>
            <a:r>
              <a:rPr lang="en-US" sz="1100" b="1">
                <a:solidFill>
                  <a:srgbClr val="2F80ED"/>
                </a:solidFill>
              </a:rPr>
              <a:t>This is the hard, valuable part: Phases 3–4.</a:t>
            </a:r>
          </a:p>
        </p:txBody>
      </p:sp>
      <p:sp>
        <p:nvSpPr>
          <p:cNvPr id="606" name="col">
            <a:extLst>
              <a:ext uri="{FF2B5EF4-FFF2-40B4-BE49-F238E27FC236}">
                <a16:creationId xmlns:a16="http://schemas.microsoft.com/office/drawing/2014/main" id="{4151B13F-0929-44D0-8067-4C2636D339B3}"/>
              </a:ext>
            </a:extLst>
          </p:cNvPr>
          <p:cNvSpPr>
            <a:spLocks noGrp="1"/>
          </p:cNvSpPr>
          <p:nvPr/>
        </p:nvSpPr>
        <p:spPr>
          <a:xfrm>
            <a:off x="6236208" y="1481328"/>
            <a:ext cx="5349240" cy="3794760"/>
          </a:xfrm>
          <a:prstGeom prst="rect">
            <a:avLst/>
          </a:prstGeom>
          <a:solidFill>
            <a:srgbClr val="EAF8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7" name="col-h">
            <a:extLst>
              <a:ext uri="{FF2B5EF4-FFF2-40B4-BE49-F238E27FC236}">
                <a16:creationId xmlns:a16="http://schemas.microsoft.com/office/drawing/2014/main" id="{8BA81101-CED6-496E-93D1-87B7378D661B}"/>
              </a:ext>
            </a:extLst>
          </p:cNvPr>
          <p:cNvSpPr>
            <a:spLocks noGrp="1"/>
          </p:cNvSpPr>
          <p:nvPr/>
        </p:nvSpPr>
        <p:spPr>
          <a:xfrm>
            <a:off x="6510528" y="1600200"/>
            <a:ext cx="484632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700" b="1">
                <a:solidFill>
                  <a:srgbClr val="2FA36B"/>
                </a:solidFill>
              </a:defRPr>
            </a:pPr>
            <a:r>
              <a:rPr lang="en-US" sz="1700" b="1">
                <a:solidFill>
                  <a:srgbClr val="2FA36B"/>
                </a:solidFill>
              </a:rPr>
              <a:t>Domains &amp; DNS — DCops only watches</a:t>
            </a:r>
          </a:p>
        </p:txBody>
      </p:sp>
      <p:sp>
        <p:nvSpPr>
          <p:cNvPr id="608" name="dot">
            <a:extLst>
              <a:ext uri="{FF2B5EF4-FFF2-40B4-BE49-F238E27FC236}">
                <a16:creationId xmlns:a16="http://schemas.microsoft.com/office/drawing/2014/main" id="{5D8E7AA3-0086-409B-A6B0-B5ED2779655D}"/>
              </a:ext>
            </a:extLst>
          </p:cNvPr>
          <p:cNvSpPr>
            <a:spLocks noGrp="1"/>
          </p:cNvSpPr>
          <p:nvPr/>
        </p:nvSpPr>
        <p:spPr>
          <a:xfrm>
            <a:off x="6510528" y="2221992"/>
            <a:ext cx="82296" cy="82296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9" name="it-t">
            <a:extLst>
              <a:ext uri="{FF2B5EF4-FFF2-40B4-BE49-F238E27FC236}">
                <a16:creationId xmlns:a16="http://schemas.microsoft.com/office/drawing/2014/main" id="{7A4E8204-998A-4593-81C3-8D2559A15D02}"/>
              </a:ext>
            </a:extLst>
          </p:cNvPr>
          <p:cNvSpPr>
            <a:spLocks noGrp="1"/>
          </p:cNvSpPr>
          <p:nvPr/>
        </p:nvSpPr>
        <p:spPr>
          <a:xfrm>
            <a:off x="6739128" y="2103120"/>
            <a:ext cx="4572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00" b="1">
                <a:solidFill>
                  <a:srgbClr val="111318"/>
                </a:solidFill>
              </a:defRPr>
            </a:pPr>
            <a:r>
              <a:rPr lang="en-US" sz="1300" b="1">
                <a:solidFill>
                  <a:srgbClr val="111318"/>
                </a:solidFill>
              </a:rPr>
              <a:t>Registrar, Cloudflare, Google Cloud DNS</a:t>
            </a:r>
          </a:p>
        </p:txBody>
      </p:sp>
      <p:sp>
        <p:nvSpPr>
          <p:cNvPr id="610" name="it-d">
            <a:extLst>
              <a:ext uri="{FF2B5EF4-FFF2-40B4-BE49-F238E27FC236}">
                <a16:creationId xmlns:a16="http://schemas.microsoft.com/office/drawing/2014/main" id="{E7BD0F5D-1677-4E0B-A25D-746305B3E0EC}"/>
              </a:ext>
            </a:extLst>
          </p:cNvPr>
          <p:cNvSpPr>
            <a:spLocks noGrp="1"/>
          </p:cNvSpPr>
          <p:nvPr/>
        </p:nvSpPr>
        <p:spPr>
          <a:xfrm>
            <a:off x="6739128" y="2368296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Changed by the client’s Terraform and ExternalDNS pipelines, never by DCops</a:t>
            </a:r>
          </a:p>
        </p:txBody>
      </p:sp>
      <p:sp>
        <p:nvSpPr>
          <p:cNvPr id="611" name="dot">
            <a:extLst>
              <a:ext uri="{FF2B5EF4-FFF2-40B4-BE49-F238E27FC236}">
                <a16:creationId xmlns:a16="http://schemas.microsoft.com/office/drawing/2014/main" id="{FDBF5CC3-5B00-4E96-BC4F-F581618C3504}"/>
              </a:ext>
            </a:extLst>
          </p:cNvPr>
          <p:cNvSpPr>
            <a:spLocks noGrp="1"/>
          </p:cNvSpPr>
          <p:nvPr/>
        </p:nvSpPr>
        <p:spPr>
          <a:xfrm>
            <a:off x="6510528" y="2880360"/>
            <a:ext cx="82296" cy="82296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2" name="it-t">
            <a:extLst>
              <a:ext uri="{FF2B5EF4-FFF2-40B4-BE49-F238E27FC236}">
                <a16:creationId xmlns:a16="http://schemas.microsoft.com/office/drawing/2014/main" id="{E04440BC-F7C1-4F71-922C-21C6D9147BA4}"/>
              </a:ext>
            </a:extLst>
          </p:cNvPr>
          <p:cNvSpPr>
            <a:spLocks noGrp="1"/>
          </p:cNvSpPr>
          <p:nvPr/>
        </p:nvSpPr>
        <p:spPr>
          <a:xfrm>
            <a:off x="6739128" y="2761488"/>
            <a:ext cx="4572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00" b="1">
                <a:solidFill>
                  <a:srgbClr val="111318"/>
                </a:solidFill>
              </a:defRPr>
            </a:pPr>
            <a:r>
              <a:rPr lang="en-US" sz="1300" b="1">
                <a:solidFill>
                  <a:srgbClr val="111318"/>
                </a:solidFill>
              </a:rPr>
              <a:t>DCops reads and resolves</a:t>
            </a:r>
          </a:p>
        </p:txBody>
      </p:sp>
      <p:sp>
        <p:nvSpPr>
          <p:cNvPr id="613" name="it-d">
            <a:extLst>
              <a:ext uri="{FF2B5EF4-FFF2-40B4-BE49-F238E27FC236}">
                <a16:creationId xmlns:a16="http://schemas.microsoft.com/office/drawing/2014/main" id="{B09B6F8C-1150-4029-A298-9C3A4140473E}"/>
              </a:ext>
            </a:extLst>
          </p:cNvPr>
          <p:cNvSpPr>
            <a:spLocks noGrp="1"/>
          </p:cNvSpPr>
          <p:nvPr/>
        </p:nvSpPr>
        <p:spPr>
          <a:xfrm>
            <a:off x="6739128" y="3026664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Registrar records, DNS zones and live resolution from public resolvers</a:t>
            </a:r>
          </a:p>
        </p:txBody>
      </p:sp>
      <p:sp>
        <p:nvSpPr>
          <p:cNvPr id="614" name="dot">
            <a:extLst>
              <a:ext uri="{FF2B5EF4-FFF2-40B4-BE49-F238E27FC236}">
                <a16:creationId xmlns:a16="http://schemas.microsoft.com/office/drawing/2014/main" id="{803949C4-5DB5-48D4-B18A-CD780A43688E}"/>
              </a:ext>
            </a:extLst>
          </p:cNvPr>
          <p:cNvSpPr>
            <a:spLocks noGrp="1"/>
          </p:cNvSpPr>
          <p:nvPr/>
        </p:nvSpPr>
        <p:spPr>
          <a:xfrm>
            <a:off x="6510528" y="3538728"/>
            <a:ext cx="82296" cy="82296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5" name="it-t">
            <a:extLst>
              <a:ext uri="{FF2B5EF4-FFF2-40B4-BE49-F238E27FC236}">
                <a16:creationId xmlns:a16="http://schemas.microsoft.com/office/drawing/2014/main" id="{2C03676E-0084-48A8-9BDA-0ED518AAD98E}"/>
              </a:ext>
            </a:extLst>
          </p:cNvPr>
          <p:cNvSpPr>
            <a:spLocks noGrp="1"/>
          </p:cNvSpPr>
          <p:nvPr/>
        </p:nvSpPr>
        <p:spPr>
          <a:xfrm>
            <a:off x="6739128" y="3419856"/>
            <a:ext cx="4572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00" b="1">
                <a:solidFill>
                  <a:srgbClr val="111318"/>
                </a:solidFill>
              </a:defRPr>
            </a:pPr>
            <a:r>
              <a:rPr lang="en-US" sz="1300" b="1">
                <a:solidFill>
                  <a:srgbClr val="111318"/>
                </a:solidFill>
              </a:rPr>
              <a:t>DCops proves the chain</a:t>
            </a:r>
          </a:p>
        </p:txBody>
      </p:sp>
      <p:sp>
        <p:nvSpPr>
          <p:cNvPr id="616" name="it-d">
            <a:extLst>
              <a:ext uri="{FF2B5EF4-FFF2-40B4-BE49-F238E27FC236}">
                <a16:creationId xmlns:a16="http://schemas.microsoft.com/office/drawing/2014/main" id="{3197CE19-BB6F-4D4B-BF09-C6E2B295188C}"/>
              </a:ext>
            </a:extLst>
          </p:cNvPr>
          <p:cNvSpPr>
            <a:spLocks noGrp="1"/>
          </p:cNvSpPr>
          <p:nvPr/>
        </p:nvSpPr>
        <p:spPr>
          <a:xfrm>
            <a:off x="6739128" y="3685032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Registration current, every hop agrees, DNSSEC validates, records resolve</a:t>
            </a:r>
          </a:p>
        </p:txBody>
      </p:sp>
      <p:sp>
        <p:nvSpPr>
          <p:cNvPr id="617" name="dot">
            <a:extLst>
              <a:ext uri="{FF2B5EF4-FFF2-40B4-BE49-F238E27FC236}">
                <a16:creationId xmlns:a16="http://schemas.microsoft.com/office/drawing/2014/main" id="{BD5D1B49-3912-49A8-8CCC-A23D117BD99F}"/>
              </a:ext>
            </a:extLst>
          </p:cNvPr>
          <p:cNvSpPr>
            <a:spLocks noGrp="1"/>
          </p:cNvSpPr>
          <p:nvPr/>
        </p:nvSpPr>
        <p:spPr>
          <a:xfrm>
            <a:off x="6510528" y="4197096"/>
            <a:ext cx="82296" cy="82296"/>
          </a:xfrm>
          <a:prstGeom prst="ellipse">
            <a:avLst/>
          </a:prstGeom>
          <a:solidFill>
            <a:srgbClr val="2FA36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8" name="it-t">
            <a:extLst>
              <a:ext uri="{FF2B5EF4-FFF2-40B4-BE49-F238E27FC236}">
                <a16:creationId xmlns:a16="http://schemas.microsoft.com/office/drawing/2014/main" id="{99917795-E769-47FC-84A2-2693479B28A1}"/>
              </a:ext>
            </a:extLst>
          </p:cNvPr>
          <p:cNvSpPr>
            <a:spLocks noGrp="1"/>
          </p:cNvSpPr>
          <p:nvPr/>
        </p:nvSpPr>
        <p:spPr>
          <a:xfrm>
            <a:off x="6739128" y="4078224"/>
            <a:ext cx="4572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l">
              <a:defRPr sz="1300" b="1">
                <a:solidFill>
                  <a:srgbClr val="111318"/>
                </a:solidFill>
              </a:defRPr>
            </a:pPr>
            <a:r>
              <a:rPr lang="en-US" sz="1300" b="1">
                <a:solidFill>
                  <a:srgbClr val="111318"/>
                </a:solidFill>
              </a:rPr>
              <a:t>The fix is a reviewed change</a:t>
            </a:r>
          </a:p>
        </p:txBody>
      </p:sp>
      <p:sp>
        <p:nvSpPr>
          <p:cNvPr id="619" name="it-d">
            <a:extLst>
              <a:ext uri="{FF2B5EF4-FFF2-40B4-BE49-F238E27FC236}">
                <a16:creationId xmlns:a16="http://schemas.microsoft.com/office/drawing/2014/main" id="{99EF49D3-D723-4C78-B982-DD65A89E49EB}"/>
              </a:ext>
            </a:extLst>
          </p:cNvPr>
          <p:cNvSpPr>
            <a:spLocks noGrp="1"/>
          </p:cNvSpPr>
          <p:nvPr/>
        </p:nvSpPr>
        <p:spPr>
          <a:xfrm>
            <a:off x="6739128" y="43434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050" b="0">
                <a:solidFill>
                  <a:srgbClr val="5E6672"/>
                </a:solidFill>
              </a:defRPr>
            </a:pPr>
            <a:r>
              <a:rPr lang="en-US" sz="1050" b="0">
                <a:solidFill>
                  <a:srgbClr val="5E6672"/>
                </a:solidFill>
              </a:rPr>
              <a:t>A broken delegation raises an alert that links to the Git change that repairs it</a:t>
            </a:r>
          </a:p>
        </p:txBody>
      </p:sp>
      <p:sp>
        <p:nvSpPr>
          <p:cNvPr id="620" name="col-f">
            <a:extLst>
              <a:ext uri="{FF2B5EF4-FFF2-40B4-BE49-F238E27FC236}">
                <a16:creationId xmlns:a16="http://schemas.microsoft.com/office/drawing/2014/main" id="{BA30E245-33A8-4599-BB30-F95E4D9F3F44}"/>
              </a:ext>
            </a:extLst>
          </p:cNvPr>
          <p:cNvSpPr>
            <a:spLocks noGrp="1"/>
          </p:cNvSpPr>
          <p:nvPr/>
        </p:nvSpPr>
        <p:spPr>
          <a:xfrm>
            <a:off x="6510528" y="4828032"/>
            <a:ext cx="484632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/>
          <a:p>
            <a:pPr algn="l">
              <a:defRPr sz="1100" b="1">
                <a:solidFill>
                  <a:srgbClr val="2FA36B"/>
                </a:solidFill>
              </a:defRPr>
            </a:pPr>
            <a:r>
              <a:rPr lang="en-US" sz="1100" b="1">
                <a:solidFill>
                  <a:srgbClr val="2FA36B"/>
                </a:solidFill>
              </a:rPr>
              <a:t>This is why the domain register is cheap: Phase 1, no adapters.</a:t>
            </a:r>
          </a:p>
        </p:txBody>
      </p:sp>
      <p:sp>
        <p:nvSpPr>
          <p:cNvPr id="621" name="callout">
            <a:extLst>
              <a:ext uri="{FF2B5EF4-FFF2-40B4-BE49-F238E27FC236}">
                <a16:creationId xmlns:a16="http://schemas.microsoft.com/office/drawing/2014/main" id="{12A0A14C-73DD-4ADB-B270-45806F41FF97}"/>
              </a:ext>
            </a:extLst>
          </p:cNvPr>
          <p:cNvSpPr>
            <a:spLocks noGrp="1"/>
          </p:cNvSpPr>
          <p:nvPr/>
        </p:nvSpPr>
        <p:spPr>
          <a:xfrm>
            <a:off x="612648" y="5468112"/>
            <a:ext cx="10972800" cy="658368"/>
          </a:xfrm>
          <a:prstGeom prst="rect">
            <a:avLst/>
          </a:prstGeom>
          <a:solidFill>
            <a:srgbClr val="17253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2" name="callout-text">
            <a:extLst>
              <a:ext uri="{FF2B5EF4-FFF2-40B4-BE49-F238E27FC236}">
                <a16:creationId xmlns:a16="http://schemas.microsoft.com/office/drawing/2014/main" id="{0201452E-1568-4C70-A167-575A362B5B85}"/>
              </a:ext>
            </a:extLst>
          </p:cNvPr>
          <p:cNvSpPr>
            <a:spLocks noGrp="1"/>
          </p:cNvSpPr>
          <p:nvPr/>
        </p:nvSpPr>
        <p:spPr>
          <a:xfrm>
            <a:off x="795528" y="5541264"/>
            <a:ext cx="10607040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rPr lang="en-US" sz="1250" b="1">
                <a:solidFill>
                  <a:srgbClr val="FFFFFF"/>
                </a:solidFill>
              </a:rPr>
              <a:t>Precondition: the registrar must have an API. Openprovider does. Squarespace-held domains can only be changed by hand — consolidate them first (Phase 0).</a:t>
            </a:r>
          </a:p>
        </p:txBody>
      </p:sp>
    </p:spTree>
    <p:extLst>
      <p:ext uri="{BB962C8B-B14F-4D97-AF65-F5344CB8AC3E}">
        <p14:creationId xmlns:p14="http://schemas.microsoft.com/office/powerpoint/2010/main" val="797250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1517</Words>
  <Application>Microsoft Macintosh PowerPoint</Application>
  <DocSecurity>0</DocSecurity>
  <PresentationFormat>Widescreen</PresentationFormat>
  <Paragraphs>322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Sibbald, Charles (external)</cp:lastModifiedBy>
  <cp:revision>3</cp:revision>
  <dcterms:created xsi:type="dcterms:W3CDTF">2026-09-04T05:18:52Z</dcterms:created>
  <dcterms:modified xsi:type="dcterms:W3CDTF">2026-09-04T07:52:34Z</dcterms:modified>
</cp:coreProperties>
</file>